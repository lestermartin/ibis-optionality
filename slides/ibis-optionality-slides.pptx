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4" d="100"/>
          <a:sy n="124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9515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114800" cy="4114800"/>
          </a:xfrm>
          <a:prstGeom prst="ellipse">
            <a:avLst/>
          </a:prstGeom>
          <a:solidFill>
            <a:srgbClr val="065A82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1C7293">
              <a:alpha val="6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IBIS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30632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Optionality to Python Dataframes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68680" y="3886200"/>
            <a:ext cx="502920" cy="41148"/>
          </a:xfrm>
          <a:prstGeom prst="rect">
            <a:avLst/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68680" y="40416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Python dataframe API. 20-ish backends. Your choice, any time.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58064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Lester Martin –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lester.martin@gmail.com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 the D ·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DATAFRAMES 101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dataframe?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6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dataframe is a table: rows are records, columns are named and typed. It's the shape underneath spreadsheets, CSVs, SQL query results — and most of the Python data stack.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48640" y="3429000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088" y="3490448"/>
            <a:ext cx="389169" cy="38916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34015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Column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373989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named, typed field — e.g. body_mass_g: float64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4480560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/home/claude/ibis-talk/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088" y="4542008"/>
            <a:ext cx="389169" cy="38916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4453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Row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1234440" y="479145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— e.g. one penguin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965960"/>
          <a:ext cx="5532120" cy="18288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species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island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body_mass_g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Adelie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Torgersen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3750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Adelie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Biscoe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3800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Gentoo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Biscoe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6126480" y="397764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dataframe library represents this same shape.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DATAFRAMES 101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dataframes took over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279" y="2326599"/>
            <a:ext cx="430865" cy="4308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3063240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Tabular data is everywhere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3931920"/>
            <a:ext cx="29352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Exports, logs, spreadsheets, CSVs, query results — most real-world data already looks like a table.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43400" y="19659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3600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ibis-talk/icons/co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4039" y="2326599"/>
            <a:ext cx="430865" cy="43086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36008" y="3063240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Expressive, chainable operations</a:t>
            </a:r>
            <a:endParaRPr lang="en-US" sz="1650" dirty="0"/>
          </a:p>
        </p:txBody>
      </p:sp>
      <p:sp>
        <p:nvSpPr>
          <p:cNvPr id="13" name="Text 9"/>
          <p:cNvSpPr txBox="1"/>
          <p:nvPr/>
        </p:nvSpPr>
        <p:spPr>
          <a:xfrm>
            <a:off x="4636008" y="3931920"/>
            <a:ext cx="29352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filter, group, join, sort read like your train of thought — no manual loops or index bookkeeping.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38160" y="19659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43076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ibis-talk/icons/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8799" y="2326599"/>
            <a:ext cx="430865" cy="43086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30768" y="3063240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shape, many tools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8430768" y="3931920"/>
            <a:ext cx="29352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mental model works in pandas, R, SQL, and Spark. Learn the shape once.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DATAFRAMES 101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dataframes shine — and where they don't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49240" cy="4023360"/>
          </a:xfrm>
          <a:prstGeom prst="roundRect">
            <a:avLst>
              <a:gd name="adj" fmla="val 2273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279" y="2326599"/>
            <a:ext cx="430865" cy="4308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229514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Great fit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01752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 &amp; ad hoc queries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and reshaping tabular data (ETL)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for ML models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analytics on structured data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965960"/>
            <a:ext cx="5349240" cy="4023360"/>
          </a:xfrm>
          <a:prstGeom prst="roundRect">
            <a:avLst>
              <a:gd name="adj" fmla="val 2273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556248" y="2258568"/>
            <a:ext cx="566928" cy="566928"/>
          </a:xfrm>
          <a:prstGeom prst="ellipse">
            <a:avLst/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ibis-talk/icons/exch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4279" y="2326599"/>
            <a:ext cx="430865" cy="43086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229514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 for something else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6629400" y="301752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Deeply nested documents — flatten first, or use a document store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Free-form text, images, audio — NLP/CV tooling, tensors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connected graph traversal — a graph database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Sub-millisecond single-row lookups — an OLTP database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Python dataframe library picks one engine for you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42032" cy="3246120"/>
          </a:xfrm>
          <a:prstGeom prst="roundRect">
            <a:avLst>
              <a:gd name="adj" fmla="val 3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36192" y="228600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4223" y="2354031"/>
            <a:ext cx="430865" cy="4308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310896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365760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machine only.</a:t>
            </a:r>
            <a:endParaRPr lang="en-US" sz="12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Outgrow your laptop's memory? Rewrite.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346704" y="1965960"/>
            <a:ext cx="2542032" cy="3246120"/>
          </a:xfrm>
          <a:prstGeom prst="roundRect">
            <a:avLst>
              <a:gd name="adj" fmla="val 3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334256" y="228600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ibis-talk/icons/bo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2287" y="2354031"/>
            <a:ext cx="430865" cy="43086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83864" y="310896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Polars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547872" y="365760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Blazing fast locally.</a:t>
            </a:r>
            <a:endParaRPr lang="en-US" sz="12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built to hand off to a cluster.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144768" y="1965960"/>
            <a:ext cx="2542032" cy="3246120"/>
          </a:xfrm>
          <a:prstGeom prst="roundRect">
            <a:avLst>
              <a:gd name="adj" fmla="val 3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132320" y="228600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ibis-talk/icons/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351" y="2354031"/>
            <a:ext cx="430865" cy="43086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81928" y="310896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PySpark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6345936" y="365760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to a cluster.</a:t>
            </a:r>
            <a:endParaRPr lang="en-US" sz="12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Overkill — and its own API — for small jobs.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8942832" y="1965960"/>
            <a:ext cx="2542032" cy="3246120"/>
          </a:xfrm>
          <a:prstGeom prst="roundRect">
            <a:avLst>
              <a:gd name="adj" fmla="val 3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930384" y="228600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/home/claude/ibis-talk/icons/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8415" y="2354031"/>
            <a:ext cx="430865" cy="43086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079992" y="310896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Warehouse SQL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9144000" y="365760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engine.</a:t>
            </a:r>
            <a:endParaRPr lang="en-US" sz="12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Python dataframe ergonomics at all.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53212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you pick, switching later means rewriting your code from scratch.</a:t>
            </a:r>
            <a:endParaRPr lang="en-US" sz="155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065A82">
              <a:alpha val="5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if you didn't have to choose?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E7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 is one Python dataframe API that runs on </a:t>
            </a:r>
            <a:r>
              <a:rPr lang="en-US" sz="17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20 backend engines</a:t>
            </a:r>
            <a:r>
              <a:rPr lang="en-US" sz="1700" dirty="0">
                <a:solidFill>
                  <a:srgbClr val="E7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DuckDB, Polars, Trino, Snowflake, BigQuery, PySpark, Postgres, and more.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290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5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 API once. Point it at whichever engine the job calls for — today, and again next year.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315200" y="1828800"/>
            <a:ext cx="4297680" cy="3566160"/>
          </a:xfrm>
          <a:prstGeom prst="roundRect">
            <a:avLst>
              <a:gd name="adj" fmla="val 3077"/>
            </a:avLst>
          </a:prstGeom>
          <a:solidFill>
            <a:srgbClr val="1B24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7315200" y="233172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29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20+</a:t>
            </a:r>
            <a:endParaRPr lang="en-US" sz="72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35204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backends, one API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589520" y="411480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DuckDB · Polars · Trino · Spark</a:t>
            </a:r>
            <a:endParaRPr lang="en-US" sz="125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· BigQuery · Postgres …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code compiles to wherever your data lives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331720" cy="2286000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04188" y="2624328"/>
            <a:ext cx="603504" cy="603504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6608" y="2696748"/>
            <a:ext cx="458663" cy="45866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</a:t>
            </a:r>
            <a:endParaRPr lang="en-US" sz="14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2971800" y="31546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3355848" y="2331720"/>
            <a:ext cx="2331720" cy="2286000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219956" y="2624328"/>
            <a:ext cx="603504" cy="603504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ibis-talk/icons/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2376" y="2696748"/>
            <a:ext cx="458663" cy="45866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47288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 builds a</a:t>
            </a:r>
            <a:endParaRPr lang="en-US" sz="14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 expression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5687568" y="31546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Shape 10"/>
          <p:cNvSpPr/>
          <p:nvPr/>
        </p:nvSpPr>
        <p:spPr>
          <a:xfrm>
            <a:off x="6071616" y="2331720"/>
            <a:ext cx="2331720" cy="2286000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935724" y="2624328"/>
            <a:ext cx="603504" cy="603504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ibis-talk/icons/exch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8144" y="2696748"/>
            <a:ext cx="458663" cy="45866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163056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to the</a:t>
            </a:r>
            <a:endParaRPr lang="en-US" sz="14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backend's language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403336" y="31546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9" name="Shape 14"/>
          <p:cNvSpPr/>
          <p:nvPr/>
        </p:nvSpPr>
        <p:spPr>
          <a:xfrm>
            <a:off x="8787384" y="2331720"/>
            <a:ext cx="2331720" cy="2286000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651492" y="2624328"/>
            <a:ext cx="603504" cy="603504"/>
          </a:xfrm>
          <a:prstGeom prst="ellipse">
            <a:avLst/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/home/claude/ibis-talk/icons/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3912" y="2696748"/>
            <a:ext cx="458663" cy="45866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878824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where</a:t>
            </a:r>
            <a:endParaRPr lang="en-US" sz="14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lives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640080" y="5074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touches your data until you call 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4434840" y="5074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.execute()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6172200" y="5074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that's what "lazy" means.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handful of verbs cover almost everything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435254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Feels 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select(...)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Choose columns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1" dirty="0">
                          <a:solidFill>
                            <a:srgbClr val="5C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SELECT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filter(...)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matching rows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1" dirty="0">
                          <a:solidFill>
                            <a:srgbClr val="5C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WHERE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mutate(...)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or transform a column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1" dirty="0">
                          <a:solidFill>
                            <a:srgbClr val="5C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computed column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group_by(...).aggregate(...)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Summarize groups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1" dirty="0">
                          <a:solidFill>
                            <a:srgbClr val="5C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GROUP BY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order_by(...)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 rows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1" dirty="0">
                          <a:solidFill>
                            <a:srgbClr val="5C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ORDER BY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join(...)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 tables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1" dirty="0">
                          <a:solidFill>
                            <a:srgbClr val="5C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JOIN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COMPARES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Ibis vs. the dataframe libraries you already know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3950208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PySpark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99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API, many engines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20+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locally, no server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Scales to a cluster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natively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Mixes SQL + dataframe code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 engines, keep your code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“Partial” / “limited” = supported in some form, but not the library's core design center.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BY SIDE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Filtering rows, four APIs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04672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df.mass &gt; </a:t>
            </a:r>
            <a:r>
              <a:rPr lang="en-US" sz="12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4000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64992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3364992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Polars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4992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621024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pl.col(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&gt;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4000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81344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181344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PySpark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81344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6437376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df.mass &gt; </a:t>
            </a:r>
            <a:r>
              <a:rPr lang="en-US" sz="12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4000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997696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8997696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Ibis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97696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1B2450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9253728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t.mass &gt; </a:t>
            </a:r>
            <a:r>
              <a:rPr lang="en-US" sz="12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4000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6811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everywhere: keep the rows matching a condition. Ibis reads closest to pandas and PySpark.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BY SIDE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a computed column, four APIs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04672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mass_kg=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df.mass/1000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64992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3364992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Polars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4992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621024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with_columns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(pl.col(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/1000).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"mass_kg"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81344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181344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PySpark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81344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6437376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withColumn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"mass_kg"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df.mass/1000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997696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8997696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Ibis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97696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1B2450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9253728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mutate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mass_kg=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t.mass/1000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6811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verb per library (assign / with_columns / withColumn / mutate) — same shape of idea.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BY SIDE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by and aggregate, four APIs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04672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groupby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64992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3364992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Polars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4992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621024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group_by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(pl.col(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81344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181344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PySpark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81344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6437376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groupBy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997696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8997696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Ibis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97696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1B2450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9253728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group_by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aggregate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t.mass.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6811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 and Polars share the group_by spelling; the summarize-by-group idea is universal.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BY SIDE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Joining two tables, four APIs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04672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info, on=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64992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3364992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Polars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4992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621024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info, on=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81344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181344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PySpark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81344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6437376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info, on=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997696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8997696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Ibis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97696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1B2450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9253728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info, 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6811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closest four-way match — join syntax has mostly converged across modern dataframe APIs.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OF BOTH WORLDS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 SQL and dataframe code, freely, in either direction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SQL is just the clearest way to say what you mean. Ibis lets you </a:t>
            </a:r>
            <a:r>
              <a:rPr lang="en-US" sz="15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into raw SQL</a:t>
            </a:r>
            <a:r>
              <a:rPr lang="en-US" sz="15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pick the dataframe API back up on the result — or go the other way with </a:t>
            </a:r>
            <a:r>
              <a:rPr lang="en-US" sz="15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ibis.to_sql()</a:t>
            </a:r>
            <a:r>
              <a:rPr lang="en-US" sz="15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109960" cy="2331720"/>
          </a:xfrm>
          <a:prstGeom prst="roundRect">
            <a:avLst>
              <a:gd name="adj" fmla="val 3137"/>
            </a:avLst>
          </a:prstGeom>
          <a:solidFill>
            <a:srgbClr val="21295C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804672" y="2898648"/>
            <a:ext cx="10597896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8FA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Start in SQL...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by_island</a:t>
            </a:r>
            <a:r>
              <a:rPr lang="en-US" sz="15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con.</a:t>
            </a:r>
            <a:r>
              <a:rPr lang="en-US" sz="15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r>
              <a:rPr lang="en-US" sz="15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("""SELECT species, island, count(*) AS n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FROM penguins GROUP BY 1, 2""")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8FA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...finish in the dataframe API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by_island.</a:t>
            </a:r>
            <a:r>
              <a:rPr lang="en-US" sz="15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mutate</a:t>
            </a:r>
            <a:r>
              <a:rPr lang="en-US" sz="15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(pct=by_island.n / by_island.n.</a:t>
            </a:r>
            <a:r>
              <a:rPr lang="en-US" sz="15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lang="en-US" sz="15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.</a:t>
            </a:r>
            <a:r>
              <a:rPr lang="en-US" sz="15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order_by</a:t>
            </a:r>
            <a:r>
              <a:rPr lang="en-US" sz="15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(ibis.</a:t>
            </a:r>
            <a:r>
              <a:rPr lang="en-US" sz="15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r>
              <a:rPr lang="en-US" sz="15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("n"))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57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need to pick a camp — use whichever reads more clearly for that step.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DuckDB on my laptop → Trino on a real cluster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37744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1B24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49908" y="2697480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lap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2328" y="2769900"/>
            <a:ext cx="458663" cy="45866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35661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analysis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2062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local DuckDB connection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83280" y="237744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1B24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338828" y="2697480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ibis-talk/icons/co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1248" y="2769900"/>
            <a:ext cx="458663" cy="45866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20440" y="35661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— it works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3566160" y="42062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local, zero infra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72200" y="237744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1B24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127748" y="2697480"/>
            <a:ext cx="603504" cy="603504"/>
          </a:xfrm>
          <a:prstGeom prst="ellipse">
            <a:avLst/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ibis-talk/icons/exch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168" y="2769900"/>
            <a:ext cx="458663" cy="45866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09360" y="35661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connection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42062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Ibis at Trino instead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961120" y="237744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1B24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916668" y="2697480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/home/claude/ibis-talk/icons/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9088" y="2769900"/>
            <a:ext cx="458663" cy="45866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098280" y="35661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code, new engine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9144000" y="42062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running as a distributed query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594360" y="5715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9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Follow along: ibis_optionality_demo.ipynb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PART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dev: connect, build, run — on DuckDB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109960" cy="4160520"/>
          </a:xfrm>
          <a:prstGeom prst="roundRect">
            <a:avLst>
              <a:gd name="adj" fmla="val 1758"/>
            </a:avLst>
          </a:prstGeom>
          <a:solidFill>
            <a:srgbClr val="21295C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04672" y="2029968"/>
            <a:ext cx="10597896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= ibis.</a:t>
            </a:r>
            <a:r>
              <a:rPr lang="en-US" sz="15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duckdb</a:t>
            </a:r>
            <a:r>
              <a:rPr lang="en-US" sz="15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.connect()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penguins = con.read_parquet(</a:t>
            </a:r>
            <a:r>
              <a:rPr lang="en-US" sz="15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"penguins.parquet"</a:t>
            </a: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15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top_species_by_mass(t):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(t.filter(t.body_mass_g.notnull())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.group_by(</a:t>
            </a:r>
            <a:r>
              <a:rPr lang="en-US" sz="15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.aggregate(avg_mass_g=t.body_mass_g.mean())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.order_by(ibis.desc(</a:t>
            </a:r>
            <a:r>
              <a:rPr lang="en-US" sz="15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"avg_mass_g"</a:t>
            </a: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top_species_by_mass(penguins)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PART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function, new engine — nothing else changes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109960" cy="3246120"/>
          </a:xfrm>
          <a:prstGeom prst="roundRect">
            <a:avLst>
              <a:gd name="adj" fmla="val 2254"/>
            </a:avLst>
          </a:prstGeom>
          <a:solidFill>
            <a:srgbClr val="21295C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04672" y="2029968"/>
            <a:ext cx="1059789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29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—— the one thing that changes ——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= ibis.</a:t>
            </a:r>
            <a:r>
              <a:rPr lang="en-US" sz="15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trino</a:t>
            </a:r>
            <a:r>
              <a:rPr lang="en-US" sz="15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.connect(host=..., port=443, user=..., 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database=</a:t>
            </a:r>
            <a:r>
              <a:rPr lang="en-US" sz="15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"hive"</a:t>
            </a:r>
            <a:r>
              <a:rPr lang="en-US" sz="15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schema=</a:t>
            </a:r>
            <a:r>
              <a:rPr lang="en-US" sz="15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"default"</a:t>
            </a:r>
            <a:r>
              <a:rPr lang="en-US" sz="15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penguins = con.table(</a:t>
            </a:r>
            <a:r>
              <a:rPr lang="en-US" sz="15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"penguins"</a:t>
            </a: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8FA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identical to the DuckDB slide — copy-pasted, unchanged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top_species_by_mass(penguins)</a:t>
            </a: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50" dirty="0">
                <a:solidFill>
                  <a:srgbClr val="F29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now a distributed Trino query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5349240"/>
            <a:ext cx="11109960" cy="868680"/>
          </a:xfrm>
          <a:prstGeom prst="roundRect">
            <a:avLst>
              <a:gd name="adj" fmla="val 8421"/>
            </a:avLst>
          </a:prstGeom>
          <a:solidFill>
            <a:srgbClr val="E4F0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top_species_by_mass</a:t>
            </a: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finds out which engine it's running on. That's the optionality.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Optionality is leverage — for your project, and your career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279" y="2326599"/>
            <a:ext cx="430865" cy="4308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3063240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Prototype fast, ship without rewrites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3931920"/>
            <a:ext cx="29352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test locally on DuckDB, then point at production infrastructure with a config change, not a rewrite.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43400" y="19659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3600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ibis-talk/icons/rou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4039" y="2326599"/>
            <a:ext cx="430865" cy="43086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36008" y="3063240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married to one platform</a:t>
            </a:r>
            <a:endParaRPr lang="en-US" sz="1650" dirty="0"/>
          </a:p>
        </p:txBody>
      </p:sp>
      <p:sp>
        <p:nvSpPr>
          <p:cNvPr id="13" name="Text 9"/>
          <p:cNvSpPr txBox="1"/>
          <p:nvPr/>
        </p:nvSpPr>
        <p:spPr>
          <a:xfrm>
            <a:off x="4636008" y="3931920"/>
            <a:ext cx="29352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team's stack changes. Ibis code mostly doesn't have to.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38160" y="19659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43076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ibis-talk/icons/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8799" y="2326599"/>
            <a:ext cx="430865" cy="43086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30768" y="3063240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skill, every employer's stack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8430768" y="3931920"/>
            <a:ext cx="29352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warehouse or engine your next job runs, there's a good chance Ibis already speaks to it.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ALONG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this exact demo yourself, tonight or next week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ibis-talk/icons/lap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088" y="1981688"/>
            <a:ext cx="389169" cy="38916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89280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Clone the repo &amp; install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120640" y="1892808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92608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/home/claude/ibis-talk/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088" y="2987528"/>
            <a:ext cx="389169" cy="38916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289864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Cache the demo dataset</a:t>
            </a:r>
            <a:endParaRPr lang="en-US" sz="1550" dirty="0"/>
          </a:p>
        </p:txBody>
      </p:sp>
      <p:sp>
        <p:nvSpPr>
          <p:cNvPr id="11" name="Text 7"/>
          <p:cNvSpPr txBox="1"/>
          <p:nvPr/>
        </p:nvSpPr>
        <p:spPr>
          <a:xfrm>
            <a:off x="5120640" y="2898648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prep_offline_data.py  (works fully offline after this)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393192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/home/claude/ibis-talk/icons/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88" y="3993368"/>
            <a:ext cx="389169" cy="38916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34440" y="39044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Get a Trino endpoint</a:t>
            </a:r>
            <a:endParaRPr lang="en-US" sz="1550" dirty="0"/>
          </a:p>
        </p:txBody>
      </p:sp>
      <p:sp>
        <p:nvSpPr>
          <p:cNvPr id="15" name="Text 10"/>
          <p:cNvSpPr txBox="1"/>
          <p:nvPr/>
        </p:nvSpPr>
        <p:spPr>
          <a:xfrm>
            <a:off x="5120640" y="3904488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via Docker Compose, or a free Starburst Galaxy cluster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48640" y="493776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/home/claude/ibis-talk/icons/co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88" y="4999208"/>
            <a:ext cx="389169" cy="38916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34440" y="491032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Open the notebook</a:t>
            </a:r>
            <a:endParaRPr lang="en-US" sz="1550" dirty="0"/>
          </a:p>
        </p:txBody>
      </p:sp>
      <p:sp>
        <p:nvSpPr>
          <p:cNvPr id="19" name="Text 13"/>
          <p:cNvSpPr txBox="1"/>
          <p:nvPr/>
        </p:nvSpPr>
        <p:spPr>
          <a:xfrm>
            <a:off x="5120640" y="4910328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jupyter lab ibis_optionality_demo.ipynb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setup instructions, including both Trino options, are in SETUP.md.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2" name="Text 1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371600"/>
            <a:ext cx="3840480" cy="3840480"/>
          </a:xfrm>
          <a:prstGeom prst="ellipse">
            <a:avLst/>
          </a:prstGeom>
          <a:solidFill>
            <a:srgbClr val="065A82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— find me after the session too.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088" y="2667488"/>
            <a:ext cx="389169" cy="38916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25877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&amp; tutorials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289864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ibis-project.org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356616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/home/claude/ibis-talk/icons/githu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088" y="3627608"/>
            <a:ext cx="389169" cy="38916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35478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280160" y="38587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github.com/ibis-project/ibis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452628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/home/claude/ibis-talk/icons/lap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88" y="4587728"/>
            <a:ext cx="389169" cy="38916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80160" y="450799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talk's demo + slides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280160" y="48188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github.com/your-handle/ibis-optionality-talk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1831</Words>
  <Application>Microsoft Macintosh PowerPoint</Application>
  <PresentationFormat>Widescreen</PresentationFormat>
  <Paragraphs>347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Lester Martin</cp:lastModifiedBy>
  <cp:revision>3</cp:revision>
  <dcterms:created xsi:type="dcterms:W3CDTF">2026-09-08T17:18:48Z</dcterms:created>
  <dcterms:modified xsi:type="dcterms:W3CDTF">2026-09-08T20:37:05Z</dcterms:modified>
</cp:coreProperties>
</file>