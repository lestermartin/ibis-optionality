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6" r:id="rId19"/>
    <p:sldId id="277" r:id="rId20"/>
    <p:sldId id="273" r:id="rId21"/>
    <p:sldId id="274" r:id="rId22"/>
    <p:sldId id="275" r:id="rId23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0907"/>
    <p:restoredTop sz="86957"/>
  </p:normalViewPr>
  <p:slideViewPr>
    <p:cSldViewPr snapToGrid="0" snapToObjects="1">
      <p:cViewPr varScale="1">
        <p:scale>
          <a:sx n="93" d="100"/>
          <a:sy n="93" d="100"/>
        </p:scale>
        <p:origin x="240" y="50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95951515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jpeg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.png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.png"/><Relationship Id="rId5" Type="http://schemas.openxmlformats.org/officeDocument/2006/relationships/image" Target="../media/image6.png"/><Relationship Id="rId4" Type="http://schemas.openxmlformats.org/officeDocument/2006/relationships/image" Target="../media/image1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.png"/><Relationship Id="rId5" Type="http://schemas.openxmlformats.org/officeDocument/2006/relationships/image" Target="../media/image6.png"/><Relationship Id="rId4" Type="http://schemas.openxmlformats.org/officeDocument/2006/relationships/image" Target="../media/image4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.png"/><Relationship Id="rId4" Type="http://schemas.openxmlformats.org/officeDocument/2006/relationships/image" Target="../media/image11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8.png"/><Relationship Id="rId4" Type="http://schemas.openxmlformats.org/officeDocument/2006/relationships/image" Target="../media/image2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0.png"/><Relationship Id="rId4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1295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92640" y="-1463040"/>
            <a:ext cx="4114800" cy="4114800"/>
          </a:xfrm>
          <a:prstGeom prst="ellipse">
            <a:avLst/>
          </a:prstGeom>
          <a:solidFill>
            <a:srgbClr val="065A82">
              <a:alpha val="6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10607040" y="4206240"/>
            <a:ext cx="2926080" cy="2926080"/>
          </a:xfrm>
          <a:prstGeom prst="ellipse">
            <a:avLst/>
          </a:prstGeom>
          <a:solidFill>
            <a:srgbClr val="1C7293">
              <a:alpha val="65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 txBox="1"/>
          <p:nvPr/>
        </p:nvSpPr>
        <p:spPr>
          <a:xfrm>
            <a:off x="822960" y="1965960"/>
            <a:ext cx="91440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IBIS</a:t>
            </a:r>
            <a:endParaRPr lang="en-US" sz="6400" dirty="0"/>
          </a:p>
        </p:txBody>
      </p:sp>
      <p:sp>
        <p:nvSpPr>
          <p:cNvPr id="5" name="Text 3"/>
          <p:cNvSpPr txBox="1"/>
          <p:nvPr/>
        </p:nvSpPr>
        <p:spPr>
          <a:xfrm>
            <a:off x="868680" y="3063240"/>
            <a:ext cx="8778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Bringing Optionality to Python Dataframes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868680" y="3886200"/>
            <a:ext cx="502920" cy="41148"/>
          </a:xfrm>
          <a:prstGeom prst="rect">
            <a:avLst/>
          </a:prstGeom>
          <a:solidFill>
            <a:srgbClr val="F2994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 txBox="1"/>
          <p:nvPr/>
        </p:nvSpPr>
        <p:spPr>
          <a:xfrm>
            <a:off x="868680" y="4041648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i="1" dirty="0">
                <a:solidFill>
                  <a:srgbClr val="9FB3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Python dataframe API. More than 20 backends. Your choice, any time.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868680" y="5806440"/>
            <a:ext cx="5486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Lester Martin – </a:t>
            </a:r>
            <a:r>
              <a:rPr lang="en-US" sz="14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lester.martin@gmail.com</a:t>
            </a:r>
            <a:endParaRPr lang="en-US" sz="14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9FB3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in the D · 2026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DATAFRAMES 101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9601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is a dataframe?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874520"/>
            <a:ext cx="5212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5000"/>
              </a:lnSpc>
              <a:buNone/>
            </a:pPr>
            <a:r>
              <a:rPr lang="en-US" sz="1650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dataframe is a table: rows are records, columns are named and typed. It's the shape underneath spreadsheets, CSVs, SQL query results — and most of the Python data stack.</a:t>
            </a:r>
            <a:endParaRPr lang="en-US" sz="1650" dirty="0"/>
          </a:p>
        </p:txBody>
      </p:sp>
      <p:sp>
        <p:nvSpPr>
          <p:cNvPr id="5" name="Shape 3"/>
          <p:cNvSpPr/>
          <p:nvPr/>
        </p:nvSpPr>
        <p:spPr>
          <a:xfrm>
            <a:off x="548640" y="3429000"/>
            <a:ext cx="512064" cy="512064"/>
          </a:xfrm>
          <a:prstGeom prst="ellipse">
            <a:avLst/>
          </a:prstGeom>
          <a:solidFill>
            <a:srgbClr val="065A82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6" name="Image 0" descr="/home/claude/ibis-talk/icons/layer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0088" y="3490448"/>
            <a:ext cx="389169" cy="389169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234440" y="3401568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Column</a:t>
            </a:r>
            <a:endParaRPr lang="en-US" sz="1550" dirty="0"/>
          </a:p>
        </p:txBody>
      </p:sp>
      <p:sp>
        <p:nvSpPr>
          <p:cNvPr id="8" name="Text 5"/>
          <p:cNvSpPr txBox="1"/>
          <p:nvPr/>
        </p:nvSpPr>
        <p:spPr>
          <a:xfrm>
            <a:off x="1234440" y="3739896"/>
            <a:ext cx="4297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5C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named, typed field — e.g. body_mass_g: float64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548640" y="4480560"/>
            <a:ext cx="512064" cy="512064"/>
          </a:xfrm>
          <a:prstGeom prst="ellipse">
            <a:avLst/>
          </a:prstGeom>
          <a:solidFill>
            <a:srgbClr val="065A82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0" name="Image 1" descr="/home/claude/ibis-talk/icons/databas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0088" y="4542008"/>
            <a:ext cx="389169" cy="389169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234440" y="4453128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Row</a:t>
            </a:r>
            <a:endParaRPr lang="en-US" sz="1550" dirty="0"/>
          </a:p>
        </p:txBody>
      </p:sp>
      <p:sp>
        <p:nvSpPr>
          <p:cNvPr id="12" name="Text 8"/>
          <p:cNvSpPr txBox="1"/>
          <p:nvPr/>
        </p:nvSpPr>
        <p:spPr>
          <a:xfrm>
            <a:off x="1234440" y="4791456"/>
            <a:ext cx="4297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5C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record — e.g. one penguin</a:t>
            </a:r>
            <a:endParaRPr lang="en-US" sz="125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26480" y="1965960"/>
          <a:ext cx="5532120" cy="1828800"/>
        </p:xfrm>
        <a:graphic>
          <a:graphicData uri="http://schemas.openxmlformats.org/drawingml/2006/table">
            <a:tbl>
              <a:tblPr/>
              <a:tblGrid>
                <a:gridCol w="19202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830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species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5A8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island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5A8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body_mass_g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5A8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21295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Adelie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21295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Torgersen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21295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3750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21295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Adelie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21295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Biscoe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21295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3800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21295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Gentoo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21295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Biscoe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21295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5000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4" name="Text 9"/>
          <p:cNvSpPr txBox="1"/>
          <p:nvPr/>
        </p:nvSpPr>
        <p:spPr>
          <a:xfrm>
            <a:off x="6126480" y="3977640"/>
            <a:ext cx="5532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5C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dataframe library represents this same shape.</a:t>
            </a:r>
            <a:endParaRPr lang="en-US" sz="1300" dirty="0"/>
          </a:p>
        </p:txBody>
      </p:sp>
      <p:sp>
        <p:nvSpPr>
          <p:cNvPr id="15" name="Text 10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AA6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Ibis: Bringing Optionality to Python Dataframes</a:t>
            </a:r>
            <a:endParaRPr lang="en-US" sz="900" dirty="0"/>
          </a:p>
        </p:txBody>
      </p:sp>
      <p:sp>
        <p:nvSpPr>
          <p:cNvPr id="16" name="Text 11"/>
          <p:cNvSpPr txBox="1"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AA6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  <p:pic>
        <p:nvPicPr>
          <p:cNvPr id="17" name="Picture 16" descr="Cartoon penguin - Openclipart">
            <a:extLst>
              <a:ext uri="{FF2B5EF4-FFF2-40B4-BE49-F238E27FC236}">
                <a16:creationId xmlns:a16="http://schemas.microsoft.com/office/drawing/2014/main" id="{65CE8E3E-222C-5137-FC1B-3B7D11E8629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475994" y="4488302"/>
            <a:ext cx="1932187" cy="1932187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DATAFRAMES 101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9601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dataframes took over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965960"/>
            <a:ext cx="3520440" cy="3566160"/>
          </a:xfrm>
          <a:prstGeom prst="roundRect">
            <a:avLst>
              <a:gd name="adj" fmla="val 2597"/>
            </a:avLst>
          </a:prstGeom>
          <a:solidFill>
            <a:srgbClr val="EEF3F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841248" y="2258568"/>
            <a:ext cx="566928" cy="566928"/>
          </a:xfrm>
          <a:prstGeom prst="ellipse">
            <a:avLst/>
          </a:prstGeom>
          <a:solidFill>
            <a:srgbClr val="065A82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6" name="Image 0" descr="/home/claude/ibis-talk/icons/databas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9279" y="2326599"/>
            <a:ext cx="430865" cy="430865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841248" y="3063240"/>
            <a:ext cx="293522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65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Tabular data is everywhere</a:t>
            </a:r>
            <a:endParaRPr lang="en-US" sz="1650" dirty="0"/>
          </a:p>
        </p:txBody>
      </p:sp>
      <p:sp>
        <p:nvSpPr>
          <p:cNvPr id="8" name="Text 5"/>
          <p:cNvSpPr txBox="1"/>
          <p:nvPr/>
        </p:nvSpPr>
        <p:spPr>
          <a:xfrm>
            <a:off x="841248" y="3931920"/>
            <a:ext cx="2935224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5C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Exports, logs, spreadsheets, CSVs, query results — most real-world data already looks like a table.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4343400" y="1965960"/>
            <a:ext cx="3520440" cy="3566160"/>
          </a:xfrm>
          <a:prstGeom prst="roundRect">
            <a:avLst>
              <a:gd name="adj" fmla="val 2597"/>
            </a:avLst>
          </a:prstGeom>
          <a:solidFill>
            <a:srgbClr val="EEF3F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Shape 7"/>
          <p:cNvSpPr/>
          <p:nvPr/>
        </p:nvSpPr>
        <p:spPr>
          <a:xfrm>
            <a:off x="4636008" y="2258568"/>
            <a:ext cx="566928" cy="566928"/>
          </a:xfrm>
          <a:prstGeom prst="ellipse">
            <a:avLst/>
          </a:prstGeom>
          <a:solidFill>
            <a:srgbClr val="065A82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1" name="Image 1" descr="/home/claude/ibis-talk/icons/cod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04039" y="2326599"/>
            <a:ext cx="430865" cy="430865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4636008" y="3063240"/>
            <a:ext cx="293522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65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Expressive, chainable operations</a:t>
            </a:r>
            <a:endParaRPr lang="en-US" sz="1650" dirty="0"/>
          </a:p>
        </p:txBody>
      </p:sp>
      <p:sp>
        <p:nvSpPr>
          <p:cNvPr id="13" name="Text 9"/>
          <p:cNvSpPr txBox="1"/>
          <p:nvPr/>
        </p:nvSpPr>
        <p:spPr>
          <a:xfrm>
            <a:off x="4636008" y="3931920"/>
            <a:ext cx="2935224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5C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filter, group, join, sort read like your train of thought — no manual loops or index bookkeeping.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8138160" y="1965960"/>
            <a:ext cx="3520440" cy="3566160"/>
          </a:xfrm>
          <a:prstGeom prst="roundRect">
            <a:avLst>
              <a:gd name="adj" fmla="val 2597"/>
            </a:avLst>
          </a:prstGeom>
          <a:solidFill>
            <a:srgbClr val="EEF3F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Shape 11"/>
          <p:cNvSpPr/>
          <p:nvPr/>
        </p:nvSpPr>
        <p:spPr>
          <a:xfrm>
            <a:off x="8430768" y="2258568"/>
            <a:ext cx="566928" cy="566928"/>
          </a:xfrm>
          <a:prstGeom prst="ellipse">
            <a:avLst/>
          </a:prstGeom>
          <a:solidFill>
            <a:srgbClr val="065A82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6" name="Image 2" descr="/home/claude/ibis-talk/icons/layer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98799" y="2326599"/>
            <a:ext cx="430865" cy="430865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8430768" y="3063240"/>
            <a:ext cx="293522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65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shape, many tools</a:t>
            </a:r>
            <a:endParaRPr lang="en-US" sz="1650" dirty="0"/>
          </a:p>
        </p:txBody>
      </p:sp>
      <p:sp>
        <p:nvSpPr>
          <p:cNvPr id="18" name="Text 13"/>
          <p:cNvSpPr txBox="1"/>
          <p:nvPr/>
        </p:nvSpPr>
        <p:spPr>
          <a:xfrm>
            <a:off x="8430768" y="3931920"/>
            <a:ext cx="2935224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5C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mental model works in pandas, R, SQL, and Spark. Learn the shape once.</a:t>
            </a:r>
            <a:endParaRPr lang="en-US" sz="1300" dirty="0"/>
          </a:p>
        </p:txBody>
      </p:sp>
      <p:sp>
        <p:nvSpPr>
          <p:cNvPr id="19" name="Text 14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AA6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Ibis: Bringing Optionality to Python Dataframes</a:t>
            </a:r>
            <a:endParaRPr lang="en-US" sz="900" dirty="0"/>
          </a:p>
        </p:txBody>
      </p:sp>
      <p:sp>
        <p:nvSpPr>
          <p:cNvPr id="20" name="Text 15"/>
          <p:cNvSpPr txBox="1"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AA6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DATAFRAMES 101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9601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dataframes shine — and where they don't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965960"/>
            <a:ext cx="5349240" cy="4023360"/>
          </a:xfrm>
          <a:prstGeom prst="roundRect">
            <a:avLst>
              <a:gd name="adj" fmla="val 2273"/>
            </a:avLst>
          </a:prstGeom>
          <a:solidFill>
            <a:srgbClr val="EEF3F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841248" y="2258568"/>
            <a:ext cx="566928" cy="566928"/>
          </a:xfrm>
          <a:prstGeom prst="ellipse">
            <a:avLst/>
          </a:prstGeom>
          <a:solidFill>
            <a:srgbClr val="065A82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6" name="Image 0" descr="/home/claude/ibis-talk/icons/chec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9279" y="2326599"/>
            <a:ext cx="430865" cy="430865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508760" y="2295144"/>
            <a:ext cx="4160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Great fit</a:t>
            </a:r>
            <a:endParaRPr lang="en-US" sz="1900" dirty="0"/>
          </a:p>
        </p:txBody>
      </p:sp>
      <p:sp>
        <p:nvSpPr>
          <p:cNvPr id="8" name="Text 5"/>
          <p:cNvSpPr txBox="1"/>
          <p:nvPr/>
        </p:nvSpPr>
        <p:spPr>
          <a:xfrm>
            <a:off x="914400" y="3017520"/>
            <a:ext cx="461772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Exploratory data analysis &amp; ad hoc queries</a:t>
            </a:r>
            <a:endParaRPr lang="en-US" sz="1400" dirty="0"/>
          </a:p>
          <a:p>
            <a:pPr marL="342900" indent="-342900">
              <a:lnSpc>
                <a:spcPct val="125000"/>
              </a:lnSpc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Cleaning and reshaping tabular data (ETL)</a:t>
            </a:r>
            <a:endParaRPr lang="en-US" sz="1400" dirty="0"/>
          </a:p>
          <a:p>
            <a:pPr marL="342900" indent="-342900">
              <a:lnSpc>
                <a:spcPct val="125000"/>
              </a:lnSpc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engineering for ML models</a:t>
            </a:r>
            <a:endParaRPr lang="en-US" sz="1400" dirty="0"/>
          </a:p>
          <a:p>
            <a:pPr marL="342900" indent="-342900">
              <a:lnSpc>
                <a:spcPct val="125000"/>
              </a:lnSpc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Reporting &amp; analytics on structured data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6263640" y="1965960"/>
            <a:ext cx="5349240" cy="4023360"/>
          </a:xfrm>
          <a:prstGeom prst="roundRect">
            <a:avLst>
              <a:gd name="adj" fmla="val 2273"/>
            </a:avLst>
          </a:prstGeom>
          <a:solidFill>
            <a:srgbClr val="EEF3F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Shape 7"/>
          <p:cNvSpPr/>
          <p:nvPr/>
        </p:nvSpPr>
        <p:spPr>
          <a:xfrm>
            <a:off x="6556248" y="2258568"/>
            <a:ext cx="566928" cy="566928"/>
          </a:xfrm>
          <a:prstGeom prst="ellipse">
            <a:avLst/>
          </a:prstGeom>
          <a:solidFill>
            <a:srgbClr val="F2994A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1" name="Image 1" descr="/home/claude/ibis-talk/icons/exchan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24279" y="2326599"/>
            <a:ext cx="430865" cy="430865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7223760" y="2295144"/>
            <a:ext cx="4160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Reach for something else</a:t>
            </a:r>
            <a:endParaRPr lang="en-US" sz="1900" dirty="0"/>
          </a:p>
        </p:txBody>
      </p:sp>
      <p:sp>
        <p:nvSpPr>
          <p:cNvPr id="13" name="Text 9"/>
          <p:cNvSpPr txBox="1"/>
          <p:nvPr/>
        </p:nvSpPr>
        <p:spPr>
          <a:xfrm>
            <a:off x="6629400" y="3017520"/>
            <a:ext cx="461772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Deeply nested documents — flatten first, or use a document store</a:t>
            </a:r>
            <a:endParaRPr lang="en-US" sz="1400" dirty="0"/>
          </a:p>
          <a:p>
            <a:pPr marL="342900" indent="-342900">
              <a:lnSpc>
                <a:spcPct val="125000"/>
              </a:lnSpc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Free-form text, images, audio — NLP/CV tooling, tensors</a:t>
            </a:r>
            <a:endParaRPr lang="en-US" sz="1400" dirty="0"/>
          </a:p>
          <a:p>
            <a:pPr marL="342900" indent="-342900">
              <a:lnSpc>
                <a:spcPct val="125000"/>
              </a:lnSpc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Highly connected graph traversal — a graph database</a:t>
            </a:r>
            <a:endParaRPr lang="en-US" sz="1400" dirty="0"/>
          </a:p>
          <a:p>
            <a:pPr marL="342900" indent="-342900">
              <a:lnSpc>
                <a:spcPct val="125000"/>
              </a:lnSpc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Sub-millisecond single-row lookups — an OLTP database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AA6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Ibis: Bringing Optionality to Python Dataframes</a:t>
            </a:r>
            <a:endParaRPr lang="en-US" sz="900" dirty="0"/>
          </a:p>
        </p:txBody>
      </p:sp>
      <p:sp>
        <p:nvSpPr>
          <p:cNvPr id="15" name="Text 11"/>
          <p:cNvSpPr txBox="1"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AA6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9601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Python </a:t>
            </a:r>
            <a:r>
              <a:rPr lang="en-US" sz="3200" b="1" dirty="0" err="1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dataframe</a:t>
            </a:r>
            <a:r>
              <a:rPr lang="en-US" sz="32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libraries pick the engine for you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965960"/>
            <a:ext cx="2542032" cy="3246120"/>
          </a:xfrm>
          <a:prstGeom prst="roundRect">
            <a:avLst>
              <a:gd name="adj" fmla="val 3597"/>
            </a:avLst>
          </a:prstGeom>
          <a:solidFill>
            <a:srgbClr val="EEF3F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1536192" y="2286000"/>
            <a:ext cx="566928" cy="566928"/>
          </a:xfrm>
          <a:prstGeom prst="ellipse">
            <a:avLst/>
          </a:prstGeom>
          <a:solidFill>
            <a:srgbClr val="065A82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6" name="Image 0" descr="/home/claude/ibis-talk/icons/databas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04223" y="2354031"/>
            <a:ext cx="430865" cy="430865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685800" y="3108960"/>
            <a:ext cx="22677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pandas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749808" y="3657600"/>
            <a:ext cx="2139696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25000"/>
              </a:lnSpc>
              <a:buNone/>
            </a:pPr>
            <a:r>
              <a:rPr lang="en-US" sz="1250" dirty="0">
                <a:solidFill>
                  <a:srgbClr val="5C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machine only.</a:t>
            </a:r>
            <a:endParaRPr lang="en-US" sz="1250" dirty="0"/>
          </a:p>
          <a:p>
            <a:pPr marL="0" indent="0" algn="ctr">
              <a:lnSpc>
                <a:spcPct val="125000"/>
              </a:lnSpc>
              <a:buNone/>
            </a:pPr>
            <a:r>
              <a:rPr lang="en-US" sz="1250" dirty="0">
                <a:solidFill>
                  <a:srgbClr val="5C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Outgrow your laptop's memory? Rewrite.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3346704" y="1965960"/>
            <a:ext cx="2542032" cy="3246120"/>
          </a:xfrm>
          <a:prstGeom prst="roundRect">
            <a:avLst>
              <a:gd name="adj" fmla="val 3597"/>
            </a:avLst>
          </a:prstGeom>
          <a:solidFill>
            <a:srgbClr val="EEF3F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Shape 7"/>
          <p:cNvSpPr/>
          <p:nvPr/>
        </p:nvSpPr>
        <p:spPr>
          <a:xfrm>
            <a:off x="4334256" y="2286000"/>
            <a:ext cx="566928" cy="566928"/>
          </a:xfrm>
          <a:prstGeom prst="ellipse">
            <a:avLst/>
          </a:prstGeom>
          <a:solidFill>
            <a:srgbClr val="065A82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1" name="Image 1" descr="/home/claude/ibis-talk/icons/bol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02287" y="2354031"/>
            <a:ext cx="430865" cy="430865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3483864" y="3108960"/>
            <a:ext cx="22677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Polars</a:t>
            </a:r>
            <a:endParaRPr lang="en-US" sz="1800" dirty="0"/>
          </a:p>
        </p:txBody>
      </p:sp>
      <p:sp>
        <p:nvSpPr>
          <p:cNvPr id="13" name="Text 9"/>
          <p:cNvSpPr txBox="1"/>
          <p:nvPr/>
        </p:nvSpPr>
        <p:spPr>
          <a:xfrm>
            <a:off x="3547872" y="3657600"/>
            <a:ext cx="2139696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25000"/>
              </a:lnSpc>
              <a:buNone/>
            </a:pPr>
            <a:r>
              <a:rPr lang="en-US" sz="1250" dirty="0">
                <a:solidFill>
                  <a:srgbClr val="5C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Blazing fast locally.</a:t>
            </a:r>
            <a:endParaRPr lang="en-US" sz="1250" dirty="0"/>
          </a:p>
          <a:p>
            <a:pPr marL="0" indent="0" algn="ctr">
              <a:lnSpc>
                <a:spcPct val="125000"/>
              </a:lnSpc>
              <a:buNone/>
            </a:pPr>
            <a:r>
              <a:rPr lang="en-US" sz="1250" dirty="0">
                <a:solidFill>
                  <a:srgbClr val="5C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built to hand off to a cluster.</a:t>
            </a:r>
            <a:endParaRPr lang="en-US" sz="1250" dirty="0"/>
          </a:p>
        </p:txBody>
      </p:sp>
      <p:sp>
        <p:nvSpPr>
          <p:cNvPr id="14" name="Shape 10"/>
          <p:cNvSpPr/>
          <p:nvPr/>
        </p:nvSpPr>
        <p:spPr>
          <a:xfrm>
            <a:off x="6144768" y="1965960"/>
            <a:ext cx="2542032" cy="3246120"/>
          </a:xfrm>
          <a:prstGeom prst="roundRect">
            <a:avLst>
              <a:gd name="adj" fmla="val 3597"/>
            </a:avLst>
          </a:prstGeom>
          <a:solidFill>
            <a:srgbClr val="EEF3F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Shape 11"/>
          <p:cNvSpPr/>
          <p:nvPr/>
        </p:nvSpPr>
        <p:spPr>
          <a:xfrm>
            <a:off x="7132320" y="2286000"/>
            <a:ext cx="566928" cy="566928"/>
          </a:xfrm>
          <a:prstGeom prst="ellipse">
            <a:avLst/>
          </a:prstGeom>
          <a:solidFill>
            <a:srgbClr val="065A82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6" name="Image 2" descr="/home/claude/ibis-talk/icons/serve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00351" y="2354031"/>
            <a:ext cx="430865" cy="430865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6281928" y="3108960"/>
            <a:ext cx="22677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PySpark</a:t>
            </a:r>
            <a:endParaRPr lang="en-US" sz="1800" dirty="0"/>
          </a:p>
        </p:txBody>
      </p:sp>
      <p:sp>
        <p:nvSpPr>
          <p:cNvPr id="18" name="Text 13"/>
          <p:cNvSpPr txBox="1"/>
          <p:nvPr/>
        </p:nvSpPr>
        <p:spPr>
          <a:xfrm>
            <a:off x="6345936" y="3657600"/>
            <a:ext cx="2139696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25000"/>
              </a:lnSpc>
              <a:buNone/>
            </a:pPr>
            <a:r>
              <a:rPr lang="en-US" sz="1250" dirty="0">
                <a:solidFill>
                  <a:srgbClr val="5C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Scales to a cluster.</a:t>
            </a:r>
            <a:endParaRPr lang="en-US" sz="1250" dirty="0"/>
          </a:p>
          <a:p>
            <a:pPr marL="0" indent="0" algn="ctr">
              <a:lnSpc>
                <a:spcPct val="125000"/>
              </a:lnSpc>
              <a:buNone/>
            </a:pPr>
            <a:r>
              <a:rPr lang="en-US" sz="1250" dirty="0">
                <a:solidFill>
                  <a:srgbClr val="5C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Overkill — and its own API — for small jobs.</a:t>
            </a:r>
            <a:endParaRPr lang="en-US" sz="1250" dirty="0"/>
          </a:p>
        </p:txBody>
      </p:sp>
      <p:sp>
        <p:nvSpPr>
          <p:cNvPr id="19" name="Shape 14"/>
          <p:cNvSpPr/>
          <p:nvPr/>
        </p:nvSpPr>
        <p:spPr>
          <a:xfrm>
            <a:off x="8942832" y="1965960"/>
            <a:ext cx="2542032" cy="3246120"/>
          </a:xfrm>
          <a:prstGeom prst="roundRect">
            <a:avLst>
              <a:gd name="adj" fmla="val 3597"/>
            </a:avLst>
          </a:prstGeom>
          <a:solidFill>
            <a:srgbClr val="EEF3F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Shape 15"/>
          <p:cNvSpPr/>
          <p:nvPr/>
        </p:nvSpPr>
        <p:spPr>
          <a:xfrm>
            <a:off x="9930384" y="2286000"/>
            <a:ext cx="566928" cy="566928"/>
          </a:xfrm>
          <a:prstGeom prst="ellipse">
            <a:avLst/>
          </a:prstGeom>
          <a:solidFill>
            <a:srgbClr val="065A82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1" name="Image 3" descr="/home/claude/ibis-talk/icons/lock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998415" y="2354031"/>
            <a:ext cx="430865" cy="430865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9079992" y="3108960"/>
            <a:ext cx="22677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Warehouse Specific</a:t>
            </a:r>
            <a:endParaRPr lang="en-US" sz="1800" dirty="0"/>
          </a:p>
        </p:txBody>
      </p:sp>
      <p:sp>
        <p:nvSpPr>
          <p:cNvPr id="23" name="Text 17"/>
          <p:cNvSpPr txBox="1"/>
          <p:nvPr/>
        </p:nvSpPr>
        <p:spPr>
          <a:xfrm>
            <a:off x="9144000" y="3657600"/>
            <a:ext cx="2139696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25000"/>
              </a:lnSpc>
              <a:buNone/>
            </a:pPr>
            <a:r>
              <a:rPr lang="en-US" sz="1250" dirty="0">
                <a:solidFill>
                  <a:srgbClr val="5C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have SQL.</a:t>
            </a:r>
          </a:p>
          <a:p>
            <a:pPr marL="0" indent="0" algn="ctr">
              <a:lnSpc>
                <a:spcPct val="125000"/>
              </a:lnSpc>
              <a:buNone/>
            </a:pPr>
            <a:r>
              <a:rPr lang="en-US" sz="1250" dirty="0">
                <a:solidFill>
                  <a:srgbClr val="5C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 have a</a:t>
            </a:r>
            <a:r>
              <a:rPr lang="en-US" sz="1250" dirty="0"/>
              <a:t> </a:t>
            </a:r>
            <a:r>
              <a:rPr lang="en-US" sz="1250" dirty="0">
                <a:solidFill>
                  <a:srgbClr val="5C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proprietary </a:t>
            </a:r>
            <a:r>
              <a:rPr lang="en-US" sz="1250" dirty="0" err="1">
                <a:solidFill>
                  <a:srgbClr val="5C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dataframe</a:t>
            </a:r>
            <a:r>
              <a:rPr lang="en-US" sz="1250" dirty="0">
                <a:solidFill>
                  <a:srgbClr val="5C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API.</a:t>
            </a:r>
            <a:endParaRPr lang="en-US" sz="1250" dirty="0"/>
          </a:p>
        </p:txBody>
      </p:sp>
      <p:sp>
        <p:nvSpPr>
          <p:cNvPr id="24" name="Text 18"/>
          <p:cNvSpPr txBox="1"/>
          <p:nvPr/>
        </p:nvSpPr>
        <p:spPr>
          <a:xfrm>
            <a:off x="548640" y="5532120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i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Whichever you pick, switching later means rewriting your code from scratch.</a:t>
            </a:r>
            <a:endParaRPr lang="en-US" sz="1550" dirty="0"/>
          </a:p>
        </p:txBody>
      </p:sp>
      <p:sp>
        <p:nvSpPr>
          <p:cNvPr id="25" name="Text 19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AA6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Ibis: Bringing Optionality to Python Dataframes</a:t>
            </a:r>
            <a:endParaRPr lang="en-US" sz="900" dirty="0"/>
          </a:p>
        </p:txBody>
      </p:sp>
      <p:sp>
        <p:nvSpPr>
          <p:cNvPr id="26" name="Text 20"/>
          <p:cNvSpPr txBox="1"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AA6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21295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280160" y="4206240"/>
            <a:ext cx="3657600" cy="3657600"/>
          </a:xfrm>
          <a:prstGeom prst="ellipse">
            <a:avLst/>
          </a:prstGeom>
          <a:solidFill>
            <a:srgbClr val="065A82">
              <a:alpha val="55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 txBox="1"/>
          <p:nvPr/>
        </p:nvSpPr>
        <p:spPr>
          <a:xfrm>
            <a:off x="548640" y="4572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9FB3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IDEA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77240"/>
            <a:ext cx="9601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if you didn't have to choose?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965960"/>
            <a:ext cx="63093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5000"/>
              </a:lnSpc>
              <a:buNone/>
            </a:pPr>
            <a:r>
              <a:rPr lang="en-US" sz="1700" dirty="0">
                <a:solidFill>
                  <a:srgbClr val="E7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Ibis is one Python dataframe API that runs on </a:t>
            </a:r>
            <a:r>
              <a:rPr lang="en-US" sz="1700" b="1" dirty="0">
                <a:solidFill>
                  <a:srgbClr val="F29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greater than 20 backend engines</a:t>
            </a:r>
            <a:r>
              <a:rPr lang="en-US" sz="1700" dirty="0">
                <a:solidFill>
                  <a:srgbClr val="E7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DuckDB, Polars, Trino, Snowflake, BigQuery, PySpark, Postgres, and more.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3429000"/>
            <a:ext cx="6035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450" i="1" dirty="0">
                <a:solidFill>
                  <a:srgbClr val="9FB3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the API once. Point it at whichever engine the job calls for — today, and again next year.</a:t>
            </a:r>
            <a:endParaRPr lang="en-US" sz="1450" dirty="0"/>
          </a:p>
        </p:txBody>
      </p:sp>
      <p:sp>
        <p:nvSpPr>
          <p:cNvPr id="7" name="Shape 5"/>
          <p:cNvSpPr/>
          <p:nvPr/>
        </p:nvSpPr>
        <p:spPr>
          <a:xfrm>
            <a:off x="7315200" y="1828800"/>
            <a:ext cx="4297680" cy="3566160"/>
          </a:xfrm>
          <a:prstGeom prst="roundRect">
            <a:avLst>
              <a:gd name="adj" fmla="val 3077"/>
            </a:avLst>
          </a:prstGeom>
          <a:solidFill>
            <a:srgbClr val="1B245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 txBox="1"/>
          <p:nvPr/>
        </p:nvSpPr>
        <p:spPr>
          <a:xfrm>
            <a:off x="7315200" y="2331720"/>
            <a:ext cx="42976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200" b="1" dirty="0">
                <a:solidFill>
                  <a:srgbClr val="F299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20+</a:t>
            </a:r>
            <a:endParaRPr lang="en-US" sz="7200" dirty="0"/>
          </a:p>
        </p:txBody>
      </p:sp>
      <p:sp>
        <p:nvSpPr>
          <p:cNvPr id="9" name="Text 7"/>
          <p:cNvSpPr txBox="1"/>
          <p:nvPr/>
        </p:nvSpPr>
        <p:spPr>
          <a:xfrm>
            <a:off x="7315200" y="3520440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backends, one API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7589520" y="4114800"/>
            <a:ext cx="3749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40000"/>
              </a:lnSpc>
              <a:buNone/>
            </a:pPr>
            <a:r>
              <a:rPr lang="en-US" sz="1250" dirty="0">
                <a:solidFill>
                  <a:srgbClr val="9FB3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DuckDB · Polars · Trino · Spark</a:t>
            </a:r>
            <a:endParaRPr lang="en-US" sz="1250" dirty="0"/>
          </a:p>
          <a:p>
            <a:pPr marL="0" indent="0" algn="ctr">
              <a:lnSpc>
                <a:spcPct val="140000"/>
              </a:lnSpc>
              <a:buNone/>
            </a:pPr>
            <a:r>
              <a:rPr lang="en-US" sz="1250" dirty="0">
                <a:solidFill>
                  <a:srgbClr val="9FB3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Snowflake · BigQuery · Postgres …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FB3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Ibis: Bringing Optionality to Python Dataframes</a:t>
            </a:r>
            <a:endParaRPr lang="en-US" sz="900" dirty="0"/>
          </a:p>
        </p:txBody>
      </p:sp>
      <p:sp>
        <p:nvSpPr>
          <p:cNvPr id="12" name="Text 10"/>
          <p:cNvSpPr txBox="1"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FB3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 THE HOOD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9601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Your code compiles to wherever your data lives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2331720"/>
            <a:ext cx="2331720" cy="2286000"/>
          </a:xfrm>
          <a:prstGeom prst="roundRect">
            <a:avLst>
              <a:gd name="adj" fmla="val 4000"/>
            </a:avLst>
          </a:prstGeom>
          <a:solidFill>
            <a:srgbClr val="EEF3F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1504188" y="2624328"/>
            <a:ext cx="603504" cy="603504"/>
          </a:xfrm>
          <a:prstGeom prst="ellipse">
            <a:avLst/>
          </a:prstGeom>
          <a:solidFill>
            <a:srgbClr val="065A82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6" name="Image 0" descr="/home/claude/ibis-talk/icons/cod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6608" y="2696748"/>
            <a:ext cx="458663" cy="458663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731520" y="3429000"/>
            <a:ext cx="2148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45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write</a:t>
            </a:r>
            <a:endParaRPr lang="en-US" sz="1450" dirty="0"/>
          </a:p>
          <a:p>
            <a:pPr marL="0" indent="0" algn="ctr">
              <a:lnSpc>
                <a:spcPct val="120000"/>
              </a:lnSpc>
              <a:buNone/>
            </a:pPr>
            <a:r>
              <a:rPr lang="en-US" sz="145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</a:t>
            </a:r>
            <a:endParaRPr lang="en-US" sz="1450" dirty="0"/>
          </a:p>
        </p:txBody>
      </p:sp>
      <p:sp>
        <p:nvSpPr>
          <p:cNvPr id="8" name="Text 5"/>
          <p:cNvSpPr txBox="1"/>
          <p:nvPr/>
        </p:nvSpPr>
        <p:spPr>
          <a:xfrm>
            <a:off x="2971800" y="3154680"/>
            <a:ext cx="3840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3355848" y="2331720"/>
            <a:ext cx="2331720" cy="2286000"/>
          </a:xfrm>
          <a:prstGeom prst="roundRect">
            <a:avLst>
              <a:gd name="adj" fmla="val 4000"/>
            </a:avLst>
          </a:prstGeom>
          <a:solidFill>
            <a:srgbClr val="EEF3F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Shape 7"/>
          <p:cNvSpPr/>
          <p:nvPr/>
        </p:nvSpPr>
        <p:spPr>
          <a:xfrm>
            <a:off x="4219956" y="2624328"/>
            <a:ext cx="603504" cy="603504"/>
          </a:xfrm>
          <a:prstGeom prst="ellipse">
            <a:avLst/>
          </a:prstGeom>
          <a:solidFill>
            <a:srgbClr val="065A82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1" name="Image 1" descr="/home/claude/ibis-talk/icons/layer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92376" y="2696748"/>
            <a:ext cx="458663" cy="458663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3447288" y="3429000"/>
            <a:ext cx="2148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45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Ibis builds a</a:t>
            </a:r>
            <a:endParaRPr lang="en-US" sz="1450" dirty="0"/>
          </a:p>
          <a:p>
            <a:pPr marL="0" indent="0" algn="ctr">
              <a:lnSpc>
                <a:spcPct val="120000"/>
              </a:lnSpc>
              <a:buNone/>
            </a:pPr>
            <a:r>
              <a:rPr lang="en-US" sz="145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lazy expression</a:t>
            </a:r>
            <a:endParaRPr lang="en-US" sz="1450" dirty="0"/>
          </a:p>
        </p:txBody>
      </p:sp>
      <p:sp>
        <p:nvSpPr>
          <p:cNvPr id="13" name="Text 9"/>
          <p:cNvSpPr txBox="1"/>
          <p:nvPr/>
        </p:nvSpPr>
        <p:spPr>
          <a:xfrm>
            <a:off x="5687568" y="3154680"/>
            <a:ext cx="3840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600" dirty="0"/>
          </a:p>
        </p:txBody>
      </p:sp>
      <p:sp>
        <p:nvSpPr>
          <p:cNvPr id="14" name="Shape 10"/>
          <p:cNvSpPr/>
          <p:nvPr/>
        </p:nvSpPr>
        <p:spPr>
          <a:xfrm>
            <a:off x="6071616" y="2331720"/>
            <a:ext cx="2331720" cy="2286000"/>
          </a:xfrm>
          <a:prstGeom prst="roundRect">
            <a:avLst>
              <a:gd name="adj" fmla="val 4000"/>
            </a:avLst>
          </a:prstGeom>
          <a:solidFill>
            <a:srgbClr val="EEF3F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Shape 11"/>
          <p:cNvSpPr/>
          <p:nvPr/>
        </p:nvSpPr>
        <p:spPr>
          <a:xfrm>
            <a:off x="6935724" y="2624328"/>
            <a:ext cx="603504" cy="603504"/>
          </a:xfrm>
          <a:prstGeom prst="ellipse">
            <a:avLst/>
          </a:prstGeom>
          <a:solidFill>
            <a:srgbClr val="065A82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6" name="Image 2" descr="/home/claude/ibis-talk/icons/exchan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08144" y="2696748"/>
            <a:ext cx="458663" cy="458663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6163056" y="3429000"/>
            <a:ext cx="2148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45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Compiled to the</a:t>
            </a:r>
            <a:endParaRPr lang="en-US" sz="1450" dirty="0"/>
          </a:p>
          <a:p>
            <a:pPr marL="0" indent="0" algn="ctr">
              <a:lnSpc>
                <a:spcPct val="120000"/>
              </a:lnSpc>
              <a:buNone/>
            </a:pPr>
            <a:r>
              <a:rPr lang="en-US" sz="145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backend's language</a:t>
            </a:r>
            <a:endParaRPr lang="en-US" sz="1450" dirty="0"/>
          </a:p>
        </p:txBody>
      </p:sp>
      <p:sp>
        <p:nvSpPr>
          <p:cNvPr id="18" name="Text 13"/>
          <p:cNvSpPr txBox="1"/>
          <p:nvPr/>
        </p:nvSpPr>
        <p:spPr>
          <a:xfrm>
            <a:off x="8403336" y="3154680"/>
            <a:ext cx="3840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600" dirty="0"/>
          </a:p>
        </p:txBody>
      </p:sp>
      <p:sp>
        <p:nvSpPr>
          <p:cNvPr id="19" name="Shape 14"/>
          <p:cNvSpPr/>
          <p:nvPr/>
        </p:nvSpPr>
        <p:spPr>
          <a:xfrm>
            <a:off x="8787384" y="2331720"/>
            <a:ext cx="2331720" cy="2286000"/>
          </a:xfrm>
          <a:prstGeom prst="roundRect">
            <a:avLst>
              <a:gd name="adj" fmla="val 4000"/>
            </a:avLst>
          </a:prstGeom>
          <a:solidFill>
            <a:srgbClr val="EEF3F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Shape 15"/>
          <p:cNvSpPr/>
          <p:nvPr/>
        </p:nvSpPr>
        <p:spPr>
          <a:xfrm>
            <a:off x="9651492" y="2624328"/>
            <a:ext cx="603504" cy="603504"/>
          </a:xfrm>
          <a:prstGeom prst="ellipse">
            <a:avLst/>
          </a:prstGeom>
          <a:solidFill>
            <a:srgbClr val="F2994A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1" name="Image 3" descr="/home/claude/ibis-talk/icons/server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723912" y="2696748"/>
            <a:ext cx="458663" cy="458663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8878824" y="3429000"/>
            <a:ext cx="2148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45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Executed where</a:t>
            </a:r>
            <a:endParaRPr lang="en-US" sz="1450" dirty="0"/>
          </a:p>
          <a:p>
            <a:pPr marL="0" indent="0" algn="ctr">
              <a:lnSpc>
                <a:spcPct val="120000"/>
              </a:lnSpc>
              <a:buNone/>
            </a:pPr>
            <a:r>
              <a:rPr lang="en-US" sz="145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data lives</a:t>
            </a:r>
            <a:endParaRPr lang="en-US" sz="1450" dirty="0"/>
          </a:p>
        </p:txBody>
      </p:sp>
      <p:sp>
        <p:nvSpPr>
          <p:cNvPr id="23" name="Text 17"/>
          <p:cNvSpPr txBox="1"/>
          <p:nvPr/>
        </p:nvSpPr>
        <p:spPr>
          <a:xfrm>
            <a:off x="640080" y="507492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5C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touches your data until you call </a:t>
            </a:r>
            <a:endParaRPr lang="en-US" sz="1500" dirty="0"/>
          </a:p>
        </p:txBody>
      </p:sp>
      <p:sp>
        <p:nvSpPr>
          <p:cNvPr id="24" name="Text 18"/>
          <p:cNvSpPr txBox="1"/>
          <p:nvPr/>
        </p:nvSpPr>
        <p:spPr>
          <a:xfrm>
            <a:off x="4434840" y="507492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65A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.execute()</a:t>
            </a:r>
            <a:endParaRPr lang="en-US" sz="1500" dirty="0"/>
          </a:p>
        </p:txBody>
      </p:sp>
      <p:sp>
        <p:nvSpPr>
          <p:cNvPr id="25" name="Text 19"/>
          <p:cNvSpPr txBox="1"/>
          <p:nvPr/>
        </p:nvSpPr>
        <p:spPr>
          <a:xfrm>
            <a:off x="6172200" y="507492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5C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500" i="1" dirty="0">
                <a:solidFill>
                  <a:srgbClr val="5C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this is lazy execution</a:t>
            </a:r>
            <a:endParaRPr lang="en-US" sz="1500" i="1" dirty="0"/>
          </a:p>
        </p:txBody>
      </p:sp>
      <p:sp>
        <p:nvSpPr>
          <p:cNvPr id="26" name="Text 20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AA6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Ibis: Bringing Optionality to Python Dataframes</a:t>
            </a:r>
            <a:endParaRPr lang="en-US" sz="900" dirty="0"/>
          </a:p>
        </p:txBody>
      </p:sp>
      <p:sp>
        <p:nvSpPr>
          <p:cNvPr id="27" name="Text 21"/>
          <p:cNvSpPr txBox="1"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AA6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API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9601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handful of verbs cover almost everything</a:t>
            </a:r>
            <a:endParaRPr lang="en-US" sz="32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29708195"/>
              </p:ext>
            </p:extLst>
          </p:nvPr>
        </p:nvGraphicFramePr>
        <p:xfrm>
          <a:off x="548640" y="1920240"/>
          <a:ext cx="11064240" cy="4352544"/>
        </p:xfrm>
        <a:graphic>
          <a:graphicData uri="http://schemas.openxmlformats.org/drawingml/2006/table">
            <a:tbl>
              <a:tblPr/>
              <a:tblGrid>
                <a:gridCol w="4023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0233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0175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62179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Ibis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5A8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it does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5A8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Feels like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5A8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2179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50" dirty="0">
                          <a:solidFill>
                            <a:srgbClr val="21295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select(...)</a:t>
                      </a:r>
                      <a:endParaRPr lang="en-US" sz="13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50">
                          <a:solidFill>
                            <a:srgbClr val="2129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Identify  </a:t>
                      </a:r>
                      <a:r>
                        <a:rPr lang="en-US" sz="1350" dirty="0">
                          <a:solidFill>
                            <a:srgbClr val="2129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columns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50" i="1" dirty="0">
                          <a:solidFill>
                            <a:srgbClr val="5C6B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SQL SELECT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2179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50" dirty="0">
                          <a:solidFill>
                            <a:srgbClr val="21295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filter(...)</a:t>
                      </a:r>
                      <a:endParaRPr lang="en-US" sz="13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50" dirty="0">
                          <a:solidFill>
                            <a:srgbClr val="2129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Keep matching rows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50" i="1" dirty="0">
                          <a:solidFill>
                            <a:srgbClr val="5C6B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SQL WHERE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2179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50" dirty="0">
                          <a:solidFill>
                            <a:srgbClr val="21295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mutate(...)</a:t>
                      </a:r>
                      <a:endParaRPr lang="en-US" sz="13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50" dirty="0">
                          <a:solidFill>
                            <a:srgbClr val="2129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Add or modify a column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50" i="1" dirty="0">
                          <a:solidFill>
                            <a:srgbClr val="5C6B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computed column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2179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50" dirty="0">
                          <a:solidFill>
                            <a:srgbClr val="21295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group_by(...).aggregate(...)</a:t>
                      </a:r>
                      <a:endParaRPr lang="en-US" sz="13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50" dirty="0">
                          <a:solidFill>
                            <a:srgbClr val="2129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Summarize groups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50" i="1" dirty="0">
                          <a:solidFill>
                            <a:srgbClr val="5C6B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SQL GROUP BY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2179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50" dirty="0">
                          <a:solidFill>
                            <a:srgbClr val="21295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order_by(...)</a:t>
                      </a:r>
                      <a:endParaRPr lang="en-US" sz="13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50" dirty="0">
                          <a:solidFill>
                            <a:srgbClr val="2129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Sort rows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50" i="1" dirty="0">
                          <a:solidFill>
                            <a:srgbClr val="5C6B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SQL ORDER BY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62179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50" dirty="0">
                          <a:solidFill>
                            <a:srgbClr val="21295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join(...)</a:t>
                      </a:r>
                      <a:endParaRPr lang="en-US" sz="13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50" dirty="0">
                          <a:solidFill>
                            <a:srgbClr val="2129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Combine tables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50" i="1" dirty="0">
                          <a:solidFill>
                            <a:srgbClr val="5C6B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SQL JOIN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AA6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Ibis: Bringing Optionality to Python Dataframes</a:t>
            </a:r>
            <a:endParaRPr lang="en-US" sz="900" dirty="0"/>
          </a:p>
        </p:txBody>
      </p:sp>
      <p:sp>
        <p:nvSpPr>
          <p:cNvPr id="6" name="Text 3"/>
          <p:cNvSpPr txBox="1"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AA6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COMPARES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9601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Ibis vs. the dataframe libraries you already know</a:t>
            </a:r>
            <a:endParaRPr lang="en-US" sz="32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965960"/>
          <a:ext cx="11064240" cy="3950208"/>
        </p:xfrm>
        <a:graphic>
          <a:graphicData uri="http://schemas.openxmlformats.org/drawingml/2006/table">
            <a:tbl>
              <a:tblPr/>
              <a:tblGrid>
                <a:gridCol w="3657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373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373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7373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1945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65836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295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pandas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295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Polars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295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PySpark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295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Ibis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994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5836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50" dirty="0">
                          <a:solidFill>
                            <a:srgbClr val="2129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One API, many engines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50" dirty="0">
                          <a:solidFill>
                            <a:srgbClr val="2129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50" dirty="0">
                          <a:solidFill>
                            <a:srgbClr val="2129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50" dirty="0">
                          <a:solidFill>
                            <a:srgbClr val="2129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50" b="1" dirty="0">
                          <a:solidFill>
                            <a:srgbClr val="065A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 — 20+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5836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50" dirty="0">
                          <a:solidFill>
                            <a:srgbClr val="2129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Runs locally, no server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50" dirty="0">
                          <a:solidFill>
                            <a:srgbClr val="2129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50" dirty="0">
                          <a:solidFill>
                            <a:srgbClr val="2129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50" dirty="0">
                          <a:solidFill>
                            <a:srgbClr val="2129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Limited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50" b="1" dirty="0">
                          <a:solidFill>
                            <a:srgbClr val="065A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5836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50" dirty="0">
                          <a:solidFill>
                            <a:srgbClr val="2129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Scales to a cluster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50" dirty="0">
                          <a:solidFill>
                            <a:srgbClr val="2129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50" dirty="0">
                          <a:solidFill>
                            <a:srgbClr val="2129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 natively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50" dirty="0">
                          <a:solidFill>
                            <a:srgbClr val="2129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50" b="1" dirty="0">
                          <a:solidFill>
                            <a:srgbClr val="065A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5836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50" dirty="0">
                          <a:solidFill>
                            <a:srgbClr val="2129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Mixes SQL + dataframe code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50" dirty="0">
                          <a:solidFill>
                            <a:srgbClr val="2129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50" dirty="0">
                          <a:solidFill>
                            <a:srgbClr val="2129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Partial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50" dirty="0">
                          <a:solidFill>
                            <a:srgbClr val="2129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50" b="1" dirty="0">
                          <a:solidFill>
                            <a:srgbClr val="065A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5836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50" dirty="0">
                          <a:solidFill>
                            <a:srgbClr val="2129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Swap engines, keep your code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50" dirty="0">
                          <a:solidFill>
                            <a:srgbClr val="2129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50" dirty="0">
                          <a:solidFill>
                            <a:srgbClr val="2129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50" dirty="0">
                          <a:solidFill>
                            <a:srgbClr val="2129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50" b="1" dirty="0">
                          <a:solidFill>
                            <a:srgbClr val="065A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48640" y="612648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i="1" dirty="0">
                <a:solidFill>
                  <a:srgbClr val="5C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“Partial” / “limited” = supported in some form, but not the library's core design center.</a:t>
            </a:r>
            <a:endParaRPr lang="en-US" sz="115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AA6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Ibis: Bringing Optionality to Python Dataframes</a:t>
            </a:r>
            <a:endParaRPr lang="en-US" sz="900" dirty="0"/>
          </a:p>
        </p:txBody>
      </p:sp>
      <p:sp>
        <p:nvSpPr>
          <p:cNvPr id="7" name="Text 4"/>
          <p:cNvSpPr txBox="1"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AA6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SIDE BY SIDE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9601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Filtering rows, four APIs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965960"/>
            <a:ext cx="2596896" cy="420624"/>
          </a:xfrm>
          <a:prstGeom prst="roundRect">
            <a:avLst>
              <a:gd name="adj" fmla="val 17391"/>
            </a:avLst>
          </a:prstGeom>
          <a:solidFill>
            <a:srgbClr val="21295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 txBox="1"/>
          <p:nvPr/>
        </p:nvSpPr>
        <p:spPr>
          <a:xfrm>
            <a:off x="548640" y="1965960"/>
            <a:ext cx="25968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pandas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48640" y="2532888"/>
            <a:ext cx="2596896" cy="2679192"/>
          </a:xfrm>
          <a:prstGeom prst="roundRect">
            <a:avLst>
              <a:gd name="adj" fmla="val 2817"/>
            </a:avLst>
          </a:prstGeom>
          <a:solidFill>
            <a:srgbClr val="37415E"/>
          </a:solidFill>
          <a:ln/>
          <a:effectLst>
            <a:outerShdw blurRad="76200" dist="25400" dir="54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 txBox="1"/>
          <p:nvPr/>
        </p:nvSpPr>
        <p:spPr>
          <a:xfrm>
            <a:off x="804672" y="2734056"/>
            <a:ext cx="2084832" cy="2276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E7EE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df[</a:t>
            </a:r>
            <a:endParaRPr lang="en-US" sz="125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E7EE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df.mass &gt; </a:t>
            </a:r>
            <a:r>
              <a:rPr lang="en-US" sz="12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4000</a:t>
            </a:r>
            <a:endParaRPr lang="en-US" sz="125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E7EE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3364992" y="1965960"/>
            <a:ext cx="2596896" cy="420624"/>
          </a:xfrm>
          <a:prstGeom prst="roundRect">
            <a:avLst>
              <a:gd name="adj" fmla="val 17391"/>
            </a:avLst>
          </a:prstGeom>
          <a:solidFill>
            <a:srgbClr val="21295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 txBox="1"/>
          <p:nvPr/>
        </p:nvSpPr>
        <p:spPr>
          <a:xfrm>
            <a:off x="3364992" y="1965960"/>
            <a:ext cx="25968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Polars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3364992" y="2532888"/>
            <a:ext cx="2596896" cy="2679192"/>
          </a:xfrm>
          <a:prstGeom prst="roundRect">
            <a:avLst>
              <a:gd name="adj" fmla="val 2817"/>
            </a:avLst>
          </a:prstGeom>
          <a:solidFill>
            <a:srgbClr val="37415E"/>
          </a:solidFill>
          <a:ln/>
          <a:effectLst>
            <a:outerShdw blurRad="76200" dist="25400" dir="54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 txBox="1"/>
          <p:nvPr/>
        </p:nvSpPr>
        <p:spPr>
          <a:xfrm>
            <a:off x="3621024" y="2734056"/>
            <a:ext cx="2084832" cy="2276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E7EE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df.</a:t>
            </a:r>
            <a:r>
              <a:rPr lang="en-US" sz="12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filter</a:t>
            </a:r>
            <a:r>
              <a:rPr lang="en-US" sz="1250" dirty="0">
                <a:solidFill>
                  <a:srgbClr val="E7EE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endParaRPr lang="en-US" sz="125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E7EE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pl.col(</a:t>
            </a:r>
            <a:r>
              <a:rPr lang="en-US" sz="12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"mass"</a:t>
            </a:r>
            <a:r>
              <a:rPr lang="en-US" sz="1250" dirty="0">
                <a:solidFill>
                  <a:srgbClr val="E7EE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 &gt;</a:t>
            </a:r>
            <a:endParaRPr lang="en-US" sz="125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E7EE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lang="en-US" sz="12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4000</a:t>
            </a:r>
            <a:r>
              <a:rPr lang="en-US" sz="1250" dirty="0">
                <a:solidFill>
                  <a:srgbClr val="E7EE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181344" y="1965960"/>
            <a:ext cx="2596896" cy="420624"/>
          </a:xfrm>
          <a:prstGeom prst="roundRect">
            <a:avLst>
              <a:gd name="adj" fmla="val 17391"/>
            </a:avLst>
          </a:prstGeom>
          <a:solidFill>
            <a:srgbClr val="21295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 txBox="1"/>
          <p:nvPr/>
        </p:nvSpPr>
        <p:spPr>
          <a:xfrm>
            <a:off x="6181344" y="1965960"/>
            <a:ext cx="25968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PySpark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6181344" y="2532888"/>
            <a:ext cx="2596896" cy="2679192"/>
          </a:xfrm>
          <a:prstGeom prst="roundRect">
            <a:avLst>
              <a:gd name="adj" fmla="val 2817"/>
            </a:avLst>
          </a:prstGeom>
          <a:solidFill>
            <a:srgbClr val="37415E"/>
          </a:solidFill>
          <a:ln/>
          <a:effectLst>
            <a:outerShdw blurRad="76200" dist="25400" dir="54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 txBox="1"/>
          <p:nvPr/>
        </p:nvSpPr>
        <p:spPr>
          <a:xfrm>
            <a:off x="6437376" y="2734056"/>
            <a:ext cx="2084832" cy="2276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E7EE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df.</a:t>
            </a:r>
            <a:r>
              <a:rPr lang="en-US" sz="12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filter</a:t>
            </a:r>
            <a:r>
              <a:rPr lang="en-US" sz="1250" dirty="0">
                <a:solidFill>
                  <a:srgbClr val="E7EE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endParaRPr lang="en-US" sz="125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E7EE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df.mass &gt; </a:t>
            </a:r>
            <a:r>
              <a:rPr lang="en-US" sz="12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4000</a:t>
            </a:r>
            <a:endParaRPr lang="en-US" sz="125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E7EE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8997696" y="1965960"/>
            <a:ext cx="2596896" cy="420624"/>
          </a:xfrm>
          <a:prstGeom prst="roundRect">
            <a:avLst>
              <a:gd name="adj" fmla="val 17391"/>
            </a:avLst>
          </a:prstGeom>
          <a:solidFill>
            <a:srgbClr val="F2994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 txBox="1"/>
          <p:nvPr/>
        </p:nvSpPr>
        <p:spPr>
          <a:xfrm>
            <a:off x="8997696" y="1965960"/>
            <a:ext cx="25968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Ibis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8997696" y="2532888"/>
            <a:ext cx="2596896" cy="2679192"/>
          </a:xfrm>
          <a:prstGeom prst="roundRect">
            <a:avLst>
              <a:gd name="adj" fmla="val 2817"/>
            </a:avLst>
          </a:prstGeom>
          <a:solidFill>
            <a:srgbClr val="1B2450"/>
          </a:solidFill>
          <a:ln/>
          <a:effectLst>
            <a:outerShdw blurRad="76200" dist="25400" dir="54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 txBox="1"/>
          <p:nvPr/>
        </p:nvSpPr>
        <p:spPr>
          <a:xfrm>
            <a:off x="9253728" y="2734056"/>
            <a:ext cx="2084832" cy="2276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E7EE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t.</a:t>
            </a:r>
            <a:r>
              <a:rPr lang="en-US" sz="12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filter</a:t>
            </a:r>
            <a:r>
              <a:rPr lang="en-US" sz="1250" dirty="0">
                <a:solidFill>
                  <a:srgbClr val="E7EE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endParaRPr lang="en-US" sz="125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E7EE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t.mass &gt; </a:t>
            </a:r>
            <a:r>
              <a:rPr lang="en-US" sz="12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4000</a:t>
            </a:r>
            <a:endParaRPr lang="en-US" sz="125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E7EE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25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5468112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i="1" dirty="0">
                <a:solidFill>
                  <a:srgbClr val="5C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idea everywhere: keep the rows matching a condition. Ibis reads closest to pandas and PySpark.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AA6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Ibis: Bringing Optionality to Python Dataframes</a:t>
            </a:r>
            <a:endParaRPr lang="en-US" sz="900" dirty="0"/>
          </a:p>
        </p:txBody>
      </p:sp>
      <p:sp>
        <p:nvSpPr>
          <p:cNvPr id="22" name="Text 20"/>
          <p:cNvSpPr txBox="1"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AA6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SIDE BY SIDE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9601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Adding a computed column, four APIs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965960"/>
            <a:ext cx="2596896" cy="420624"/>
          </a:xfrm>
          <a:prstGeom prst="roundRect">
            <a:avLst>
              <a:gd name="adj" fmla="val 17391"/>
            </a:avLst>
          </a:prstGeom>
          <a:solidFill>
            <a:srgbClr val="21295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 txBox="1"/>
          <p:nvPr/>
        </p:nvSpPr>
        <p:spPr>
          <a:xfrm>
            <a:off x="548640" y="1965960"/>
            <a:ext cx="25968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pandas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48640" y="2532888"/>
            <a:ext cx="2596896" cy="2679192"/>
          </a:xfrm>
          <a:prstGeom prst="roundRect">
            <a:avLst>
              <a:gd name="adj" fmla="val 2817"/>
            </a:avLst>
          </a:prstGeom>
          <a:solidFill>
            <a:srgbClr val="37415E"/>
          </a:solidFill>
          <a:ln/>
          <a:effectLst>
            <a:outerShdw blurRad="76200" dist="25400" dir="54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 txBox="1"/>
          <p:nvPr/>
        </p:nvSpPr>
        <p:spPr>
          <a:xfrm>
            <a:off x="804672" y="2734056"/>
            <a:ext cx="2084832" cy="2276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E7EE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df.</a:t>
            </a:r>
            <a:r>
              <a:rPr lang="en-US" sz="12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assign</a:t>
            </a:r>
            <a:r>
              <a:rPr lang="en-US" sz="1250" dirty="0">
                <a:solidFill>
                  <a:srgbClr val="E7EE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endParaRPr lang="en-US" sz="125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E7EE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mass_kg=</a:t>
            </a:r>
            <a:endParaRPr lang="en-US" sz="125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E7EE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df.mass/1000</a:t>
            </a:r>
            <a:endParaRPr lang="en-US" sz="125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E7EE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3364992" y="1965960"/>
            <a:ext cx="2596896" cy="420624"/>
          </a:xfrm>
          <a:prstGeom prst="roundRect">
            <a:avLst>
              <a:gd name="adj" fmla="val 17391"/>
            </a:avLst>
          </a:prstGeom>
          <a:solidFill>
            <a:srgbClr val="21295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 txBox="1"/>
          <p:nvPr/>
        </p:nvSpPr>
        <p:spPr>
          <a:xfrm>
            <a:off x="3364992" y="1965960"/>
            <a:ext cx="25968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Polars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3364992" y="2532888"/>
            <a:ext cx="2596896" cy="2679192"/>
          </a:xfrm>
          <a:prstGeom prst="roundRect">
            <a:avLst>
              <a:gd name="adj" fmla="val 2817"/>
            </a:avLst>
          </a:prstGeom>
          <a:solidFill>
            <a:srgbClr val="37415E"/>
          </a:solidFill>
          <a:ln/>
          <a:effectLst>
            <a:outerShdw blurRad="76200" dist="25400" dir="54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 txBox="1"/>
          <p:nvPr/>
        </p:nvSpPr>
        <p:spPr>
          <a:xfrm>
            <a:off x="3621024" y="2734056"/>
            <a:ext cx="2084832" cy="2276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E7EE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df.</a:t>
            </a:r>
            <a:r>
              <a:rPr lang="en-US" sz="12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with_columns</a:t>
            </a:r>
            <a:r>
              <a:rPr lang="en-US" sz="1250" dirty="0">
                <a:solidFill>
                  <a:srgbClr val="E7EE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endParaRPr lang="en-US" sz="125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E7EE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(pl.col(</a:t>
            </a:r>
            <a:r>
              <a:rPr lang="en-US" sz="12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"mass"</a:t>
            </a:r>
            <a:r>
              <a:rPr lang="en-US" sz="1250" dirty="0">
                <a:solidFill>
                  <a:srgbClr val="E7EE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25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E7EE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/1000).</a:t>
            </a:r>
            <a:r>
              <a:rPr lang="en-US" sz="12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alias</a:t>
            </a:r>
            <a:r>
              <a:rPr lang="en-US" sz="1250" dirty="0">
                <a:solidFill>
                  <a:srgbClr val="E7EE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endParaRPr lang="en-US" sz="125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E7EE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lang="en-US" sz="12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"mass_kg"</a:t>
            </a:r>
            <a:r>
              <a:rPr lang="en-US" sz="1250" dirty="0">
                <a:solidFill>
                  <a:srgbClr val="E7EE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))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181344" y="1965960"/>
            <a:ext cx="2596896" cy="420624"/>
          </a:xfrm>
          <a:prstGeom prst="roundRect">
            <a:avLst>
              <a:gd name="adj" fmla="val 17391"/>
            </a:avLst>
          </a:prstGeom>
          <a:solidFill>
            <a:srgbClr val="21295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 txBox="1"/>
          <p:nvPr/>
        </p:nvSpPr>
        <p:spPr>
          <a:xfrm>
            <a:off x="6181344" y="1965960"/>
            <a:ext cx="25968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PySpark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6181344" y="2532888"/>
            <a:ext cx="2596896" cy="2679192"/>
          </a:xfrm>
          <a:prstGeom prst="roundRect">
            <a:avLst>
              <a:gd name="adj" fmla="val 2817"/>
            </a:avLst>
          </a:prstGeom>
          <a:solidFill>
            <a:srgbClr val="37415E"/>
          </a:solidFill>
          <a:ln/>
          <a:effectLst>
            <a:outerShdw blurRad="76200" dist="25400" dir="54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 txBox="1"/>
          <p:nvPr/>
        </p:nvSpPr>
        <p:spPr>
          <a:xfrm>
            <a:off x="6437376" y="2734056"/>
            <a:ext cx="2084832" cy="2276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E7EE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df.</a:t>
            </a:r>
            <a:r>
              <a:rPr lang="en-US" sz="12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withColumn</a:t>
            </a:r>
            <a:r>
              <a:rPr lang="en-US" sz="1250" dirty="0">
                <a:solidFill>
                  <a:srgbClr val="E7EE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endParaRPr lang="en-US" sz="125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E7EE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lang="en-US" sz="12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"mass_kg"</a:t>
            </a:r>
            <a:r>
              <a:rPr lang="en-US" sz="1250" dirty="0">
                <a:solidFill>
                  <a:srgbClr val="E7EE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25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E7EE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df.mass/1000</a:t>
            </a:r>
            <a:endParaRPr lang="en-US" sz="125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E7EE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8997696" y="1965960"/>
            <a:ext cx="2596896" cy="420624"/>
          </a:xfrm>
          <a:prstGeom prst="roundRect">
            <a:avLst>
              <a:gd name="adj" fmla="val 17391"/>
            </a:avLst>
          </a:prstGeom>
          <a:solidFill>
            <a:srgbClr val="F2994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 txBox="1"/>
          <p:nvPr/>
        </p:nvSpPr>
        <p:spPr>
          <a:xfrm>
            <a:off x="8997696" y="1965960"/>
            <a:ext cx="25968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Ibis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8997696" y="2532888"/>
            <a:ext cx="2596896" cy="2679192"/>
          </a:xfrm>
          <a:prstGeom prst="roundRect">
            <a:avLst>
              <a:gd name="adj" fmla="val 2817"/>
            </a:avLst>
          </a:prstGeom>
          <a:solidFill>
            <a:srgbClr val="1B2450"/>
          </a:solidFill>
          <a:ln/>
          <a:effectLst>
            <a:outerShdw blurRad="76200" dist="25400" dir="54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 txBox="1"/>
          <p:nvPr/>
        </p:nvSpPr>
        <p:spPr>
          <a:xfrm>
            <a:off x="9253728" y="2734056"/>
            <a:ext cx="2084832" cy="2276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E7EE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t.</a:t>
            </a:r>
            <a:r>
              <a:rPr lang="en-US" sz="12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mutate</a:t>
            </a:r>
            <a:r>
              <a:rPr lang="en-US" sz="1250" dirty="0">
                <a:solidFill>
                  <a:srgbClr val="E7EE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endParaRPr lang="en-US" sz="125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E7EE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mass_kg=</a:t>
            </a:r>
            <a:endParaRPr lang="en-US" sz="125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E7EE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t.mass/1000</a:t>
            </a:r>
            <a:endParaRPr lang="en-US" sz="125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E7EE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25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5468112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i="1" dirty="0">
                <a:solidFill>
                  <a:srgbClr val="5C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Different verb per library (assign / with_columns / withColumn / mutate) — same shape of idea.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AA6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Ibis: Bringing Optionality to Python Dataframes</a:t>
            </a:r>
            <a:endParaRPr lang="en-US" sz="900" dirty="0"/>
          </a:p>
        </p:txBody>
      </p:sp>
      <p:sp>
        <p:nvSpPr>
          <p:cNvPr id="22" name="Text 20"/>
          <p:cNvSpPr txBox="1"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AA6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SIDE BY SIDE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9601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Group by and aggregate, four APIs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965960"/>
            <a:ext cx="2596896" cy="420624"/>
          </a:xfrm>
          <a:prstGeom prst="roundRect">
            <a:avLst>
              <a:gd name="adj" fmla="val 17391"/>
            </a:avLst>
          </a:prstGeom>
          <a:solidFill>
            <a:srgbClr val="21295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 txBox="1"/>
          <p:nvPr/>
        </p:nvSpPr>
        <p:spPr>
          <a:xfrm>
            <a:off x="548640" y="1965960"/>
            <a:ext cx="25968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pandas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48640" y="2532888"/>
            <a:ext cx="2596896" cy="2679192"/>
          </a:xfrm>
          <a:prstGeom prst="roundRect">
            <a:avLst>
              <a:gd name="adj" fmla="val 2817"/>
            </a:avLst>
          </a:prstGeom>
          <a:solidFill>
            <a:srgbClr val="37415E"/>
          </a:solidFill>
          <a:ln/>
          <a:effectLst>
            <a:outerShdw blurRad="76200" dist="25400" dir="54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 txBox="1"/>
          <p:nvPr/>
        </p:nvSpPr>
        <p:spPr>
          <a:xfrm>
            <a:off x="804672" y="2734056"/>
            <a:ext cx="2084832" cy="2276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E7EE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df.</a:t>
            </a:r>
            <a:r>
              <a:rPr lang="en-US" sz="12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groupby</a:t>
            </a:r>
            <a:r>
              <a:rPr lang="en-US" sz="1250" dirty="0">
                <a:solidFill>
                  <a:srgbClr val="E7EE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12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"species"</a:t>
            </a:r>
            <a:r>
              <a:rPr lang="en-US" sz="1250" dirty="0">
                <a:solidFill>
                  <a:srgbClr val="E7EE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25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E7EE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[</a:t>
            </a:r>
            <a:r>
              <a:rPr lang="en-US" sz="12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"mass"</a:t>
            </a:r>
            <a:r>
              <a:rPr lang="en-US" sz="1250" dirty="0">
                <a:solidFill>
                  <a:srgbClr val="E7EE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].</a:t>
            </a:r>
            <a:r>
              <a:rPr lang="en-US" sz="12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mean</a:t>
            </a:r>
            <a:r>
              <a:rPr lang="en-US" sz="1250" dirty="0">
                <a:solidFill>
                  <a:srgbClr val="E7EE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()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3364992" y="1965960"/>
            <a:ext cx="2596896" cy="420624"/>
          </a:xfrm>
          <a:prstGeom prst="roundRect">
            <a:avLst>
              <a:gd name="adj" fmla="val 17391"/>
            </a:avLst>
          </a:prstGeom>
          <a:solidFill>
            <a:srgbClr val="21295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 txBox="1"/>
          <p:nvPr/>
        </p:nvSpPr>
        <p:spPr>
          <a:xfrm>
            <a:off x="3364992" y="1965960"/>
            <a:ext cx="25968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Polars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3364992" y="2532888"/>
            <a:ext cx="2596896" cy="2679192"/>
          </a:xfrm>
          <a:prstGeom prst="roundRect">
            <a:avLst>
              <a:gd name="adj" fmla="val 2817"/>
            </a:avLst>
          </a:prstGeom>
          <a:solidFill>
            <a:srgbClr val="37415E"/>
          </a:solidFill>
          <a:ln/>
          <a:effectLst>
            <a:outerShdw blurRad="76200" dist="25400" dir="54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 txBox="1"/>
          <p:nvPr/>
        </p:nvSpPr>
        <p:spPr>
          <a:xfrm>
            <a:off x="3621024" y="2734056"/>
            <a:ext cx="2084832" cy="2276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E7EE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df.</a:t>
            </a:r>
            <a:r>
              <a:rPr lang="en-US" sz="12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group_by</a:t>
            </a:r>
            <a:r>
              <a:rPr lang="en-US" sz="1250" dirty="0">
                <a:solidFill>
                  <a:srgbClr val="E7EE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12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"species"</a:t>
            </a:r>
            <a:r>
              <a:rPr lang="en-US" sz="1250" dirty="0">
                <a:solidFill>
                  <a:srgbClr val="E7EE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25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E7EE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.</a:t>
            </a:r>
            <a:r>
              <a:rPr lang="en-US" sz="12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agg</a:t>
            </a:r>
            <a:r>
              <a:rPr lang="en-US" sz="1250" dirty="0">
                <a:solidFill>
                  <a:srgbClr val="E7EE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(pl.col(</a:t>
            </a:r>
            <a:r>
              <a:rPr lang="en-US" sz="12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"mass"</a:t>
            </a:r>
            <a:r>
              <a:rPr lang="en-US" sz="1250" dirty="0">
                <a:solidFill>
                  <a:srgbClr val="E7EE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25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E7EE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.</a:t>
            </a:r>
            <a:r>
              <a:rPr lang="en-US" sz="12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mean</a:t>
            </a:r>
            <a:r>
              <a:rPr lang="en-US" sz="1250" dirty="0">
                <a:solidFill>
                  <a:srgbClr val="E7EE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())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181344" y="1965960"/>
            <a:ext cx="2596896" cy="420624"/>
          </a:xfrm>
          <a:prstGeom prst="roundRect">
            <a:avLst>
              <a:gd name="adj" fmla="val 17391"/>
            </a:avLst>
          </a:prstGeom>
          <a:solidFill>
            <a:srgbClr val="21295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 txBox="1"/>
          <p:nvPr/>
        </p:nvSpPr>
        <p:spPr>
          <a:xfrm>
            <a:off x="6181344" y="1965960"/>
            <a:ext cx="25968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PySpark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6181344" y="2532888"/>
            <a:ext cx="2596896" cy="2679192"/>
          </a:xfrm>
          <a:prstGeom prst="roundRect">
            <a:avLst>
              <a:gd name="adj" fmla="val 2817"/>
            </a:avLst>
          </a:prstGeom>
          <a:solidFill>
            <a:srgbClr val="37415E"/>
          </a:solidFill>
          <a:ln/>
          <a:effectLst>
            <a:outerShdw blurRad="76200" dist="25400" dir="54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 txBox="1"/>
          <p:nvPr/>
        </p:nvSpPr>
        <p:spPr>
          <a:xfrm>
            <a:off x="6437376" y="2734056"/>
            <a:ext cx="2084832" cy="2276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E7EE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df.</a:t>
            </a:r>
            <a:r>
              <a:rPr lang="en-US" sz="12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groupBy</a:t>
            </a:r>
            <a:r>
              <a:rPr lang="en-US" sz="1250" dirty="0">
                <a:solidFill>
                  <a:srgbClr val="E7EE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12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"species"</a:t>
            </a:r>
            <a:r>
              <a:rPr lang="en-US" sz="1250" dirty="0">
                <a:solidFill>
                  <a:srgbClr val="E7EE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25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E7EE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.</a:t>
            </a:r>
            <a:r>
              <a:rPr lang="en-US" sz="12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agg</a:t>
            </a:r>
            <a:r>
              <a:rPr lang="en-US" sz="1250" dirty="0">
                <a:solidFill>
                  <a:srgbClr val="E7EE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(F.</a:t>
            </a:r>
            <a:r>
              <a:rPr lang="en-US" sz="12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mean</a:t>
            </a:r>
            <a:r>
              <a:rPr lang="en-US" sz="1250" dirty="0">
                <a:solidFill>
                  <a:srgbClr val="E7EE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12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"mass"</a:t>
            </a:r>
            <a:r>
              <a:rPr lang="en-US" sz="1250" dirty="0">
                <a:solidFill>
                  <a:srgbClr val="E7EE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))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8997696" y="1965960"/>
            <a:ext cx="2596896" cy="420624"/>
          </a:xfrm>
          <a:prstGeom prst="roundRect">
            <a:avLst>
              <a:gd name="adj" fmla="val 17391"/>
            </a:avLst>
          </a:prstGeom>
          <a:solidFill>
            <a:srgbClr val="F2994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 txBox="1"/>
          <p:nvPr/>
        </p:nvSpPr>
        <p:spPr>
          <a:xfrm>
            <a:off x="8997696" y="1965960"/>
            <a:ext cx="25968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Ibis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8997696" y="2532888"/>
            <a:ext cx="2596896" cy="2679192"/>
          </a:xfrm>
          <a:prstGeom prst="roundRect">
            <a:avLst>
              <a:gd name="adj" fmla="val 2817"/>
            </a:avLst>
          </a:prstGeom>
          <a:solidFill>
            <a:srgbClr val="1B2450"/>
          </a:solidFill>
          <a:ln/>
          <a:effectLst>
            <a:outerShdw blurRad="76200" dist="25400" dir="54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 txBox="1"/>
          <p:nvPr/>
        </p:nvSpPr>
        <p:spPr>
          <a:xfrm>
            <a:off x="9253728" y="2734056"/>
            <a:ext cx="2084832" cy="2276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E7EE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t.</a:t>
            </a:r>
            <a:r>
              <a:rPr lang="en-US" sz="12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group_by</a:t>
            </a:r>
            <a:r>
              <a:rPr lang="en-US" sz="1250" dirty="0">
                <a:solidFill>
                  <a:srgbClr val="E7EE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12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"species"</a:t>
            </a:r>
            <a:r>
              <a:rPr lang="en-US" sz="1250" dirty="0">
                <a:solidFill>
                  <a:srgbClr val="E7EE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25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E7EE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.</a:t>
            </a:r>
            <a:r>
              <a:rPr lang="en-US" sz="12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aggregate</a:t>
            </a:r>
            <a:r>
              <a:rPr lang="en-US" sz="1250" dirty="0">
                <a:solidFill>
                  <a:srgbClr val="E7EE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endParaRPr lang="en-US" sz="125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E7EE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t.mass.</a:t>
            </a:r>
            <a:r>
              <a:rPr lang="en-US" sz="12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mean</a:t>
            </a:r>
            <a:r>
              <a:rPr lang="en-US" sz="1250" dirty="0">
                <a:solidFill>
                  <a:srgbClr val="E7EE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())</a:t>
            </a:r>
            <a:endParaRPr lang="en-US" sz="125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5468112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i="1" dirty="0">
                <a:solidFill>
                  <a:srgbClr val="5C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Ibis and Polars share the group_by spelling; the summarize-by-group idea is universal.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AA6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Ibis: Bringing Optionality to Python Dataframes</a:t>
            </a:r>
            <a:endParaRPr lang="en-US" sz="900" dirty="0"/>
          </a:p>
        </p:txBody>
      </p:sp>
      <p:sp>
        <p:nvSpPr>
          <p:cNvPr id="22" name="Text 20"/>
          <p:cNvSpPr txBox="1"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AA6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SIDE BY SIDE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9601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Joining two tables, four APIs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965960"/>
            <a:ext cx="2596896" cy="420624"/>
          </a:xfrm>
          <a:prstGeom prst="roundRect">
            <a:avLst>
              <a:gd name="adj" fmla="val 17391"/>
            </a:avLst>
          </a:prstGeom>
          <a:solidFill>
            <a:srgbClr val="21295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 txBox="1"/>
          <p:nvPr/>
        </p:nvSpPr>
        <p:spPr>
          <a:xfrm>
            <a:off x="548640" y="1965960"/>
            <a:ext cx="25968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pandas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48640" y="2532888"/>
            <a:ext cx="2596896" cy="2679192"/>
          </a:xfrm>
          <a:prstGeom prst="roundRect">
            <a:avLst>
              <a:gd name="adj" fmla="val 2817"/>
            </a:avLst>
          </a:prstGeom>
          <a:solidFill>
            <a:srgbClr val="37415E"/>
          </a:solidFill>
          <a:ln/>
          <a:effectLst>
            <a:outerShdw blurRad="76200" dist="25400" dir="54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 txBox="1"/>
          <p:nvPr/>
        </p:nvSpPr>
        <p:spPr>
          <a:xfrm>
            <a:off x="804672" y="2734056"/>
            <a:ext cx="2084832" cy="2276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E7EE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df.</a:t>
            </a:r>
            <a:r>
              <a:rPr lang="en-US" sz="12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merge</a:t>
            </a:r>
            <a:r>
              <a:rPr lang="en-US" sz="1250" dirty="0">
                <a:solidFill>
                  <a:srgbClr val="E7EE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endParaRPr lang="en-US" sz="125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E7EE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info, on=</a:t>
            </a:r>
            <a:r>
              <a:rPr lang="en-US" sz="12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"species"</a:t>
            </a:r>
            <a:endParaRPr lang="en-US" sz="125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E7EE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3364992" y="1965960"/>
            <a:ext cx="2596896" cy="420624"/>
          </a:xfrm>
          <a:prstGeom prst="roundRect">
            <a:avLst>
              <a:gd name="adj" fmla="val 17391"/>
            </a:avLst>
          </a:prstGeom>
          <a:solidFill>
            <a:srgbClr val="21295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 txBox="1"/>
          <p:nvPr/>
        </p:nvSpPr>
        <p:spPr>
          <a:xfrm>
            <a:off x="3364992" y="1965960"/>
            <a:ext cx="25968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Polars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3364992" y="2532888"/>
            <a:ext cx="2596896" cy="2679192"/>
          </a:xfrm>
          <a:prstGeom prst="roundRect">
            <a:avLst>
              <a:gd name="adj" fmla="val 2817"/>
            </a:avLst>
          </a:prstGeom>
          <a:solidFill>
            <a:srgbClr val="37415E"/>
          </a:solidFill>
          <a:ln/>
          <a:effectLst>
            <a:outerShdw blurRad="76200" dist="25400" dir="54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 txBox="1"/>
          <p:nvPr/>
        </p:nvSpPr>
        <p:spPr>
          <a:xfrm>
            <a:off x="3621024" y="2734056"/>
            <a:ext cx="2084832" cy="2276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E7EE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df.</a:t>
            </a:r>
            <a:r>
              <a:rPr lang="en-US" sz="12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join</a:t>
            </a:r>
            <a:r>
              <a:rPr lang="en-US" sz="1250" dirty="0">
                <a:solidFill>
                  <a:srgbClr val="E7EE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endParaRPr lang="en-US" sz="125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E7EE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info, on=</a:t>
            </a:r>
            <a:r>
              <a:rPr lang="en-US" sz="12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"species"</a:t>
            </a:r>
            <a:endParaRPr lang="en-US" sz="125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E7EE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181344" y="1965960"/>
            <a:ext cx="2596896" cy="420624"/>
          </a:xfrm>
          <a:prstGeom prst="roundRect">
            <a:avLst>
              <a:gd name="adj" fmla="val 17391"/>
            </a:avLst>
          </a:prstGeom>
          <a:solidFill>
            <a:srgbClr val="21295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 txBox="1"/>
          <p:nvPr/>
        </p:nvSpPr>
        <p:spPr>
          <a:xfrm>
            <a:off x="6181344" y="1965960"/>
            <a:ext cx="25968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PySpark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6181344" y="2532888"/>
            <a:ext cx="2596896" cy="2679192"/>
          </a:xfrm>
          <a:prstGeom prst="roundRect">
            <a:avLst>
              <a:gd name="adj" fmla="val 2817"/>
            </a:avLst>
          </a:prstGeom>
          <a:solidFill>
            <a:srgbClr val="37415E"/>
          </a:solidFill>
          <a:ln/>
          <a:effectLst>
            <a:outerShdw blurRad="76200" dist="25400" dir="54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 txBox="1"/>
          <p:nvPr/>
        </p:nvSpPr>
        <p:spPr>
          <a:xfrm>
            <a:off x="6437376" y="2734056"/>
            <a:ext cx="2084832" cy="2276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E7EE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df.</a:t>
            </a:r>
            <a:r>
              <a:rPr lang="en-US" sz="12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join</a:t>
            </a:r>
            <a:r>
              <a:rPr lang="en-US" sz="1250" dirty="0">
                <a:solidFill>
                  <a:srgbClr val="E7EE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endParaRPr lang="en-US" sz="125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E7EE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info, on=</a:t>
            </a:r>
            <a:r>
              <a:rPr lang="en-US" sz="12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"species"</a:t>
            </a:r>
            <a:endParaRPr lang="en-US" sz="125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E7EE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8997696" y="1965960"/>
            <a:ext cx="2596896" cy="420624"/>
          </a:xfrm>
          <a:prstGeom prst="roundRect">
            <a:avLst>
              <a:gd name="adj" fmla="val 17391"/>
            </a:avLst>
          </a:prstGeom>
          <a:solidFill>
            <a:srgbClr val="F2994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 txBox="1"/>
          <p:nvPr/>
        </p:nvSpPr>
        <p:spPr>
          <a:xfrm>
            <a:off x="8997696" y="1965960"/>
            <a:ext cx="25968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Ibis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8997696" y="2532888"/>
            <a:ext cx="2596896" cy="2679192"/>
          </a:xfrm>
          <a:prstGeom prst="roundRect">
            <a:avLst>
              <a:gd name="adj" fmla="val 2817"/>
            </a:avLst>
          </a:prstGeom>
          <a:solidFill>
            <a:srgbClr val="1B2450"/>
          </a:solidFill>
          <a:ln/>
          <a:effectLst>
            <a:outerShdw blurRad="76200" dist="25400" dir="54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 txBox="1"/>
          <p:nvPr/>
        </p:nvSpPr>
        <p:spPr>
          <a:xfrm>
            <a:off x="9253728" y="2734056"/>
            <a:ext cx="2084832" cy="2276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E7EE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t.</a:t>
            </a:r>
            <a:r>
              <a:rPr lang="en-US" sz="12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join</a:t>
            </a:r>
            <a:r>
              <a:rPr lang="en-US" sz="1250" dirty="0">
                <a:solidFill>
                  <a:srgbClr val="E7EE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endParaRPr lang="en-US" sz="125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E7EE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info, </a:t>
            </a:r>
            <a:r>
              <a:rPr lang="en-US" sz="12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"species"</a:t>
            </a:r>
            <a:endParaRPr lang="en-US" sz="125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E7EE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25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5468112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i="1" dirty="0">
                <a:solidFill>
                  <a:srgbClr val="5C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the closest four-way match — join syntax has mostly converged across modern dataframe APIs.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AA6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Ibis: Bringing Optionality to Python Dataframes</a:t>
            </a:r>
            <a:endParaRPr lang="en-US" sz="900" dirty="0"/>
          </a:p>
        </p:txBody>
      </p:sp>
      <p:sp>
        <p:nvSpPr>
          <p:cNvPr id="22" name="Text 20"/>
          <p:cNvSpPr txBox="1"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AA6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OF BOTH WORLDS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072591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Mix SQL &amp; dataframe code, freely, in either direction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783080"/>
            <a:ext cx="10789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5000"/>
              </a:lnSpc>
              <a:buNone/>
            </a:pPr>
            <a:r>
              <a:rPr lang="en-US" sz="1550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Sometimes SQL is just the clearest way to say what you mean. Ibis lets you </a:t>
            </a:r>
            <a:r>
              <a:rPr lang="en-US" sz="155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drop into raw SQL</a:t>
            </a:r>
            <a:r>
              <a:rPr lang="en-US" sz="1550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and pick the dataframe API back up on the result — or go the other way with </a:t>
            </a:r>
            <a:r>
              <a:rPr lang="en-US" sz="1550" b="1" dirty="0">
                <a:solidFill>
                  <a:srgbClr val="1C729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ibis.to_sql()</a:t>
            </a:r>
            <a:r>
              <a:rPr lang="en-US" sz="1550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550" dirty="0"/>
          </a:p>
        </p:txBody>
      </p:sp>
      <p:sp>
        <p:nvSpPr>
          <p:cNvPr id="5" name="Shape 3"/>
          <p:cNvSpPr/>
          <p:nvPr/>
        </p:nvSpPr>
        <p:spPr>
          <a:xfrm>
            <a:off x="548640" y="2697480"/>
            <a:ext cx="11109960" cy="2331720"/>
          </a:xfrm>
          <a:prstGeom prst="roundRect">
            <a:avLst>
              <a:gd name="adj" fmla="val 3137"/>
            </a:avLst>
          </a:prstGeom>
          <a:solidFill>
            <a:srgbClr val="21295C"/>
          </a:solidFill>
          <a:ln/>
          <a:effectLst>
            <a:outerShdw blurRad="76200" dist="25400" dir="54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 txBox="1"/>
          <p:nvPr/>
        </p:nvSpPr>
        <p:spPr>
          <a:xfrm>
            <a:off x="804672" y="2898648"/>
            <a:ext cx="10597896" cy="1929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8FA6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Start in SQL...</a:t>
            </a:r>
            <a:endParaRPr lang="en-US" sz="15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by_island</a:t>
            </a:r>
            <a:r>
              <a:rPr lang="en-US" sz="1500" dirty="0">
                <a:solidFill>
                  <a:srgbClr val="E7EE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con.</a:t>
            </a:r>
            <a:r>
              <a:rPr lang="en-US" sz="15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sql</a:t>
            </a:r>
            <a:r>
              <a:rPr lang="en-US" sz="15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("""SELECT species, island, count(*) AS n</a:t>
            </a:r>
            <a:endParaRPr lang="en-US" sz="15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FROM penguins GROUP BY 1, 2""")</a:t>
            </a:r>
            <a:endParaRPr lang="en-US" sz="15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E7EE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5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8FA6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...finish in the dataframe API</a:t>
            </a:r>
            <a:endParaRPr lang="en-US" sz="15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by_island.</a:t>
            </a:r>
            <a:r>
              <a:rPr lang="en-US" sz="15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mutate</a:t>
            </a:r>
            <a:r>
              <a:rPr lang="en-US" sz="1500" dirty="0">
                <a:solidFill>
                  <a:srgbClr val="E7EE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(pct=by_island.n / by_island.n.</a:t>
            </a:r>
            <a:r>
              <a:rPr lang="en-US" sz="15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sum</a:t>
            </a:r>
            <a:r>
              <a:rPr lang="en-US" sz="1500" dirty="0">
                <a:solidFill>
                  <a:srgbClr val="E7EE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())</a:t>
            </a:r>
            <a:endParaRPr lang="en-US" sz="15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E7EE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.</a:t>
            </a:r>
            <a:r>
              <a:rPr lang="en-US" sz="15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order_by</a:t>
            </a:r>
            <a:r>
              <a:rPr lang="en-US" sz="1500" dirty="0">
                <a:solidFill>
                  <a:srgbClr val="E7EE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(ibis.</a:t>
            </a:r>
            <a:r>
              <a:rPr lang="en-US" sz="15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desc</a:t>
            </a:r>
            <a:r>
              <a:rPr lang="en-US" sz="15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("n"))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525780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i="1" dirty="0">
                <a:solidFill>
                  <a:srgbClr val="5C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need to pick a camp — use whichever reads more clearly for that step.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AA6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Ibis: Bringing Optionality to Python Dataframes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AA6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21295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9FB3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DEMO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9601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DuckDB on my laptop → Trino on a real cluster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94360" y="2377440"/>
            <a:ext cx="2514600" cy="3017520"/>
          </a:xfrm>
          <a:prstGeom prst="roundRect">
            <a:avLst>
              <a:gd name="adj" fmla="val 3636"/>
            </a:avLst>
          </a:prstGeom>
          <a:solidFill>
            <a:srgbClr val="1B245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1549908" y="2697480"/>
            <a:ext cx="603504" cy="603504"/>
          </a:xfrm>
          <a:prstGeom prst="ellipse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6" name="Image 0" descr="/home/claude/ibis-talk/icons/lapto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22328" y="2769900"/>
            <a:ext cx="458663" cy="458663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731520" y="3566160"/>
            <a:ext cx="2240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analysis</a:t>
            </a:r>
            <a:endParaRPr lang="en-US" sz="145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4206240"/>
            <a:ext cx="2148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25000"/>
              </a:lnSpc>
              <a:buNone/>
            </a:pPr>
            <a:r>
              <a:rPr lang="en-US" sz="1150" dirty="0">
                <a:solidFill>
                  <a:srgbClr val="9FB3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against a local DuckDB connection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3383280" y="2377440"/>
            <a:ext cx="2514600" cy="3017520"/>
          </a:xfrm>
          <a:prstGeom prst="roundRect">
            <a:avLst>
              <a:gd name="adj" fmla="val 3636"/>
            </a:avLst>
          </a:prstGeom>
          <a:solidFill>
            <a:srgbClr val="1B245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Shape 7"/>
          <p:cNvSpPr/>
          <p:nvPr/>
        </p:nvSpPr>
        <p:spPr>
          <a:xfrm>
            <a:off x="4338828" y="2697480"/>
            <a:ext cx="603504" cy="603504"/>
          </a:xfrm>
          <a:prstGeom prst="ellipse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1" name="Image 1" descr="/home/claude/ibis-talk/icons/cod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11248" y="2769900"/>
            <a:ext cx="458663" cy="458663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3520440" y="3566160"/>
            <a:ext cx="2240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it — it works</a:t>
            </a:r>
            <a:endParaRPr lang="en-US" sz="1450" dirty="0"/>
          </a:p>
        </p:txBody>
      </p:sp>
      <p:sp>
        <p:nvSpPr>
          <p:cNvPr id="13" name="Text 9"/>
          <p:cNvSpPr txBox="1"/>
          <p:nvPr/>
        </p:nvSpPr>
        <p:spPr>
          <a:xfrm>
            <a:off x="3566160" y="4206240"/>
            <a:ext cx="2148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25000"/>
              </a:lnSpc>
              <a:buNone/>
            </a:pPr>
            <a:r>
              <a:rPr lang="en-US" sz="1150" dirty="0">
                <a:solidFill>
                  <a:srgbClr val="9FB3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fast, local, zero infra</a:t>
            </a:r>
            <a:endParaRPr lang="en-US" sz="1150" dirty="0"/>
          </a:p>
        </p:txBody>
      </p:sp>
      <p:sp>
        <p:nvSpPr>
          <p:cNvPr id="14" name="Shape 10"/>
          <p:cNvSpPr/>
          <p:nvPr/>
        </p:nvSpPr>
        <p:spPr>
          <a:xfrm>
            <a:off x="6172200" y="2377440"/>
            <a:ext cx="2514600" cy="3017520"/>
          </a:xfrm>
          <a:prstGeom prst="roundRect">
            <a:avLst>
              <a:gd name="adj" fmla="val 3636"/>
            </a:avLst>
          </a:prstGeom>
          <a:solidFill>
            <a:srgbClr val="1B245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Shape 11"/>
          <p:cNvSpPr/>
          <p:nvPr/>
        </p:nvSpPr>
        <p:spPr>
          <a:xfrm>
            <a:off x="7127748" y="2697480"/>
            <a:ext cx="603504" cy="603504"/>
          </a:xfrm>
          <a:prstGeom prst="ellipse">
            <a:avLst/>
          </a:prstGeom>
          <a:solidFill>
            <a:srgbClr val="F2994A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6" name="Image 2" descr="/home/claude/ibis-talk/icons/exchan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00168" y="2769900"/>
            <a:ext cx="458663" cy="458663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6309360" y="3566160"/>
            <a:ext cx="2240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one connection</a:t>
            </a:r>
            <a:endParaRPr lang="en-US" sz="1450" dirty="0"/>
          </a:p>
        </p:txBody>
      </p:sp>
      <p:sp>
        <p:nvSpPr>
          <p:cNvPr id="18" name="Text 13"/>
          <p:cNvSpPr txBox="1"/>
          <p:nvPr/>
        </p:nvSpPr>
        <p:spPr>
          <a:xfrm>
            <a:off x="6355080" y="4206240"/>
            <a:ext cx="2148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25000"/>
              </a:lnSpc>
              <a:buNone/>
            </a:pPr>
            <a:r>
              <a:rPr lang="en-US" sz="1150" dirty="0">
                <a:solidFill>
                  <a:srgbClr val="9FB3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point Ibis at Trino instead</a:t>
            </a:r>
            <a:endParaRPr lang="en-US" sz="1150" dirty="0"/>
          </a:p>
        </p:txBody>
      </p:sp>
      <p:sp>
        <p:nvSpPr>
          <p:cNvPr id="19" name="Shape 14"/>
          <p:cNvSpPr/>
          <p:nvPr/>
        </p:nvSpPr>
        <p:spPr>
          <a:xfrm>
            <a:off x="8961120" y="2377440"/>
            <a:ext cx="2514600" cy="3017520"/>
          </a:xfrm>
          <a:prstGeom prst="roundRect">
            <a:avLst>
              <a:gd name="adj" fmla="val 3636"/>
            </a:avLst>
          </a:prstGeom>
          <a:solidFill>
            <a:srgbClr val="1B245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Shape 15"/>
          <p:cNvSpPr/>
          <p:nvPr/>
        </p:nvSpPr>
        <p:spPr>
          <a:xfrm>
            <a:off x="9916668" y="2697480"/>
            <a:ext cx="603504" cy="603504"/>
          </a:xfrm>
          <a:prstGeom prst="ellipse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1" name="Image 3" descr="/home/claude/ibis-talk/icons/server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989088" y="2769900"/>
            <a:ext cx="458663" cy="458663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9098280" y="3566160"/>
            <a:ext cx="2240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code, new engine</a:t>
            </a:r>
            <a:endParaRPr lang="en-US" sz="1450" dirty="0"/>
          </a:p>
        </p:txBody>
      </p:sp>
      <p:sp>
        <p:nvSpPr>
          <p:cNvPr id="23" name="Text 17"/>
          <p:cNvSpPr txBox="1"/>
          <p:nvPr/>
        </p:nvSpPr>
        <p:spPr>
          <a:xfrm>
            <a:off x="9144000" y="4206240"/>
            <a:ext cx="2148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25000"/>
              </a:lnSpc>
              <a:buNone/>
            </a:pPr>
            <a:r>
              <a:rPr lang="en-US" sz="1150" dirty="0">
                <a:solidFill>
                  <a:srgbClr val="9FB3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running as a distributed query</a:t>
            </a:r>
            <a:endParaRPr lang="en-US" sz="1150" dirty="0"/>
          </a:p>
        </p:txBody>
      </p:sp>
      <p:sp>
        <p:nvSpPr>
          <p:cNvPr id="24" name="Text 18"/>
          <p:cNvSpPr txBox="1"/>
          <p:nvPr/>
        </p:nvSpPr>
        <p:spPr>
          <a:xfrm>
            <a:off x="594360" y="571500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299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Follow along: ibis_optionality_demo.ipynb</a:t>
            </a:r>
            <a:endParaRPr lang="en-US" sz="1400" dirty="0"/>
          </a:p>
        </p:txBody>
      </p:sp>
      <p:sp>
        <p:nvSpPr>
          <p:cNvPr id="25" name="Text 19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FB3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Ibis: Bringing Optionality to Python Dataframes</a:t>
            </a:r>
            <a:endParaRPr lang="en-US" sz="900" dirty="0"/>
          </a:p>
        </p:txBody>
      </p:sp>
      <p:sp>
        <p:nvSpPr>
          <p:cNvPr id="26" name="Text 20"/>
          <p:cNvSpPr txBox="1"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FB3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· PART 1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9601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Local dev: connect, build, run — on DuckDB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11109960" cy="4160520"/>
          </a:xfrm>
          <a:prstGeom prst="roundRect">
            <a:avLst>
              <a:gd name="adj" fmla="val 1758"/>
            </a:avLst>
          </a:prstGeom>
          <a:solidFill>
            <a:srgbClr val="21295C"/>
          </a:solidFill>
          <a:ln/>
          <a:effectLst>
            <a:outerShdw blurRad="76200" dist="25400" dir="54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 txBox="1"/>
          <p:nvPr/>
        </p:nvSpPr>
        <p:spPr>
          <a:xfrm>
            <a:off x="804672" y="2029968"/>
            <a:ext cx="10597896" cy="3758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5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 = ibis.</a:t>
            </a:r>
            <a:r>
              <a:rPr lang="en-US" sz="15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duckdb</a:t>
            </a:r>
            <a:r>
              <a:rPr lang="en-US" sz="15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.connect()</a:t>
            </a:r>
            <a:endParaRPr lang="en-US" sz="155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550" dirty="0">
                <a:solidFill>
                  <a:srgbClr val="E7EE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penguins = con.read_parquet(</a:t>
            </a:r>
            <a:r>
              <a:rPr lang="en-US" sz="15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"penguins.parquet"</a:t>
            </a:r>
            <a:r>
              <a:rPr lang="en-US" sz="1550" dirty="0">
                <a:solidFill>
                  <a:srgbClr val="E7EE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55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550" dirty="0">
                <a:solidFill>
                  <a:srgbClr val="E7EE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55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5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</a:t>
            </a:r>
            <a:r>
              <a:rPr lang="en-US" sz="15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top_species_by_mass(t):</a:t>
            </a:r>
            <a:endParaRPr lang="en-US" sz="155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550" dirty="0">
                <a:solidFill>
                  <a:srgbClr val="E7EE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(t.filter(t.body_mass_g.notnull())</a:t>
            </a:r>
            <a:endParaRPr lang="en-US" sz="155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550" dirty="0">
                <a:solidFill>
                  <a:srgbClr val="E7EE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.group_by(</a:t>
            </a:r>
            <a:r>
              <a:rPr lang="en-US" sz="15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"species"</a:t>
            </a:r>
            <a:r>
              <a:rPr lang="en-US" sz="1550" dirty="0">
                <a:solidFill>
                  <a:srgbClr val="E7EE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55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550" dirty="0">
                <a:solidFill>
                  <a:srgbClr val="E7EE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.aggregate(avg_mass_g=t.body_mass_g.mean())</a:t>
            </a:r>
            <a:endParaRPr lang="en-US" sz="155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550" dirty="0">
                <a:solidFill>
                  <a:srgbClr val="E7EE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.order_by(ibis.desc(</a:t>
            </a:r>
            <a:r>
              <a:rPr lang="en-US" sz="15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"avg_mass_g"</a:t>
            </a:r>
            <a:r>
              <a:rPr lang="en-US" sz="1550" dirty="0">
                <a:solidFill>
                  <a:srgbClr val="E7EE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)))</a:t>
            </a:r>
            <a:endParaRPr lang="en-US" sz="155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550" dirty="0">
                <a:solidFill>
                  <a:srgbClr val="E7EE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55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5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top_species_by_mass(penguins)</a:t>
            </a:r>
            <a:endParaRPr lang="en-US" sz="15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AA6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Ibis: Bringing Optionality to Python Dataframes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AA6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· PART 2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9601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Same function, new engine — nothing else changes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11109960" cy="3246120"/>
          </a:xfrm>
          <a:prstGeom prst="roundRect">
            <a:avLst>
              <a:gd name="adj" fmla="val 2254"/>
            </a:avLst>
          </a:prstGeom>
          <a:solidFill>
            <a:srgbClr val="21295C"/>
          </a:solidFill>
          <a:ln/>
          <a:effectLst>
            <a:outerShdw blurRad="76200" dist="25400" dir="54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 txBox="1"/>
          <p:nvPr/>
        </p:nvSpPr>
        <p:spPr>
          <a:xfrm>
            <a:off x="804672" y="2029968"/>
            <a:ext cx="10597896" cy="2843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550" b="1" dirty="0">
                <a:solidFill>
                  <a:srgbClr val="F299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—— the one thing that changes ——</a:t>
            </a:r>
            <a:endParaRPr lang="en-US" sz="155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5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 = ibis.</a:t>
            </a:r>
            <a:r>
              <a:rPr lang="en-US" sz="15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trino</a:t>
            </a:r>
            <a:r>
              <a:rPr lang="en-US" sz="15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.connect(host=..., port=443, user=..., </a:t>
            </a:r>
            <a:endParaRPr lang="en-US" sz="155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5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database=</a:t>
            </a:r>
            <a:r>
              <a:rPr lang="en-US" sz="15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"hive"</a:t>
            </a:r>
            <a:r>
              <a:rPr lang="en-US" sz="15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schema=</a:t>
            </a:r>
            <a:r>
              <a:rPr lang="en-US" sz="15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"default"</a:t>
            </a:r>
            <a:r>
              <a:rPr lang="en-US" sz="15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55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550" dirty="0">
                <a:solidFill>
                  <a:srgbClr val="E7EE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55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550" dirty="0">
                <a:solidFill>
                  <a:srgbClr val="E7EE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penguins = con.table(</a:t>
            </a:r>
            <a:r>
              <a:rPr lang="en-US" sz="15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"penguins"</a:t>
            </a:r>
            <a:r>
              <a:rPr lang="en-US" sz="1550" dirty="0">
                <a:solidFill>
                  <a:srgbClr val="E7EE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55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550" dirty="0">
                <a:solidFill>
                  <a:srgbClr val="E7EE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55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550" dirty="0">
                <a:solidFill>
                  <a:srgbClr val="8FA6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identical to the DuckDB slide — copy-pasted, unchanged</a:t>
            </a:r>
            <a:endParaRPr lang="en-US" sz="155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5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top_species_by_mass(penguins)</a:t>
            </a:r>
            <a:r>
              <a:rPr lang="en-US" sz="1550" dirty="0">
                <a:solidFill>
                  <a:srgbClr val="E7EE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lang="en-US" sz="1550" dirty="0">
                <a:solidFill>
                  <a:srgbClr val="F299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← now a distributed Trino query</a:t>
            </a:r>
            <a:endParaRPr lang="en-US" sz="1550" dirty="0"/>
          </a:p>
        </p:txBody>
      </p:sp>
      <p:sp>
        <p:nvSpPr>
          <p:cNvPr id="6" name="Shape 4"/>
          <p:cNvSpPr/>
          <p:nvPr/>
        </p:nvSpPr>
        <p:spPr>
          <a:xfrm>
            <a:off x="548640" y="5349240"/>
            <a:ext cx="11109960" cy="868680"/>
          </a:xfrm>
          <a:prstGeom prst="roundRect">
            <a:avLst>
              <a:gd name="adj" fmla="val 8421"/>
            </a:avLst>
          </a:prstGeom>
          <a:solidFill>
            <a:srgbClr val="E4F0F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 txBox="1"/>
          <p:nvPr/>
        </p:nvSpPr>
        <p:spPr>
          <a:xfrm>
            <a:off x="822960" y="5349240"/>
            <a:ext cx="10607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65A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top_species_by_mass</a:t>
            </a:r>
            <a:r>
              <a:rPr lang="en-US" sz="1500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never finds out which engine it's running on. That's the optionality.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AA6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Ibis: Bringing Optionality to Python Dataframes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AA6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yebrow"/>
          <p:cNvSpPr txBox="1"/>
          <p:nvPr/>
        </p:nvSpPr>
        <p:spPr>
          <a:xfrm>
            <a:off x="548640" y="4572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FINE PRINT</a:t>
            </a:r>
            <a:endParaRPr lang="en-US" sz="13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777240"/>
            <a:ext cx="10500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Same code, not always the same answer</a:t>
            </a:r>
            <a:endParaRPr lang="en-US" sz="3200" dirty="0"/>
          </a:p>
        </p:txBody>
      </p:sp>
      <p:sp>
        <p:nvSpPr>
          <p:cNvPr id="4" name="Card 4"/>
          <p:cNvSpPr/>
          <p:nvPr/>
        </p:nvSpPr>
        <p:spPr>
          <a:xfrm>
            <a:off x="548640" y="1965960"/>
            <a:ext cx="3520440" cy="3200400"/>
          </a:xfrm>
          <a:prstGeom prst="roundRect">
            <a:avLst>
              <a:gd name="adj" fmla="val 2597"/>
            </a:avLst>
          </a:prstGeom>
          <a:solidFill>
            <a:srgbClr val="EEF3F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Badge 1"/>
          <p:cNvSpPr/>
          <p:nvPr/>
        </p:nvSpPr>
        <p:spPr>
          <a:xfrm>
            <a:off x="841248" y="2258568"/>
            <a:ext cx="566928" cy="566928"/>
          </a:xfrm>
          <a:prstGeom prst="ellipse">
            <a:avLst/>
          </a:prstGeom>
          <a:solidFill>
            <a:srgbClr val="065A8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BadgeNum 1"/>
          <p:cNvSpPr txBox="1"/>
          <p:nvPr/>
        </p:nvSpPr>
        <p:spPr>
          <a:xfrm>
            <a:off x="841248" y="225856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7" name="CardHead0"/>
          <p:cNvSpPr txBox="1"/>
          <p:nvPr/>
        </p:nvSpPr>
        <p:spPr>
          <a:xfrm>
            <a:off x="822960" y="3072384"/>
            <a:ext cx="2971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6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Unsupported operations</a:t>
            </a:r>
            <a:endParaRPr lang="en-US" sz="1600" dirty="0"/>
          </a:p>
        </p:txBody>
      </p:sp>
      <p:sp>
        <p:nvSpPr>
          <p:cNvPr id="8" name="CardBody0"/>
          <p:cNvSpPr txBox="1"/>
          <p:nvPr/>
        </p:nvSpPr>
        <p:spPr>
          <a:xfrm>
            <a:off x="822960" y="3862704"/>
            <a:ext cx="29718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8000"/>
              </a:lnSpc>
              <a:buNone/>
            </a:pPr>
            <a:r>
              <a:rPr lang="en-US" sz="1200" dirty="0">
                <a:solidFill>
                  <a:srgbClr val="5C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expression with no equivalent on the target backend fails with </a:t>
            </a:r>
            <a:r>
              <a:rPr lang="en-US" sz="1200" dirty="0">
                <a:solidFill>
                  <a:srgbClr val="5C6B8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OperationNotDefinedError</a:t>
            </a:r>
            <a:r>
              <a:rPr lang="en-US" sz="1200" dirty="0">
                <a:solidFill>
                  <a:srgbClr val="5C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at compile time — before any data moves. Quick to catch, but still a code change.</a:t>
            </a:r>
            <a:endParaRPr lang="en-US" sz="1200" dirty="0"/>
          </a:p>
        </p:txBody>
      </p:sp>
      <p:sp>
        <p:nvSpPr>
          <p:cNvPr id="9" name="Card 9"/>
          <p:cNvSpPr/>
          <p:nvPr/>
        </p:nvSpPr>
        <p:spPr>
          <a:xfrm>
            <a:off x="4343400" y="1965960"/>
            <a:ext cx="3520440" cy="3200400"/>
          </a:xfrm>
          <a:prstGeom prst="roundRect">
            <a:avLst>
              <a:gd name="adj" fmla="val 2597"/>
            </a:avLst>
          </a:prstGeom>
          <a:solidFill>
            <a:srgbClr val="EEF3F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Badge 2"/>
          <p:cNvSpPr/>
          <p:nvPr/>
        </p:nvSpPr>
        <p:spPr>
          <a:xfrm>
            <a:off x="4636008" y="2258568"/>
            <a:ext cx="566928" cy="566928"/>
          </a:xfrm>
          <a:prstGeom prst="ellipse">
            <a:avLst/>
          </a:prstGeom>
          <a:solidFill>
            <a:srgbClr val="065A8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BadgeNum 2"/>
          <p:cNvSpPr txBox="1"/>
          <p:nvPr/>
        </p:nvSpPr>
        <p:spPr>
          <a:xfrm>
            <a:off x="4636008" y="225856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12" name="CardHead1"/>
          <p:cNvSpPr txBox="1"/>
          <p:nvPr/>
        </p:nvSpPr>
        <p:spPr>
          <a:xfrm>
            <a:off x="4617720" y="3072384"/>
            <a:ext cx="2971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6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Semantics that drift</a:t>
            </a:r>
            <a:endParaRPr lang="en-US" sz="1600" dirty="0"/>
          </a:p>
        </p:txBody>
      </p:sp>
      <p:sp>
        <p:nvSpPr>
          <p:cNvPr id="13" name="CardBody1"/>
          <p:cNvSpPr txBox="1"/>
          <p:nvPr/>
        </p:nvSpPr>
        <p:spPr>
          <a:xfrm>
            <a:off x="4617720" y="3862704"/>
            <a:ext cx="29718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8000"/>
              </a:lnSpc>
              <a:buNone/>
            </a:pPr>
            <a:r>
              <a:rPr lang="en-US" sz="1200" dirty="0">
                <a:solidFill>
                  <a:srgbClr val="5C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NULL sort position, integer division, timestamp precision and time zones, regex flavor, string case handling. The query runs; the answer can shift between engines.</a:t>
            </a:r>
            <a:endParaRPr lang="en-US" sz="1200" dirty="0"/>
          </a:p>
        </p:txBody>
      </p:sp>
      <p:sp>
        <p:nvSpPr>
          <p:cNvPr id="14" name="Card 14"/>
          <p:cNvSpPr/>
          <p:nvPr/>
        </p:nvSpPr>
        <p:spPr>
          <a:xfrm>
            <a:off x="8138160" y="1965960"/>
            <a:ext cx="3520440" cy="3200400"/>
          </a:xfrm>
          <a:prstGeom prst="roundRect">
            <a:avLst>
              <a:gd name="adj" fmla="val 2597"/>
            </a:avLst>
          </a:prstGeom>
          <a:solidFill>
            <a:srgbClr val="EEF3F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Badge 3"/>
          <p:cNvSpPr/>
          <p:nvPr/>
        </p:nvSpPr>
        <p:spPr>
          <a:xfrm>
            <a:off x="8430768" y="2258568"/>
            <a:ext cx="566928" cy="566928"/>
          </a:xfrm>
          <a:prstGeom prst="ellipse">
            <a:avLst/>
          </a:prstGeom>
          <a:solidFill>
            <a:srgbClr val="065A8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BadgeNum 3"/>
          <p:cNvSpPr txBox="1"/>
          <p:nvPr/>
        </p:nvSpPr>
        <p:spPr>
          <a:xfrm>
            <a:off x="8430768" y="225856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17" name="CardHead2"/>
          <p:cNvSpPr txBox="1"/>
          <p:nvPr/>
        </p:nvSpPr>
        <p:spPr>
          <a:xfrm>
            <a:off x="8412480" y="3072384"/>
            <a:ext cx="2971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6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Getting data in and out</a:t>
            </a:r>
            <a:endParaRPr lang="en-US" sz="1600" dirty="0"/>
          </a:p>
        </p:txBody>
      </p:sp>
      <p:sp>
        <p:nvSpPr>
          <p:cNvPr id="18" name="CardBody2"/>
          <p:cNvSpPr txBox="1"/>
          <p:nvPr/>
        </p:nvSpPr>
        <p:spPr>
          <a:xfrm>
            <a:off x="8412480" y="3862704"/>
            <a:ext cx="29718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8000"/>
              </a:lnSpc>
              <a:buNone/>
            </a:pPr>
            <a:r>
              <a:rPr lang="en-US" sz="1200" dirty="0">
                <a:solidFill>
                  <a:srgbClr val="5C6B8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read_parquet</a:t>
            </a:r>
            <a:r>
              <a:rPr lang="en-US" sz="1200" dirty="0">
                <a:solidFill>
                  <a:srgbClr val="5C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r>
              <a:rPr lang="en-US" sz="1200" dirty="0">
                <a:solidFill>
                  <a:srgbClr val="5C6B8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create_table</a:t>
            </a:r>
            <a:r>
              <a:rPr lang="en-US" sz="1200" dirty="0">
                <a:solidFill>
                  <a:srgbClr val="5C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and file I/O are supported unevenly. Composing expressions is the portable part; loading and writing is less so.</a:t>
            </a:r>
            <a:endParaRPr lang="en-US" sz="1200" dirty="0"/>
          </a:p>
        </p:txBody>
      </p:sp>
      <p:sp>
        <p:nvSpPr>
          <p:cNvPr id="19" name="Footnote"/>
          <p:cNvSpPr txBox="1"/>
          <p:nvPr/>
        </p:nvSpPr>
        <p:spPr>
          <a:xfrm>
            <a:off x="548640" y="5560000"/>
            <a:ext cx="11094720" cy="56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i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Portability is real — treat a backend swap like a database migration, and run your tests against the new engine first.</a:t>
            </a:r>
            <a:endParaRPr lang="en-US" sz="1550" dirty="0"/>
          </a:p>
        </p:txBody>
      </p:sp>
      <p:sp>
        <p:nvSpPr>
          <p:cNvPr id="20" name="FooterL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AA6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Ibis: Bringing Optionality to Python Dataframes</a:t>
            </a:r>
            <a:endParaRPr lang="en-US" sz="900" dirty="0"/>
          </a:p>
        </p:txBody>
      </p:sp>
      <p:sp>
        <p:nvSpPr>
          <p:cNvPr id="21" name="FooterR"/>
          <p:cNvSpPr txBox="1"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AA6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yebrow"/>
          <p:cNvSpPr txBox="1"/>
          <p:nvPr/>
        </p:nvSpPr>
        <p:spPr>
          <a:xfrm>
            <a:off x="548640" y="4572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FINE PRINT · UDFs</a:t>
            </a:r>
            <a:endParaRPr lang="en-US" sz="13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777240"/>
            <a:ext cx="10500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UDFs don’t travel between backends for free</a:t>
            </a:r>
            <a:endParaRPr lang="en-US" sz="3200" dirty="0"/>
          </a:p>
        </p:txBody>
      </p:sp>
      <p:sp>
        <p:nvSpPr>
          <p:cNvPr id="4" name="Card 4"/>
          <p:cNvSpPr/>
          <p:nvPr/>
        </p:nvSpPr>
        <p:spPr>
          <a:xfrm>
            <a:off x="548640" y="1965960"/>
            <a:ext cx="3520440" cy="3200400"/>
          </a:xfrm>
          <a:prstGeom prst="roundRect">
            <a:avLst>
              <a:gd name="adj" fmla="val 2597"/>
            </a:avLst>
          </a:prstGeom>
          <a:solidFill>
            <a:srgbClr val="EEF3F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Badge 1"/>
          <p:cNvSpPr/>
          <p:nvPr/>
        </p:nvSpPr>
        <p:spPr>
          <a:xfrm>
            <a:off x="841248" y="2258568"/>
            <a:ext cx="566928" cy="566928"/>
          </a:xfrm>
          <a:prstGeom prst="ellipse">
            <a:avLst/>
          </a:prstGeom>
          <a:solidFill>
            <a:srgbClr val="065A8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BadgeNum 1"/>
          <p:cNvSpPr txBox="1"/>
          <p:nvPr/>
        </p:nvSpPr>
        <p:spPr>
          <a:xfrm>
            <a:off x="841248" y="225856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7" name="CardHead0"/>
          <p:cNvSpPr txBox="1"/>
          <p:nvPr/>
        </p:nvSpPr>
        <p:spPr>
          <a:xfrm>
            <a:off x="822960" y="3072384"/>
            <a:ext cx="2971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600" b="1" dirty="0">
                <a:solidFill>
                  <a:srgbClr val="065A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scalar.python</a:t>
            </a:r>
            <a:endParaRPr lang="en-US" sz="1600" dirty="0"/>
          </a:p>
        </p:txBody>
      </p:sp>
      <p:sp>
        <p:nvSpPr>
          <p:cNvPr id="8" name="CardBody0"/>
          <p:cNvSpPr txBox="1"/>
          <p:nvPr/>
        </p:nvSpPr>
        <p:spPr>
          <a:xfrm>
            <a:off x="822960" y="3862704"/>
            <a:ext cx="29718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8000"/>
              </a:lnSpc>
              <a:buNone/>
            </a:pPr>
            <a:r>
              <a:rPr lang="en-US" sz="1200" dirty="0">
                <a:solidFill>
                  <a:srgbClr val="5C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Row-at-a-time Python. Fine on DuckDB, Polars, pandas. Elsewhere support and speed vary widely — several SQL engines, Trino included, have no Python-UDF path at all.</a:t>
            </a:r>
            <a:endParaRPr lang="en-US" sz="1200" dirty="0"/>
          </a:p>
        </p:txBody>
      </p:sp>
      <p:sp>
        <p:nvSpPr>
          <p:cNvPr id="9" name="Card 9"/>
          <p:cNvSpPr/>
          <p:nvPr/>
        </p:nvSpPr>
        <p:spPr>
          <a:xfrm>
            <a:off x="4343400" y="1965960"/>
            <a:ext cx="3520440" cy="3200400"/>
          </a:xfrm>
          <a:prstGeom prst="roundRect">
            <a:avLst>
              <a:gd name="adj" fmla="val 2597"/>
            </a:avLst>
          </a:prstGeom>
          <a:solidFill>
            <a:srgbClr val="EEF3F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Badge 2"/>
          <p:cNvSpPr/>
          <p:nvPr/>
        </p:nvSpPr>
        <p:spPr>
          <a:xfrm>
            <a:off x="4636008" y="2258568"/>
            <a:ext cx="566928" cy="566928"/>
          </a:xfrm>
          <a:prstGeom prst="ellipse">
            <a:avLst/>
          </a:prstGeom>
          <a:solidFill>
            <a:srgbClr val="065A8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BadgeNum 2"/>
          <p:cNvSpPr txBox="1"/>
          <p:nvPr/>
        </p:nvSpPr>
        <p:spPr>
          <a:xfrm>
            <a:off x="4636008" y="225856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12" name="CardHead1"/>
          <p:cNvSpPr txBox="1"/>
          <p:nvPr/>
        </p:nvSpPr>
        <p:spPr>
          <a:xfrm>
            <a:off x="4617720" y="3072384"/>
            <a:ext cx="2971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600" b="1" dirty="0">
                <a:solidFill>
                  <a:srgbClr val="065A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scalar.builtin</a:t>
            </a:r>
            <a:endParaRPr lang="en-US" sz="1600" dirty="0"/>
          </a:p>
        </p:txBody>
      </p:sp>
      <p:sp>
        <p:nvSpPr>
          <p:cNvPr id="13" name="CardBody1"/>
          <p:cNvSpPr txBox="1"/>
          <p:nvPr/>
        </p:nvSpPr>
        <p:spPr>
          <a:xfrm>
            <a:off x="4617720" y="3862704"/>
            <a:ext cx="29718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8000"/>
              </a:lnSpc>
              <a:buNone/>
            </a:pPr>
            <a:r>
              <a:rPr lang="en-US" sz="1200" dirty="0">
                <a:solidFill>
                  <a:srgbClr val="5C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Delegates to a function the backend already ships — fast and native, but that exact function has to exist, by name, on every backend you target.</a:t>
            </a:r>
            <a:endParaRPr lang="en-US" sz="1200" dirty="0"/>
          </a:p>
        </p:txBody>
      </p:sp>
      <p:sp>
        <p:nvSpPr>
          <p:cNvPr id="14" name="Card 14"/>
          <p:cNvSpPr/>
          <p:nvPr/>
        </p:nvSpPr>
        <p:spPr>
          <a:xfrm>
            <a:off x="8138160" y="1965960"/>
            <a:ext cx="3520440" cy="3200400"/>
          </a:xfrm>
          <a:prstGeom prst="roundRect">
            <a:avLst>
              <a:gd name="adj" fmla="val 2597"/>
            </a:avLst>
          </a:prstGeom>
          <a:solidFill>
            <a:srgbClr val="EEF3F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Badge 3"/>
          <p:cNvSpPr/>
          <p:nvPr/>
        </p:nvSpPr>
        <p:spPr>
          <a:xfrm>
            <a:off x="8430768" y="2258568"/>
            <a:ext cx="566928" cy="566928"/>
          </a:xfrm>
          <a:prstGeom prst="ellipse">
            <a:avLst/>
          </a:prstGeom>
          <a:solidFill>
            <a:srgbClr val="065A8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BadgeNum 3"/>
          <p:cNvSpPr txBox="1"/>
          <p:nvPr/>
        </p:nvSpPr>
        <p:spPr>
          <a:xfrm>
            <a:off x="8430768" y="225856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17" name="CardHead2"/>
          <p:cNvSpPr txBox="1"/>
          <p:nvPr/>
        </p:nvSpPr>
        <p:spPr>
          <a:xfrm>
            <a:off x="8412480" y="3072384"/>
            <a:ext cx="2971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6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Server-side UDFs</a:t>
            </a:r>
            <a:endParaRPr lang="en-US" sz="1600" dirty="0"/>
          </a:p>
        </p:txBody>
      </p:sp>
      <p:sp>
        <p:nvSpPr>
          <p:cNvPr id="18" name="CardBody2"/>
          <p:cNvSpPr txBox="1"/>
          <p:nvPr/>
        </p:nvSpPr>
        <p:spPr>
          <a:xfrm>
            <a:off x="8412480" y="3862704"/>
            <a:ext cx="29718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8000"/>
              </a:lnSpc>
              <a:buNone/>
            </a:pPr>
            <a:r>
              <a:rPr lang="en-US" sz="1200" dirty="0">
                <a:solidFill>
                  <a:srgbClr val="5C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Snowflake and BigQuery register the function in the warehouse: extra permissions and a new deploy step. The UDF story is per-backend, not write-once.</a:t>
            </a:r>
            <a:endParaRPr lang="en-US" sz="1200" dirty="0"/>
          </a:p>
        </p:txBody>
      </p:sp>
      <p:sp>
        <p:nvSpPr>
          <p:cNvPr id="19" name="Footnote"/>
          <p:cNvSpPr txBox="1"/>
          <p:nvPr/>
        </p:nvSpPr>
        <p:spPr>
          <a:xfrm>
            <a:off x="548640" y="5560000"/>
            <a:ext cx="11094720" cy="56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i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UDF logic out of the portable core — prefer .sql(), a builtin, or primitives Ibis already knows how to compile.</a:t>
            </a:r>
            <a:endParaRPr lang="en-US" sz="1550" dirty="0"/>
          </a:p>
        </p:txBody>
      </p:sp>
      <p:sp>
        <p:nvSpPr>
          <p:cNvPr id="20" name="FooterL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AA6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Ibis: Bringing Optionality to Python Dataframes</a:t>
            </a:r>
            <a:endParaRPr lang="en-US" sz="900" dirty="0"/>
          </a:p>
        </p:txBody>
      </p:sp>
      <p:sp>
        <p:nvSpPr>
          <p:cNvPr id="21" name="FooterR"/>
          <p:cNvSpPr txBox="1"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AA6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072591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Optionality is leverage — for your project &amp; your career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965960"/>
            <a:ext cx="3520440" cy="3566160"/>
          </a:xfrm>
          <a:prstGeom prst="roundRect">
            <a:avLst>
              <a:gd name="adj" fmla="val 2597"/>
            </a:avLst>
          </a:prstGeom>
          <a:solidFill>
            <a:srgbClr val="EEF3F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841248" y="2258568"/>
            <a:ext cx="566928" cy="566928"/>
          </a:xfrm>
          <a:prstGeom prst="ellipse">
            <a:avLst/>
          </a:prstGeom>
          <a:solidFill>
            <a:srgbClr val="065A82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6" name="Image 0" descr="/home/claude/ibis-talk/icons/bol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9279" y="2326599"/>
            <a:ext cx="430865" cy="430865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841248" y="3063240"/>
            <a:ext cx="293522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65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Prototype fast, ship without rewrites</a:t>
            </a:r>
            <a:endParaRPr lang="en-US" sz="1650" dirty="0"/>
          </a:p>
        </p:txBody>
      </p:sp>
      <p:sp>
        <p:nvSpPr>
          <p:cNvPr id="8" name="Text 5"/>
          <p:cNvSpPr txBox="1"/>
          <p:nvPr/>
        </p:nvSpPr>
        <p:spPr>
          <a:xfrm>
            <a:off x="841248" y="3931920"/>
            <a:ext cx="2935224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5C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and test locally on DuckDB, then point at production infrastructure with a config change, not a rewrite.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4343400" y="1965960"/>
            <a:ext cx="3520440" cy="3566160"/>
          </a:xfrm>
          <a:prstGeom prst="roundRect">
            <a:avLst>
              <a:gd name="adj" fmla="val 2597"/>
            </a:avLst>
          </a:prstGeom>
          <a:solidFill>
            <a:srgbClr val="EEF3F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Shape 7"/>
          <p:cNvSpPr/>
          <p:nvPr/>
        </p:nvSpPr>
        <p:spPr>
          <a:xfrm>
            <a:off x="4636008" y="2258568"/>
            <a:ext cx="566928" cy="566928"/>
          </a:xfrm>
          <a:prstGeom prst="ellipse">
            <a:avLst/>
          </a:prstGeom>
          <a:solidFill>
            <a:srgbClr val="065A82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1" name="Image 1" descr="/home/claude/ibis-talk/icons/rou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04039" y="2326599"/>
            <a:ext cx="430865" cy="430865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4636008" y="3063240"/>
            <a:ext cx="293522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65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Never married to one platform</a:t>
            </a:r>
            <a:endParaRPr lang="en-US" sz="1650" dirty="0"/>
          </a:p>
        </p:txBody>
      </p:sp>
      <p:sp>
        <p:nvSpPr>
          <p:cNvPr id="13" name="Text 9"/>
          <p:cNvSpPr txBox="1"/>
          <p:nvPr/>
        </p:nvSpPr>
        <p:spPr>
          <a:xfrm>
            <a:off x="4636008" y="3931920"/>
            <a:ext cx="2935224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5C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team's stack changes. Ibis code mostly doesn't have to.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8138160" y="1965960"/>
            <a:ext cx="3520440" cy="3566160"/>
          </a:xfrm>
          <a:prstGeom prst="roundRect">
            <a:avLst>
              <a:gd name="adj" fmla="val 2597"/>
            </a:avLst>
          </a:prstGeom>
          <a:solidFill>
            <a:srgbClr val="EEF3F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Shape 11"/>
          <p:cNvSpPr/>
          <p:nvPr/>
        </p:nvSpPr>
        <p:spPr>
          <a:xfrm>
            <a:off x="8430768" y="2258568"/>
            <a:ext cx="566928" cy="566928"/>
          </a:xfrm>
          <a:prstGeom prst="ellipse">
            <a:avLst/>
          </a:prstGeom>
          <a:solidFill>
            <a:srgbClr val="065A82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6" name="Image 2" descr="/home/claude/ibis-talk/icons/chec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98799" y="2326599"/>
            <a:ext cx="430865" cy="430865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8430768" y="3063240"/>
            <a:ext cx="293522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65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skill, every employer's stack</a:t>
            </a:r>
            <a:endParaRPr lang="en-US" sz="1650" dirty="0"/>
          </a:p>
        </p:txBody>
      </p:sp>
      <p:sp>
        <p:nvSpPr>
          <p:cNvPr id="18" name="Text 13"/>
          <p:cNvSpPr txBox="1"/>
          <p:nvPr/>
        </p:nvSpPr>
        <p:spPr>
          <a:xfrm>
            <a:off x="8430768" y="3931920"/>
            <a:ext cx="2935224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5C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Whatever warehouse or engine your next job runs, there's a good chance Ibis already speaks to it.</a:t>
            </a:r>
            <a:endParaRPr lang="en-US" sz="1300" dirty="0"/>
          </a:p>
        </p:txBody>
      </p:sp>
      <p:sp>
        <p:nvSpPr>
          <p:cNvPr id="19" name="Text 14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AA6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Ibis: Bringing Optionality to Python Dataframes</a:t>
            </a:r>
            <a:endParaRPr lang="en-US" sz="900" dirty="0"/>
          </a:p>
        </p:txBody>
      </p:sp>
      <p:sp>
        <p:nvSpPr>
          <p:cNvPr id="20" name="Text 15"/>
          <p:cNvSpPr txBox="1"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AA6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FOLLOW ALONG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9601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Run this exact demo yourself, tonight or next week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920240"/>
            <a:ext cx="512064" cy="512064"/>
          </a:xfrm>
          <a:prstGeom prst="ellipse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5" name="Image 0" descr="/home/claude/ibis-talk/icons/lapto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0088" y="1981688"/>
            <a:ext cx="389169" cy="389169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234440" y="1892808"/>
            <a:ext cx="3749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Clone the repo &amp; install</a:t>
            </a:r>
            <a:endParaRPr lang="en-US" sz="1550" dirty="0"/>
          </a:p>
        </p:txBody>
      </p:sp>
      <p:sp>
        <p:nvSpPr>
          <p:cNvPr id="7" name="Text 4"/>
          <p:cNvSpPr txBox="1"/>
          <p:nvPr/>
        </p:nvSpPr>
        <p:spPr>
          <a:xfrm>
            <a:off x="5120640" y="1892808"/>
            <a:ext cx="6492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C6B8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pip install -r requirements.txt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548640" y="2926080"/>
            <a:ext cx="512064" cy="512064"/>
          </a:xfrm>
          <a:prstGeom prst="ellipse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9" name="Image 1" descr="/home/claude/ibis-talk/icons/databas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0088" y="2987528"/>
            <a:ext cx="389169" cy="389169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1234440" y="2898648"/>
            <a:ext cx="3749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Cache the demo dataset</a:t>
            </a:r>
            <a:endParaRPr lang="en-US" sz="1550" dirty="0"/>
          </a:p>
        </p:txBody>
      </p:sp>
      <p:sp>
        <p:nvSpPr>
          <p:cNvPr id="11" name="Text 7"/>
          <p:cNvSpPr txBox="1"/>
          <p:nvPr/>
        </p:nvSpPr>
        <p:spPr>
          <a:xfrm>
            <a:off x="5120640" y="2898648"/>
            <a:ext cx="6492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C6B8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 prep_offline_data.py  (works fully offline after this)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548640" y="3931920"/>
            <a:ext cx="512064" cy="512064"/>
          </a:xfrm>
          <a:prstGeom prst="ellipse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3" name="Image 2" descr="/home/claude/ibis-talk/icons/serve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0088" y="3993368"/>
            <a:ext cx="389169" cy="389169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1234440" y="3904488"/>
            <a:ext cx="3749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Get a Trino endpoint</a:t>
            </a:r>
            <a:endParaRPr lang="en-US" sz="1550" dirty="0"/>
          </a:p>
        </p:txBody>
      </p:sp>
      <p:sp>
        <p:nvSpPr>
          <p:cNvPr id="15" name="Text 10"/>
          <p:cNvSpPr txBox="1"/>
          <p:nvPr/>
        </p:nvSpPr>
        <p:spPr>
          <a:xfrm>
            <a:off x="5120640" y="3904488"/>
            <a:ext cx="6492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C6B8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Local via Docker Compose, or a free Starburst Galaxy cluster</a:t>
            </a:r>
            <a:endParaRPr lang="en-US" sz="1300" dirty="0"/>
          </a:p>
        </p:txBody>
      </p:sp>
      <p:sp>
        <p:nvSpPr>
          <p:cNvPr id="16" name="Shape 11"/>
          <p:cNvSpPr/>
          <p:nvPr/>
        </p:nvSpPr>
        <p:spPr>
          <a:xfrm>
            <a:off x="548640" y="4937760"/>
            <a:ext cx="512064" cy="512064"/>
          </a:xfrm>
          <a:prstGeom prst="ellipse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7" name="Image 3" descr="/home/claude/ibis-talk/icons/cod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10088" y="4999208"/>
            <a:ext cx="389169" cy="389169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1234440" y="4910328"/>
            <a:ext cx="3749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Open the notebook</a:t>
            </a:r>
            <a:endParaRPr lang="en-US" sz="1550" dirty="0"/>
          </a:p>
        </p:txBody>
      </p:sp>
      <p:sp>
        <p:nvSpPr>
          <p:cNvPr id="19" name="Text 13"/>
          <p:cNvSpPr txBox="1"/>
          <p:nvPr/>
        </p:nvSpPr>
        <p:spPr>
          <a:xfrm>
            <a:off x="5120640" y="4910328"/>
            <a:ext cx="6492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C6B8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jupyter lab ibis_optionality_demo.ipynb</a:t>
            </a:r>
            <a:endParaRPr lang="en-US" sz="1300" dirty="0"/>
          </a:p>
        </p:txBody>
      </p:sp>
      <p:sp>
        <p:nvSpPr>
          <p:cNvPr id="20" name="Text 14"/>
          <p:cNvSpPr txBox="1"/>
          <p:nvPr/>
        </p:nvSpPr>
        <p:spPr>
          <a:xfrm>
            <a:off x="548640" y="598932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5C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setup instructions, including both Trino options, are in SETUP.md.</a:t>
            </a:r>
            <a:endParaRPr lang="en-US" sz="1300" dirty="0"/>
          </a:p>
        </p:txBody>
      </p:sp>
      <p:sp>
        <p:nvSpPr>
          <p:cNvPr id="21" name="Text 15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AA6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Ibis: Bringing Optionality to Python Dataframes</a:t>
            </a:r>
            <a:endParaRPr lang="en-US" sz="900" dirty="0"/>
          </a:p>
        </p:txBody>
      </p:sp>
      <p:sp>
        <p:nvSpPr>
          <p:cNvPr id="22" name="Text 16"/>
          <p:cNvSpPr txBox="1"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AA6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21295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784080" y="-1371600"/>
            <a:ext cx="3840480" cy="3840480"/>
          </a:xfrm>
          <a:prstGeom prst="ellipse">
            <a:avLst/>
          </a:prstGeom>
          <a:solidFill>
            <a:srgbClr val="065A82">
              <a:alpha val="6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 txBox="1"/>
          <p:nvPr/>
        </p:nvSpPr>
        <p:spPr>
          <a:xfrm>
            <a:off x="548640" y="73152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Thank you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50876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i="1" dirty="0">
                <a:solidFill>
                  <a:srgbClr val="9FB3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 welcome — find me after the session too.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2606040"/>
            <a:ext cx="512064" cy="512064"/>
          </a:xfrm>
          <a:prstGeom prst="ellipse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6" name="Image 0" descr="/home/claude/ibis-talk/icons/boo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0088" y="2667488"/>
            <a:ext cx="389169" cy="389169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280160" y="2587752"/>
            <a:ext cx="4114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Docs &amp; tutorials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1280160" y="289864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9FB3C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ibis-project.org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548640" y="3566160"/>
            <a:ext cx="512064" cy="512064"/>
          </a:xfrm>
          <a:prstGeom prst="ellipse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0" name="Image 1" descr="/home/claude/ibis-talk/icons/githu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0088" y="3627608"/>
            <a:ext cx="389169" cy="389169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280160" y="3547872"/>
            <a:ext cx="4114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</a:t>
            </a:r>
            <a:endParaRPr lang="en-US" sz="1500" dirty="0"/>
          </a:p>
        </p:txBody>
      </p:sp>
      <p:sp>
        <p:nvSpPr>
          <p:cNvPr id="12" name="Text 8"/>
          <p:cNvSpPr txBox="1"/>
          <p:nvPr/>
        </p:nvSpPr>
        <p:spPr>
          <a:xfrm>
            <a:off x="1280160" y="385876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9FB3C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github.com/ibis-project/ibis</a:t>
            </a:r>
            <a:endParaRPr lang="en-US" sz="1250" dirty="0"/>
          </a:p>
        </p:txBody>
      </p:sp>
      <p:sp>
        <p:nvSpPr>
          <p:cNvPr id="13" name="Shape 9"/>
          <p:cNvSpPr/>
          <p:nvPr/>
        </p:nvSpPr>
        <p:spPr>
          <a:xfrm>
            <a:off x="548640" y="4526280"/>
            <a:ext cx="512064" cy="512064"/>
          </a:xfrm>
          <a:prstGeom prst="ellipse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4" name="Image 2" descr="/home/claude/ibis-talk/icons/laptop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0088" y="4587728"/>
            <a:ext cx="389169" cy="389169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1280160" y="4507992"/>
            <a:ext cx="4114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talk's demo + slides</a:t>
            </a:r>
            <a:endParaRPr lang="en-US" sz="1500" dirty="0"/>
          </a:p>
        </p:txBody>
      </p:sp>
      <p:sp>
        <p:nvSpPr>
          <p:cNvPr id="16" name="Text 11"/>
          <p:cNvSpPr txBox="1"/>
          <p:nvPr/>
        </p:nvSpPr>
        <p:spPr>
          <a:xfrm>
            <a:off x="1280160" y="481888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 err="1">
                <a:solidFill>
                  <a:srgbClr val="9FB3C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github.com</a:t>
            </a:r>
            <a:r>
              <a:rPr lang="en-US" sz="1250" dirty="0">
                <a:solidFill>
                  <a:srgbClr val="9FB3C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</a:t>
            </a:r>
            <a:r>
              <a:rPr lang="en-US" sz="1250" dirty="0" err="1">
                <a:solidFill>
                  <a:srgbClr val="9FB3C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lestermartin</a:t>
            </a:r>
            <a:r>
              <a:rPr lang="en-US" sz="1250" dirty="0">
                <a:solidFill>
                  <a:srgbClr val="9FB3C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/ibis-optionality</a:t>
            </a:r>
            <a:endParaRPr lang="en-US" sz="1250" dirty="0"/>
          </a:p>
        </p:txBody>
      </p:sp>
      <p:sp>
        <p:nvSpPr>
          <p:cNvPr id="17" name="Text 12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FB3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Ibis: Bringing Optionality to Python Dataframes</a:t>
            </a:r>
            <a:endParaRPr lang="en-US" sz="900" dirty="0"/>
          </a:p>
        </p:txBody>
      </p:sp>
      <p:sp>
        <p:nvSpPr>
          <p:cNvPr id="18" name="Text 13"/>
          <p:cNvSpPr txBox="1"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FB3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50</TotalTime>
  <Words>2123</Words>
  <Application>Microsoft Macintosh PowerPoint</Application>
  <PresentationFormat>Widescreen</PresentationFormat>
  <Paragraphs>375</Paragraphs>
  <Slides>22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7" baseType="lpstr">
      <vt:lpstr>Arial</vt:lpstr>
      <vt:lpstr>Calibri</vt:lpstr>
      <vt:lpstr>Cambria</vt:lpstr>
      <vt:lpstr>Courier New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Lester Martin</cp:lastModifiedBy>
  <cp:revision>8</cp:revision>
  <dcterms:created xsi:type="dcterms:W3CDTF">2026-09-08T17:18:48Z</dcterms:created>
  <dcterms:modified xsi:type="dcterms:W3CDTF">2026-09-08T21:59:18Z</dcterms:modified>
</cp:coreProperties>
</file>