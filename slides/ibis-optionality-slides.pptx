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9" r:id="rId3"/>
    <p:sldId id="257" r:id="rId4"/>
    <p:sldId id="258" r:id="rId5"/>
    <p:sldId id="27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6" r:id="rId20"/>
    <p:sldId id="277" r:id="rId21"/>
    <p:sldId id="273" r:id="rId22"/>
    <p:sldId id="274" r:id="rId23"/>
    <p:sldId id="275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22"/>
    <p:restoredTop sz="86957"/>
  </p:normalViewPr>
  <p:slideViewPr>
    <p:cSldViewPr snapToGrid="0" snapToObjects="1">
      <p:cViewPr varScale="1">
        <p:scale>
          <a:sx n="107" d="100"/>
          <a:sy n="107" d="100"/>
        </p:scale>
        <p:origin x="2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515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12328-110E-FDAB-372F-E11351B04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9D352-C44E-BF7E-5681-40B59182D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7B316-CC0B-4B54-6F75-726B7F41A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A8ED-4D97-3E41-8157-E8D27457B8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21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stermartin.blo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linktr.ee/lestermarti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estermartin/ibis-optionality/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IBIS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0632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Optionality to Python Dataframes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3886200"/>
            <a:ext cx="502920" cy="41148"/>
          </a:xfrm>
          <a:prstGeom prst="rect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40416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Python dataframe API. More than 20 backends. Your choice, any time.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806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Lester Martin –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lester.martin@gmail.com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the D · 2026</a:t>
            </a:r>
            <a:endParaRPr lang="en-US" sz="1400" dirty="0"/>
          </a:p>
        </p:txBody>
      </p:sp>
      <p:pic>
        <p:nvPicPr>
          <p:cNvPr id="10" name="Picture 9" descr="Ibis (@IbisData) / X">
            <a:extLst>
              <a:ext uri="{FF2B5EF4-FFF2-40B4-BE49-F238E27FC236}">
                <a16:creationId xmlns:a16="http://schemas.microsoft.com/office/drawing/2014/main" id="{C3463E76-76E2-2A0F-B236-89BD19CE9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220" y="2328164"/>
            <a:ext cx="254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cs typeface="Calibri" pitchFamily="34" charset="-120"/>
              </a:rPr>
              <a:t>ABOUT LESTER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</a:rPr>
              <a:t>Connection before content – </a:t>
            </a:r>
            <a:r>
              <a:rPr lang="en-US" sz="3000" b="1" dirty="0" err="1">
                <a:solidFill>
                  <a:srgbClr val="21295C"/>
                </a:solidFill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LesterMartin.blog</a:t>
            </a:r>
            <a:endParaRPr lang="en-US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78830" y="1965960"/>
            <a:ext cx="5349240" cy="4114800"/>
          </a:xfrm>
          <a:prstGeom prst="roundRect">
            <a:avLst>
              <a:gd name="adj" fmla="val 2273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6938950" y="229514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hlinkClick r:id="rId4"/>
              </a:rPr>
              <a:t>https://linktr.ee/lestermartin</a:t>
            </a:r>
            <a:r>
              <a:rPr lang="en-US" sz="1900" dirty="0"/>
              <a:t> </a:t>
            </a:r>
          </a:p>
        </p:txBody>
      </p:sp>
      <p:sp>
        <p:nvSpPr>
          <p:cNvPr id="13" name="Text 9"/>
          <p:cNvSpPr txBox="1"/>
          <p:nvPr/>
        </p:nvSpPr>
        <p:spPr>
          <a:xfrm>
            <a:off x="6344590" y="29575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technical educator &amp; developer advocate</a:t>
            </a:r>
          </a:p>
          <a:p>
            <a:pPr marL="800100" lvl="1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cs typeface="Calibri" pitchFamily="34" charset="-120"/>
              </a:rPr>
              <a:t>Learn new things, build content, deliver it, repeat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cs typeface="Calibri" pitchFamily="34" charset="-120"/>
              </a:rPr>
              <a:t>35+ years of technology experience</a:t>
            </a:r>
          </a:p>
          <a:p>
            <a:pPr marL="800100" lvl="1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cs typeface="Calibri" pitchFamily="34" charset="-120"/>
              </a:rPr>
              <a:t>Started my journey on a TRS-80 Model III</a:t>
            </a:r>
          </a:p>
          <a:p>
            <a:pPr marL="800100" lvl="1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cs typeface="Calibri" pitchFamily="34" charset="-120"/>
              </a:rPr>
              <a:t>Half of career in transactional systems and second half in analytical processing as a data engineer</a:t>
            </a:r>
          </a:p>
          <a:p>
            <a:pPr marL="800100" lvl="1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cs typeface="Calibri" pitchFamily="34" charset="-120"/>
              </a:rPr>
              <a:t>Specialized in big data analytics OSS including Hive, Trino, Spark, </a:t>
            </a:r>
            <a:r>
              <a:rPr lang="en-US" sz="1400" dirty="0" err="1">
                <a:solidFill>
                  <a:srgbClr val="21295C"/>
                </a:solidFill>
                <a:latin typeface="Calibri" pitchFamily="34" charset="0"/>
                <a:cs typeface="Calibri" pitchFamily="34" charset="-120"/>
              </a:rPr>
              <a:t>NiFi</a:t>
            </a:r>
            <a:r>
              <a:rPr lang="en-US" sz="1400" dirty="0">
                <a:solidFill>
                  <a:srgbClr val="21295C"/>
                </a:solidFill>
                <a:latin typeface="Calibri" pitchFamily="34" charset="0"/>
                <a:cs typeface="Calibri" pitchFamily="34" charset="-120"/>
              </a:rPr>
              <a:t>, Kafka, Flink, HBase &amp; MongoDB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6" name="Picture 15" descr="Linktree Logo in Transparent Background 70730261 PNG">
            <a:extLst>
              <a:ext uri="{FF2B5EF4-FFF2-40B4-BE49-F238E27FC236}">
                <a16:creationId xmlns:a16="http://schemas.microsoft.com/office/drawing/2014/main" id="{2A4E3F35-4B98-2B38-D862-31885D345E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8830" y="2009066"/>
            <a:ext cx="1075075" cy="10750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0B2B64A-3932-7301-39D9-9512494ED4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620" y="1920240"/>
            <a:ext cx="4212433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101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dataframe?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is a table: rows are records, columns are named and typed. It's the shape underneath spreadsheets, CSVs, SQL query results — and most of the Python data stack.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bis-talk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3490448"/>
            <a:ext cx="389169" cy="3891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37398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named, typed field — e.g. body_mass_g: float64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48056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ibis-tal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88" y="4542008"/>
            <a:ext cx="389169" cy="3891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4453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479145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— e.g. one penguin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965960"/>
          <a:ext cx="5532120" cy="18288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species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island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body_mass_g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Adelie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Torgersen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3750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Adelie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Biscoe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3800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Gentoo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Biscoe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6126480" y="39776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dataframe library represents this same shape.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17" name="Picture 16" descr="Cartoon penguin - Openclipart">
            <a:extLst>
              <a:ext uri="{FF2B5EF4-FFF2-40B4-BE49-F238E27FC236}">
                <a16:creationId xmlns:a16="http://schemas.microsoft.com/office/drawing/2014/main" id="{65CE8E3E-222C-5137-FC1B-3B7D11E862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5994" y="4488302"/>
            <a:ext cx="1932187" cy="19321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101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dataframes took 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2585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bis-tal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2326599"/>
            <a:ext cx="430865" cy="4308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306324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Tabular data is everywhere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931920"/>
            <a:ext cx="2935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Exports, logs, spreadsheets, CSVs, query results — most real-world data already looks like a table.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36008" y="22585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bis-talk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039" y="2326599"/>
            <a:ext cx="430865" cy="4308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36008" y="306324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Expressive, chainable operations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4636008" y="3931920"/>
            <a:ext cx="2935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group, join, sort read like your train of thought — no manual loops or index bookkeeping.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30768" y="22585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ibis-talk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8799" y="2326599"/>
            <a:ext cx="430865" cy="4308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30768" y="306324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shape, many tools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430768" y="3931920"/>
            <a:ext cx="2935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mental model works in pandas, R, SQL, and Spark. Learn the shape once.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FA2EB5-9F05-2553-924C-460421A4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C3B39B-8771-A363-6323-153885175619}"/>
              </a:ext>
            </a:extLst>
          </p:cNvPr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101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3FC454A-D7AC-4FC6-5BE7-31E1EA497931}"/>
              </a:ext>
            </a:extLst>
          </p:cNvPr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dataframes shine — and where they don't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38823A3-29A4-E570-B78E-7D227ADC239E}"/>
              </a:ext>
            </a:extLst>
          </p:cNvPr>
          <p:cNvSpPr/>
          <p:nvPr/>
        </p:nvSpPr>
        <p:spPr>
          <a:xfrm>
            <a:off x="548640" y="196596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D33A56F-01AE-57CA-6570-0397BD885509}"/>
              </a:ext>
            </a:extLst>
          </p:cNvPr>
          <p:cNvSpPr/>
          <p:nvPr/>
        </p:nvSpPr>
        <p:spPr>
          <a:xfrm>
            <a:off x="841248" y="22585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bis-talk/icons/check.png">
            <a:extLst>
              <a:ext uri="{FF2B5EF4-FFF2-40B4-BE49-F238E27FC236}">
                <a16:creationId xmlns:a16="http://schemas.microsoft.com/office/drawing/2014/main" id="{2F6DE592-F95C-B0B1-3380-C472A598B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2326599"/>
            <a:ext cx="430865" cy="430865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26C09F99-1CCF-4456-F372-2F5B587FC437}"/>
              </a:ext>
            </a:extLst>
          </p:cNvPr>
          <p:cNvSpPr txBox="1"/>
          <p:nvPr/>
        </p:nvSpPr>
        <p:spPr>
          <a:xfrm>
            <a:off x="1508760" y="229514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fit</a:t>
            </a:r>
            <a:endParaRPr lang="en-US" sz="19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5BE177B-5E2E-42B3-4E1F-F8A5E2063A57}"/>
              </a:ext>
            </a:extLst>
          </p:cNvPr>
          <p:cNvSpPr txBox="1"/>
          <p:nvPr/>
        </p:nvSpPr>
        <p:spPr>
          <a:xfrm>
            <a:off x="914400" y="301752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ad hoc queries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reshaping tabular data (ETL)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for ML models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 on structured data</a:t>
            </a:r>
            <a:endParaRPr lang="en-US" sz="14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4AC1AB7-A547-3A6C-B3B5-542EDFBB7429}"/>
              </a:ext>
            </a:extLst>
          </p:cNvPr>
          <p:cNvSpPr/>
          <p:nvPr/>
        </p:nvSpPr>
        <p:spPr>
          <a:xfrm>
            <a:off x="6263640" y="196596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C944597-F38A-6E80-9023-AE8F8AF4E79C}"/>
              </a:ext>
            </a:extLst>
          </p:cNvPr>
          <p:cNvSpPr/>
          <p:nvPr/>
        </p:nvSpPr>
        <p:spPr>
          <a:xfrm>
            <a:off x="6556248" y="2258568"/>
            <a:ext cx="566928" cy="566928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bis-talk/icons/exchange.png">
            <a:extLst>
              <a:ext uri="{FF2B5EF4-FFF2-40B4-BE49-F238E27FC236}">
                <a16:creationId xmlns:a16="http://schemas.microsoft.com/office/drawing/2014/main" id="{885B928E-9A63-86B6-C1E0-16778E974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279" y="2326599"/>
            <a:ext cx="430865" cy="430865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386305DB-269B-26F6-1DF8-2ACD5B38F340}"/>
              </a:ext>
            </a:extLst>
          </p:cNvPr>
          <p:cNvSpPr txBox="1"/>
          <p:nvPr/>
        </p:nvSpPr>
        <p:spPr>
          <a:xfrm>
            <a:off x="7223760" y="229514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for something else</a:t>
            </a:r>
            <a:endParaRPr lang="en-US" sz="19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9FE98D2-AED3-1CC9-A976-5986F4561119}"/>
              </a:ext>
            </a:extLst>
          </p:cNvPr>
          <p:cNvSpPr txBox="1"/>
          <p:nvPr/>
        </p:nvSpPr>
        <p:spPr>
          <a:xfrm>
            <a:off x="6629400" y="301752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nested documents — flatten first, or use a document store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text, images, audio — NLP/CV tooling, tensors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connected graph traversal — a graph database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single-row lookups — an OLTP database</a:t>
            </a:r>
            <a:endParaRPr lang="en-US" sz="14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1485F44-7424-6476-21AB-4B0BA7549731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6D79B66-FABA-BB55-3ABB-11D537D47C58}"/>
              </a:ext>
            </a:extLst>
          </p:cNvPr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71157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</a:t>
            </a:r>
            <a:r>
              <a:rPr lang="en-US" sz="32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</a:t>
            </a: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libraries pick the engine for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36192" y="22860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bis-tal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223" y="2354031"/>
            <a:ext cx="430865" cy="4308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1089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365760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machine only.</a:t>
            </a:r>
            <a:endParaRPr lang="en-US" sz="12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Outgrow your laptop's memory? Rewrite.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46704" y="196596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34256" y="22860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bis-talk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287" y="2354031"/>
            <a:ext cx="430865" cy="4308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83864" y="31089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Polars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47872" y="365760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Blazing fast locally.</a:t>
            </a:r>
            <a:endParaRPr lang="en-US" sz="12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to hand off to a cluster.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44768" y="196596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132320" y="22860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ibis-talk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351" y="2354031"/>
            <a:ext cx="430865" cy="4308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81928" y="31089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345936" y="365760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a cluster.</a:t>
            </a:r>
            <a:endParaRPr lang="en-US" sz="12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— and its own API — for small jobs.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942832" y="196596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930384" y="22860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ibis-talk/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8415" y="2354031"/>
            <a:ext cx="430865" cy="43086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79992" y="31089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Specific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0" y="365760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have SQL.</a:t>
            </a: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have a</a:t>
            </a:r>
            <a:r>
              <a:rPr lang="en-US" sz="1250" dirty="0"/>
              <a:t> </a:t>
            </a:r>
            <a:r>
              <a:rPr lang="en-US" sz="12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</a:t>
            </a:r>
            <a:r>
              <a:rPr lang="en-US" sz="1250" dirty="0" err="1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r>
              <a:rPr lang="en-US" sz="12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5321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you pick, switching later means rewriting your code from scratch or at least a hefty porting effort.</a:t>
            </a:r>
            <a:endParaRPr lang="en-US" sz="15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3657600" cy="36576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you didn't have to choose?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 is one Python dataframe API that runs on </a:t>
            </a:r>
            <a:r>
              <a:rPr lang="en-US" sz="17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 20 backend engines</a:t>
            </a:r>
            <a:r>
              <a:rPr lang="en-US" sz="17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DuckDB, Polars, Trino, Snowflake, BigQuery, PySpark, Postgres, and more.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API once. Point it at whichever engine the job calls for — today, and again next year.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0" y="1828800"/>
            <a:ext cx="4297680" cy="3566160"/>
          </a:xfrm>
          <a:prstGeom prst="roundRect">
            <a:avLst>
              <a:gd name="adj" fmla="val 3077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0" y="23317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3520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backends, one API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41148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· Polars · Trino · Spark</a:t>
            </a:r>
            <a:endParaRPr lang="en-US" sz="12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· BigQuery · Postgres …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code compiles to wherever your data lives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04188" y="2624328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bis-tal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608" y="2696748"/>
            <a:ext cx="458663" cy="45866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429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</a:t>
            </a:r>
            <a:endParaRPr lang="en-US" sz="14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2971800" y="315468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355848" y="233172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19956" y="2624328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bis-talk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376" y="2696748"/>
            <a:ext cx="458663" cy="45866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47288" y="3429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 builds a</a:t>
            </a:r>
            <a:endParaRPr lang="en-US" sz="14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expression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5687568" y="315468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6071616" y="233172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935724" y="2624328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ibis-talk/icons/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144" y="2696748"/>
            <a:ext cx="458663" cy="45866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63056" y="3429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to the</a:t>
            </a:r>
            <a:endParaRPr lang="en-US" sz="14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backend's language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403336" y="315468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8787384" y="233172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651492" y="2624328"/>
            <a:ext cx="603504" cy="603504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ibis-talk/icons/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3912" y="2696748"/>
            <a:ext cx="458663" cy="45866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878824" y="3429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where</a:t>
            </a:r>
            <a:endParaRPr lang="en-US" sz="14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lives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5074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touches your data until you call 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4434840" y="5074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.execute()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172200" y="5074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this is lazy execution</a:t>
            </a:r>
            <a:endParaRPr lang="en-US" sz="1500" i="1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handful of verbs cover almost everything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839001"/>
              </p:ext>
            </p:extLst>
          </p:nvPr>
        </p:nvGraphicFramePr>
        <p:xfrm>
          <a:off x="548640" y="1920240"/>
          <a:ext cx="11064240" cy="4352544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Feels 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select(...)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 </a:t>
                      </a: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1" dirty="0">
                          <a:solidFill>
                            <a:srgbClr val="5C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SELECT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filter(...)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matching rows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1" dirty="0">
                          <a:solidFill>
                            <a:srgbClr val="5C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WHERE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mutate(...)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or modify a column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1" dirty="0">
                          <a:solidFill>
                            <a:srgbClr val="5C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column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group_by(...).aggregate(...)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Summarize groups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1" dirty="0">
                          <a:solidFill>
                            <a:srgbClr val="5C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GROUP BY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order_by(...)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rows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1" dirty="0">
                          <a:solidFill>
                            <a:srgbClr val="5C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ORDER BY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join(...)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tables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1" dirty="0">
                          <a:solidFill>
                            <a:srgbClr val="5C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JOIN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COMPARES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Ibis vs. the dataframe libraries you already know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3950208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PySpark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9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API, many engines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20+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locally, no server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to a cluster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natively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Mixes SQL + dataframe code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engines, keep your code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“Partial” / “limited” = supported in some form, but not the library's core design center.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rows, four APIs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96896" cy="420624"/>
          </a:xfrm>
          <a:prstGeom prst="roundRect">
            <a:avLst>
              <a:gd name="adj" fmla="val 1739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2596896" cy="2679192"/>
          </a:xfrm>
          <a:prstGeom prst="roundRect">
            <a:avLst>
              <a:gd name="adj" fmla="val 2817"/>
            </a:avLst>
          </a:prstGeom>
          <a:solidFill>
            <a:srgbClr val="37415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" y="2734056"/>
            <a:ext cx="208483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df.mass &gt; </a:t>
            </a: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4000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4992" y="1965960"/>
            <a:ext cx="2596896" cy="420624"/>
          </a:xfrm>
          <a:prstGeom prst="roundRect">
            <a:avLst>
              <a:gd name="adj" fmla="val 1739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364992" y="196596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64992" y="2532888"/>
            <a:ext cx="2596896" cy="2679192"/>
          </a:xfrm>
          <a:prstGeom prst="roundRect">
            <a:avLst>
              <a:gd name="adj" fmla="val 2817"/>
            </a:avLst>
          </a:prstGeom>
          <a:solidFill>
            <a:srgbClr val="37415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621024" y="2734056"/>
            <a:ext cx="208483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pl.col(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"mass"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&gt;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4000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1965960"/>
            <a:ext cx="2596896" cy="420624"/>
          </a:xfrm>
          <a:prstGeom prst="roundRect">
            <a:avLst>
              <a:gd name="adj" fmla="val 1739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81344" y="196596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81344" y="2532888"/>
            <a:ext cx="2596896" cy="2679192"/>
          </a:xfrm>
          <a:prstGeom prst="roundRect">
            <a:avLst>
              <a:gd name="adj" fmla="val 2817"/>
            </a:avLst>
          </a:prstGeom>
          <a:solidFill>
            <a:srgbClr val="37415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37376" y="2734056"/>
            <a:ext cx="208483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df.mass &gt; </a:t>
            </a: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4000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7696" y="1965960"/>
            <a:ext cx="2596896" cy="420624"/>
          </a:xfrm>
          <a:prstGeom prst="roundRect">
            <a:avLst>
              <a:gd name="adj" fmla="val 17391"/>
            </a:avLst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997696" y="196596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Ibis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97696" y="2532888"/>
            <a:ext cx="2596896" cy="2679192"/>
          </a:xfrm>
          <a:prstGeom prst="roundRect">
            <a:avLst>
              <a:gd name="adj" fmla="val 2817"/>
            </a:avLst>
          </a:prstGeom>
          <a:solidFill>
            <a:srgbClr val="1B2450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253728" y="2734056"/>
            <a:ext cx="208483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200" dirty="0" err="1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 err="1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df.mass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4000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681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everywhere: keep the rows matching a condition. Ibis reads closest to pandas and PySpark.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 computed column, four APIs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96896" cy="420624"/>
          </a:xfrm>
          <a:prstGeom prst="roundRect">
            <a:avLst>
              <a:gd name="adj" fmla="val 1739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2596896" cy="2679192"/>
          </a:xfrm>
          <a:prstGeom prst="roundRect">
            <a:avLst>
              <a:gd name="adj" fmla="val 2817"/>
            </a:avLst>
          </a:prstGeom>
          <a:solidFill>
            <a:srgbClr val="37415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" y="2734056"/>
            <a:ext cx="208483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mass_kg=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df.mass/1000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4992" y="1965960"/>
            <a:ext cx="2596896" cy="420624"/>
          </a:xfrm>
          <a:prstGeom prst="roundRect">
            <a:avLst>
              <a:gd name="adj" fmla="val 1739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364992" y="196596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64992" y="2532888"/>
            <a:ext cx="2596896" cy="2679192"/>
          </a:xfrm>
          <a:prstGeom prst="roundRect">
            <a:avLst>
              <a:gd name="adj" fmla="val 2817"/>
            </a:avLst>
          </a:prstGeom>
          <a:solidFill>
            <a:srgbClr val="37415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621024" y="2734056"/>
            <a:ext cx="208483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with_columns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(pl.col(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"mass"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/1000).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"mass_kg"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1965960"/>
            <a:ext cx="2596896" cy="420624"/>
          </a:xfrm>
          <a:prstGeom prst="roundRect">
            <a:avLst>
              <a:gd name="adj" fmla="val 1739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81344" y="196596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81344" y="2532888"/>
            <a:ext cx="2596896" cy="2679192"/>
          </a:xfrm>
          <a:prstGeom prst="roundRect">
            <a:avLst>
              <a:gd name="adj" fmla="val 2817"/>
            </a:avLst>
          </a:prstGeom>
          <a:solidFill>
            <a:srgbClr val="37415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37376" y="2734056"/>
            <a:ext cx="208483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withColumn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"mass_kg"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df.mass/1000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7696" y="1965960"/>
            <a:ext cx="2596896" cy="420624"/>
          </a:xfrm>
          <a:prstGeom prst="roundRect">
            <a:avLst>
              <a:gd name="adj" fmla="val 17391"/>
            </a:avLst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997696" y="196596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Ibis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97696" y="2532888"/>
            <a:ext cx="2596896" cy="2679192"/>
          </a:xfrm>
          <a:prstGeom prst="roundRect">
            <a:avLst>
              <a:gd name="adj" fmla="val 2817"/>
            </a:avLst>
          </a:prstGeom>
          <a:solidFill>
            <a:srgbClr val="1B2450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253728" y="2734056"/>
            <a:ext cx="208483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200" dirty="0" err="1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mutate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mass_kg=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 err="1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df.mass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/1000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681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verb per library (assign / with_columns / withColumn / mutate) — same shape of idea.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 and aggregate, four APIs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96896" cy="420624"/>
          </a:xfrm>
          <a:prstGeom prst="roundRect">
            <a:avLst>
              <a:gd name="adj" fmla="val 1739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2596896" cy="2679192"/>
          </a:xfrm>
          <a:prstGeom prst="roundRect">
            <a:avLst>
              <a:gd name="adj" fmla="val 2817"/>
            </a:avLst>
          </a:prstGeom>
          <a:solidFill>
            <a:srgbClr val="37415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" y="2734056"/>
            <a:ext cx="208483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"species"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"mass"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4992" y="1965960"/>
            <a:ext cx="2596896" cy="420624"/>
          </a:xfrm>
          <a:prstGeom prst="roundRect">
            <a:avLst>
              <a:gd name="adj" fmla="val 1739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364992" y="196596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64992" y="2532888"/>
            <a:ext cx="2596896" cy="2679192"/>
          </a:xfrm>
          <a:prstGeom prst="roundRect">
            <a:avLst>
              <a:gd name="adj" fmla="val 2817"/>
            </a:avLst>
          </a:prstGeom>
          <a:solidFill>
            <a:srgbClr val="37415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621024" y="2734056"/>
            <a:ext cx="208483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group_by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"species"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(pl.col(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"mass"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1965960"/>
            <a:ext cx="2596896" cy="420624"/>
          </a:xfrm>
          <a:prstGeom prst="roundRect">
            <a:avLst>
              <a:gd name="adj" fmla="val 1739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81344" y="196596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81344" y="2532888"/>
            <a:ext cx="2596896" cy="2679192"/>
          </a:xfrm>
          <a:prstGeom prst="roundRect">
            <a:avLst>
              <a:gd name="adj" fmla="val 2817"/>
            </a:avLst>
          </a:prstGeom>
          <a:solidFill>
            <a:srgbClr val="37415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37376" y="2734056"/>
            <a:ext cx="208483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"species"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"mass"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7696" y="1965960"/>
            <a:ext cx="2596896" cy="420624"/>
          </a:xfrm>
          <a:prstGeom prst="roundRect">
            <a:avLst>
              <a:gd name="adj" fmla="val 17391"/>
            </a:avLst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997696" y="196596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Ibis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97696" y="2532888"/>
            <a:ext cx="2596896" cy="2679192"/>
          </a:xfrm>
          <a:prstGeom prst="roundRect">
            <a:avLst>
              <a:gd name="adj" fmla="val 2817"/>
            </a:avLst>
          </a:prstGeom>
          <a:solidFill>
            <a:srgbClr val="1B2450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253728" y="2734056"/>
            <a:ext cx="208483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200" dirty="0" err="1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group_by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"species"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 err="1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df.mass.</a:t>
            </a:r>
            <a:r>
              <a:rPr lang="en-US" sz="1200" dirty="0" err="1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681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 and Polars share the group_by spelling; the summarize-by-group idea is universal.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Joining two tables, four APIs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96896" cy="420624"/>
          </a:xfrm>
          <a:prstGeom prst="roundRect">
            <a:avLst>
              <a:gd name="adj" fmla="val 1739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2596896" cy="2679192"/>
          </a:xfrm>
          <a:prstGeom prst="roundRect">
            <a:avLst>
              <a:gd name="adj" fmla="val 2817"/>
            </a:avLst>
          </a:prstGeom>
          <a:solidFill>
            <a:srgbClr val="37415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" y="2734056"/>
            <a:ext cx="208483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info, on=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"species"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4992" y="1965960"/>
            <a:ext cx="2596896" cy="420624"/>
          </a:xfrm>
          <a:prstGeom prst="roundRect">
            <a:avLst>
              <a:gd name="adj" fmla="val 1739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364992" y="196596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64992" y="2532888"/>
            <a:ext cx="2596896" cy="2679192"/>
          </a:xfrm>
          <a:prstGeom prst="roundRect">
            <a:avLst>
              <a:gd name="adj" fmla="val 2817"/>
            </a:avLst>
          </a:prstGeom>
          <a:solidFill>
            <a:srgbClr val="37415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621024" y="2734056"/>
            <a:ext cx="208483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info, on=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"species"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1965960"/>
            <a:ext cx="2596896" cy="420624"/>
          </a:xfrm>
          <a:prstGeom prst="roundRect">
            <a:avLst>
              <a:gd name="adj" fmla="val 1739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81344" y="196596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81344" y="2532888"/>
            <a:ext cx="2596896" cy="2679192"/>
          </a:xfrm>
          <a:prstGeom prst="roundRect">
            <a:avLst>
              <a:gd name="adj" fmla="val 2817"/>
            </a:avLst>
          </a:prstGeom>
          <a:solidFill>
            <a:srgbClr val="37415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37376" y="2734056"/>
            <a:ext cx="208483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info, on=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"species"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7696" y="1965960"/>
            <a:ext cx="2596896" cy="420624"/>
          </a:xfrm>
          <a:prstGeom prst="roundRect">
            <a:avLst>
              <a:gd name="adj" fmla="val 17391"/>
            </a:avLst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997696" y="196596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Ibis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97696" y="2532888"/>
            <a:ext cx="2596896" cy="2679192"/>
          </a:xfrm>
          <a:prstGeom prst="roundRect">
            <a:avLst>
              <a:gd name="adj" fmla="val 2817"/>
            </a:avLst>
          </a:prstGeom>
          <a:solidFill>
            <a:srgbClr val="1B2450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253728" y="2734056"/>
            <a:ext cx="208483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r>
              <a:rPr lang="en-US" sz="1200" dirty="0" err="1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info, </a:t>
            </a: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"species"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681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closest four-way match — join syntax has mostly converged across modern dataframe APIs.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WORLDS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 SQL &amp; dataframe code, freely, in either direction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SQL is just the clearest way to say what you mean. Ibis lets you </a:t>
            </a: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into raw SQL</a:t>
            </a:r>
            <a:r>
              <a:rPr lang="en-US" sz="15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pick the dataframe API back up on the result — or go the other way with </a:t>
            </a:r>
            <a:r>
              <a:rPr lang="en-US" sz="15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ibis.to_sql()</a:t>
            </a:r>
            <a:r>
              <a:rPr lang="en-US" sz="15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1109960" cy="2331720"/>
          </a:xfrm>
          <a:prstGeom prst="roundRect">
            <a:avLst>
              <a:gd name="adj" fmla="val 3137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2898648"/>
            <a:ext cx="1059789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in SQL...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by_island</a:t>
            </a:r>
            <a:r>
              <a:rPr lang="en-US" sz="15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con.</a:t>
            </a:r>
            <a:r>
              <a:rPr lang="en-US" sz="15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("""SELECT species, island, count(*) AS n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FROM penguins GROUP BY 1, 2""")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...finish in the dataframe API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by_island.</a:t>
            </a:r>
            <a:r>
              <a:rPr lang="en-US" sz="15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mutate</a:t>
            </a:r>
            <a:r>
              <a:rPr lang="en-US" sz="15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(pct=by_island.n / by_island.n.</a:t>
            </a:r>
            <a:r>
              <a:rPr lang="en-US" sz="15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5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.</a:t>
            </a:r>
            <a:r>
              <a:rPr lang="en-US" sz="15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order_by</a:t>
            </a:r>
            <a:r>
              <a:rPr lang="en-US" sz="15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(ibis.</a:t>
            </a:r>
            <a:r>
              <a:rPr lang="en-US" sz="15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("n"))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57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pick a camp — use whichever reads more clearly for that step.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DuckDB on my laptop → Trino on a real cluster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37744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49908" y="2697480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bis-talk/icons/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328" y="2769900"/>
            <a:ext cx="458663" cy="45866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566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analysis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2062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local DuckDB connection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237744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38828" y="2697480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bis-talk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248" y="2769900"/>
            <a:ext cx="458663" cy="45866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3566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— it works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42062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local, zero infra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72200" y="237744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127748" y="2697480"/>
            <a:ext cx="603504" cy="603504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ibis-talk/icons/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168" y="2769900"/>
            <a:ext cx="458663" cy="45866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3566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connection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42062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Ibis at Trino instead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61120" y="237744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916668" y="2697480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ibis-talk/icons/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9088" y="2769900"/>
            <a:ext cx="458663" cy="45866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98280" y="3566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new engine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9144000" y="42062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running as a distributed query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94360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 along: ibis_optionality_demo.ipynb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PART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dev: connect, build, run — on DuckDB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109960" cy="4160520"/>
          </a:xfrm>
          <a:prstGeom prst="roundRect">
            <a:avLst>
              <a:gd name="adj" fmla="val 1758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2029968"/>
            <a:ext cx="10597896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= ibis.</a:t>
            </a:r>
            <a:r>
              <a:rPr lang="en-US" sz="15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duckdb</a:t>
            </a:r>
            <a:r>
              <a:rPr lang="en-US" sz="15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.connect()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penguins = con.read_parquet(</a:t>
            </a:r>
            <a:r>
              <a:rPr lang="en-US" sz="15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"penguins.parquet"</a:t>
            </a:r>
            <a:r>
              <a:rPr lang="en-US" sz="155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5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top_species_by_mass(t):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(t.filter(t.body_mass_g.notnull())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.group_by(</a:t>
            </a:r>
            <a:r>
              <a:rPr lang="en-US" sz="15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"species"</a:t>
            </a:r>
            <a:r>
              <a:rPr lang="en-US" sz="155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.aggregate(avg_mass_g=t.body_mass_g.mean())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.order_by(ibis.desc(</a:t>
            </a:r>
            <a:r>
              <a:rPr lang="en-US" sz="15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"avg_mass_g"</a:t>
            </a:r>
            <a:r>
              <a:rPr lang="en-US" sz="155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)))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top_species_by_mass(penguins)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PART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function, new engine — nothing else changes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109960" cy="32461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2029968"/>
            <a:ext cx="10597896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2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—— the one thing that changes ——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= ibis.</a:t>
            </a:r>
            <a:r>
              <a:rPr lang="en-US" sz="15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trino</a:t>
            </a:r>
            <a:r>
              <a:rPr lang="en-US" sz="15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.connect(host=..., port=443, user=..., 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database=</a:t>
            </a:r>
            <a:r>
              <a:rPr lang="en-US" sz="15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"hive"</a:t>
            </a:r>
            <a:r>
              <a:rPr lang="en-US" sz="15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schema=</a:t>
            </a:r>
            <a:r>
              <a:rPr lang="en-US" sz="15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"default"</a:t>
            </a:r>
            <a:r>
              <a:rPr lang="en-US" sz="15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penguins = con.table(</a:t>
            </a:r>
            <a:r>
              <a:rPr lang="en-US" sz="15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"penguins"</a:t>
            </a:r>
            <a:r>
              <a:rPr lang="en-US" sz="155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8F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identical to the DuckDB slide — method reuse works w/any supported backend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top_species_by_mass(penguins)</a:t>
            </a:r>
            <a:r>
              <a:rPr lang="en-US" sz="155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50" dirty="0">
                <a:solidFill>
                  <a:srgbClr val="F2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now a distributed Trino query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53492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E4F0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5349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top_species_by_mass</a:t>
            </a: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never cares about out which engine it's running on. That's the optionality.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77240"/>
            <a:ext cx="1050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code, not always the same answer</a:t>
            </a:r>
            <a:endParaRPr lang="en-US" sz="3200" dirty="0"/>
          </a:p>
        </p:txBody>
      </p:sp>
      <p:sp>
        <p:nvSpPr>
          <p:cNvPr id="4" name="Card 4"/>
          <p:cNvSpPr/>
          <p:nvPr/>
        </p:nvSpPr>
        <p:spPr>
          <a:xfrm>
            <a:off x="548640" y="1965960"/>
            <a:ext cx="3520440" cy="3200400"/>
          </a:xfrm>
          <a:prstGeom prst="roundRect">
            <a:avLst>
              <a:gd name="adj" fmla="val 2597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adge 1"/>
          <p:cNvSpPr/>
          <p:nvPr/>
        </p:nvSpPr>
        <p:spPr>
          <a:xfrm>
            <a:off x="841248" y="22585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BadgeNum 1"/>
          <p:cNvSpPr txBox="1"/>
          <p:nvPr/>
        </p:nvSpPr>
        <p:spPr>
          <a:xfrm>
            <a:off x="841248" y="2258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CardHead0"/>
          <p:cNvSpPr txBox="1"/>
          <p:nvPr/>
        </p:nvSpPr>
        <p:spPr>
          <a:xfrm>
            <a:off x="822960" y="307238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Unsupported operations</a:t>
            </a:r>
            <a:endParaRPr lang="en-US" sz="1600" dirty="0"/>
          </a:p>
        </p:txBody>
      </p:sp>
      <p:sp>
        <p:nvSpPr>
          <p:cNvPr id="8" name="CardBody0"/>
          <p:cNvSpPr txBox="1"/>
          <p:nvPr/>
        </p:nvSpPr>
        <p:spPr>
          <a:xfrm>
            <a:off x="822960" y="3862704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expression with no equivalent on the target backend fails with </a:t>
            </a:r>
            <a:r>
              <a:rPr lang="en-US" sz="1200" dirty="0">
                <a:solidFill>
                  <a:srgbClr val="5C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OperationNotDefinedError</a:t>
            </a:r>
            <a:r>
              <a:rPr lang="en-US" sz="12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compile time — before any data moves. Quick to catch, but still a code change.</a:t>
            </a:r>
            <a:endParaRPr lang="en-US" sz="1200" dirty="0"/>
          </a:p>
        </p:txBody>
      </p:sp>
      <p:sp>
        <p:nvSpPr>
          <p:cNvPr id="9" name="Card 9"/>
          <p:cNvSpPr/>
          <p:nvPr/>
        </p:nvSpPr>
        <p:spPr>
          <a:xfrm>
            <a:off x="4343400" y="1965960"/>
            <a:ext cx="3520440" cy="3200400"/>
          </a:xfrm>
          <a:prstGeom prst="roundRect">
            <a:avLst>
              <a:gd name="adj" fmla="val 2597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Badge 2"/>
          <p:cNvSpPr/>
          <p:nvPr/>
        </p:nvSpPr>
        <p:spPr>
          <a:xfrm>
            <a:off x="4636008" y="22585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adgeNum 2"/>
          <p:cNvSpPr txBox="1"/>
          <p:nvPr/>
        </p:nvSpPr>
        <p:spPr>
          <a:xfrm>
            <a:off x="4636008" y="2258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CardHead1"/>
          <p:cNvSpPr txBox="1"/>
          <p:nvPr/>
        </p:nvSpPr>
        <p:spPr>
          <a:xfrm>
            <a:off x="4617720" y="307238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Semantics that drift</a:t>
            </a:r>
            <a:endParaRPr lang="en-US" sz="1600" dirty="0"/>
          </a:p>
        </p:txBody>
      </p:sp>
      <p:sp>
        <p:nvSpPr>
          <p:cNvPr id="13" name="CardBody1"/>
          <p:cNvSpPr txBox="1"/>
          <p:nvPr/>
        </p:nvSpPr>
        <p:spPr>
          <a:xfrm>
            <a:off x="4617720" y="3862704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sort position, integer division, timestamp precision and time zones, regex flavor, string case handling. The query runs; the answer can shift between engines.</a:t>
            </a:r>
            <a:endParaRPr lang="en-US" sz="1200" dirty="0"/>
          </a:p>
        </p:txBody>
      </p:sp>
      <p:sp>
        <p:nvSpPr>
          <p:cNvPr id="14" name="Card 14"/>
          <p:cNvSpPr/>
          <p:nvPr/>
        </p:nvSpPr>
        <p:spPr>
          <a:xfrm>
            <a:off x="8138160" y="1965960"/>
            <a:ext cx="3520440" cy="3200400"/>
          </a:xfrm>
          <a:prstGeom prst="roundRect">
            <a:avLst>
              <a:gd name="adj" fmla="val 2597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Badge 3"/>
          <p:cNvSpPr/>
          <p:nvPr/>
        </p:nvSpPr>
        <p:spPr>
          <a:xfrm>
            <a:off x="8430768" y="22585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BadgeNum 3"/>
          <p:cNvSpPr txBox="1"/>
          <p:nvPr/>
        </p:nvSpPr>
        <p:spPr>
          <a:xfrm>
            <a:off x="8430768" y="2258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CardHead2"/>
          <p:cNvSpPr txBox="1"/>
          <p:nvPr/>
        </p:nvSpPr>
        <p:spPr>
          <a:xfrm>
            <a:off x="8412480" y="307238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data in and out</a:t>
            </a:r>
            <a:endParaRPr lang="en-US" sz="1600" dirty="0"/>
          </a:p>
        </p:txBody>
      </p:sp>
      <p:sp>
        <p:nvSpPr>
          <p:cNvPr id="18" name="CardBody2"/>
          <p:cNvSpPr txBox="1"/>
          <p:nvPr/>
        </p:nvSpPr>
        <p:spPr>
          <a:xfrm>
            <a:off x="8412480" y="3862704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C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read_parquet</a:t>
            </a:r>
            <a:r>
              <a:rPr lang="en-US" sz="12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>
                <a:solidFill>
                  <a:srgbClr val="5C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create_table</a:t>
            </a:r>
            <a:r>
              <a:rPr lang="en-US" sz="12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file I/O are supported unevenly. Composing expressions is the portable part; loading and writing is less so.</a:t>
            </a:r>
            <a:endParaRPr lang="en-US" sz="1200" dirty="0"/>
          </a:p>
        </p:txBody>
      </p:sp>
      <p:sp>
        <p:nvSpPr>
          <p:cNvPr id="19" name="Footnote"/>
          <p:cNvSpPr txBox="1"/>
          <p:nvPr/>
        </p:nvSpPr>
        <p:spPr>
          <a:xfrm>
            <a:off x="548640" y="5560000"/>
            <a:ext cx="110947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 is real — treat a backend swap like a database migration, and run your tests against the new engine first.</a:t>
            </a:r>
            <a:endParaRPr lang="en-US" sz="1550" dirty="0"/>
          </a:p>
        </p:txBody>
      </p:sp>
      <p:sp>
        <p:nvSpPr>
          <p:cNvPr id="20" name="FooterL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21" name="FooterR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 · UDFs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777240"/>
            <a:ext cx="1050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UDFs don’t travel between backends for free</a:t>
            </a:r>
            <a:endParaRPr lang="en-US" sz="3200" dirty="0"/>
          </a:p>
        </p:txBody>
      </p:sp>
      <p:sp>
        <p:nvSpPr>
          <p:cNvPr id="4" name="Card 4"/>
          <p:cNvSpPr/>
          <p:nvPr/>
        </p:nvSpPr>
        <p:spPr>
          <a:xfrm>
            <a:off x="548640" y="1965960"/>
            <a:ext cx="3520440" cy="3200400"/>
          </a:xfrm>
          <a:prstGeom prst="roundRect">
            <a:avLst>
              <a:gd name="adj" fmla="val 2597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Badge 1"/>
          <p:cNvSpPr/>
          <p:nvPr/>
        </p:nvSpPr>
        <p:spPr>
          <a:xfrm>
            <a:off x="841248" y="22585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BadgeNum 1"/>
          <p:cNvSpPr txBox="1"/>
          <p:nvPr/>
        </p:nvSpPr>
        <p:spPr>
          <a:xfrm>
            <a:off x="841248" y="2258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CardHead0"/>
          <p:cNvSpPr txBox="1"/>
          <p:nvPr/>
        </p:nvSpPr>
        <p:spPr>
          <a:xfrm>
            <a:off x="822960" y="307238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scalar.python</a:t>
            </a:r>
            <a:endParaRPr lang="en-US" sz="1600" dirty="0"/>
          </a:p>
        </p:txBody>
      </p:sp>
      <p:sp>
        <p:nvSpPr>
          <p:cNvPr id="8" name="CardBody0"/>
          <p:cNvSpPr txBox="1"/>
          <p:nvPr/>
        </p:nvSpPr>
        <p:spPr>
          <a:xfrm>
            <a:off x="822960" y="3862704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Row-at-a-time Python. Fine on DuckDB, Polars, pandas. Elsewhere support and speed vary widely — several SQL engines, Trino included, have no Python-UDF path at all.</a:t>
            </a:r>
            <a:endParaRPr lang="en-US" sz="1200" dirty="0"/>
          </a:p>
        </p:txBody>
      </p:sp>
      <p:sp>
        <p:nvSpPr>
          <p:cNvPr id="9" name="Card 9"/>
          <p:cNvSpPr/>
          <p:nvPr/>
        </p:nvSpPr>
        <p:spPr>
          <a:xfrm>
            <a:off x="4343400" y="1965960"/>
            <a:ext cx="3520440" cy="3200400"/>
          </a:xfrm>
          <a:prstGeom prst="roundRect">
            <a:avLst>
              <a:gd name="adj" fmla="val 2597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Badge 2"/>
          <p:cNvSpPr/>
          <p:nvPr/>
        </p:nvSpPr>
        <p:spPr>
          <a:xfrm>
            <a:off x="4636008" y="22585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adgeNum 2"/>
          <p:cNvSpPr txBox="1"/>
          <p:nvPr/>
        </p:nvSpPr>
        <p:spPr>
          <a:xfrm>
            <a:off x="4636008" y="2258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CardHead1"/>
          <p:cNvSpPr txBox="1"/>
          <p:nvPr/>
        </p:nvSpPr>
        <p:spPr>
          <a:xfrm>
            <a:off x="4617720" y="307238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scalar.builtin</a:t>
            </a:r>
            <a:endParaRPr lang="en-US" sz="1600" dirty="0"/>
          </a:p>
        </p:txBody>
      </p:sp>
      <p:sp>
        <p:nvSpPr>
          <p:cNvPr id="13" name="CardBody1"/>
          <p:cNvSpPr txBox="1"/>
          <p:nvPr/>
        </p:nvSpPr>
        <p:spPr>
          <a:xfrm>
            <a:off x="4617720" y="3862704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to a function the backend already ships — fast and native, but that exact function has to exist, by name, on every backend you target.</a:t>
            </a:r>
            <a:endParaRPr lang="en-US" sz="1200" dirty="0"/>
          </a:p>
        </p:txBody>
      </p:sp>
      <p:sp>
        <p:nvSpPr>
          <p:cNvPr id="14" name="Card 14"/>
          <p:cNvSpPr/>
          <p:nvPr/>
        </p:nvSpPr>
        <p:spPr>
          <a:xfrm>
            <a:off x="8138160" y="1965960"/>
            <a:ext cx="3520440" cy="3200400"/>
          </a:xfrm>
          <a:prstGeom prst="roundRect">
            <a:avLst>
              <a:gd name="adj" fmla="val 2597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Badge 3"/>
          <p:cNvSpPr/>
          <p:nvPr/>
        </p:nvSpPr>
        <p:spPr>
          <a:xfrm>
            <a:off x="8430768" y="22585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BadgeNum 3"/>
          <p:cNvSpPr txBox="1"/>
          <p:nvPr/>
        </p:nvSpPr>
        <p:spPr>
          <a:xfrm>
            <a:off x="8430768" y="2258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CardHead2"/>
          <p:cNvSpPr txBox="1"/>
          <p:nvPr/>
        </p:nvSpPr>
        <p:spPr>
          <a:xfrm>
            <a:off x="8412480" y="307238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UDFs</a:t>
            </a:r>
            <a:endParaRPr lang="en-US" sz="1600" dirty="0"/>
          </a:p>
        </p:txBody>
      </p:sp>
      <p:sp>
        <p:nvSpPr>
          <p:cNvPr id="18" name="CardBody2"/>
          <p:cNvSpPr txBox="1"/>
          <p:nvPr/>
        </p:nvSpPr>
        <p:spPr>
          <a:xfrm>
            <a:off x="8412480" y="3862704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Snowflake, </a:t>
            </a:r>
            <a:r>
              <a:rPr lang="en-US" sz="1200" dirty="0" err="1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n-US" sz="12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Trino, </a:t>
            </a:r>
            <a:r>
              <a:rPr lang="en-US" sz="1200" dirty="0" err="1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2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register the function in the warehouse: extra permissions and a new deploy step. The UDF story is per-backend, not write-once.</a:t>
            </a:r>
            <a:endParaRPr lang="en-US" sz="1200" dirty="0"/>
          </a:p>
        </p:txBody>
      </p:sp>
      <p:sp>
        <p:nvSpPr>
          <p:cNvPr id="19" name="Footnote"/>
          <p:cNvSpPr txBox="1"/>
          <p:nvPr/>
        </p:nvSpPr>
        <p:spPr>
          <a:xfrm>
            <a:off x="548640" y="5560000"/>
            <a:ext cx="110947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UDF logic out of the portable core — prefer .sql(), a builtin, or primitives Ibis already knows how to compile.</a:t>
            </a:r>
            <a:endParaRPr lang="en-US" sz="1550" dirty="0"/>
          </a:p>
        </p:txBody>
      </p:sp>
      <p:sp>
        <p:nvSpPr>
          <p:cNvPr id="20" name="FooterL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21" name="FooterR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Optionality is leverage — for your project &amp; your career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2585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bis-talk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2326599"/>
            <a:ext cx="430865" cy="4308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306324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fast, ship without rewrites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931920"/>
            <a:ext cx="2935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locally on DuckDB, then point at production infrastructure with a config change, not a rewrite.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36008" y="22585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bis-talk/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039" y="2326599"/>
            <a:ext cx="430865" cy="4308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36008" y="306324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married to one platform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4636008" y="3931920"/>
            <a:ext cx="2935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team's stack changes. Ibis code mostly doesn't have to.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30768" y="22585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ibis-talk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8799" y="2326599"/>
            <a:ext cx="430865" cy="4308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30768" y="306324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skill, every employer's stack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430768" y="3931920"/>
            <a:ext cx="2935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warehouse or engine your next job runs, there's a good chance Ibis already speaks to it.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https://github.com/lestermartin/ibis-optionality/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bis-talk/icons/lap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88" y="1981688"/>
            <a:ext cx="389169" cy="3891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8928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Clone the repo &amp; install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189280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ibis-talk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088" y="2987528"/>
            <a:ext cx="389169" cy="38916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8986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Cache the demo dataset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120640" y="289864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prep_offline_data.py  (works fully offline after this)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9319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ibis-talk/icons/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088" y="3993368"/>
            <a:ext cx="389169" cy="38916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39044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Get a Trino endpoint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5120640" y="390448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via Docker Compose, or a free Starburst Galaxy cluster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93776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ibis-talk/icons/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088" y="4999208"/>
            <a:ext cx="389169" cy="38916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49103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Open the notebook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5120640" y="491032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jupyter lab ibis_optionality_demo.ipynb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setup instructions, including both Trino options, are in SETUP.md.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37160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find me after the session, too.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bis-talk/icons/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2667488"/>
            <a:ext cx="389169" cy="3891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5877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tutorials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898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ibis-project.org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56616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ibis-talk/icons/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88" y="3627608"/>
            <a:ext cx="389169" cy="3891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35478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38587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github.com/ibis-project/ibis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52628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ibis-talk/icons/lap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088" y="4587728"/>
            <a:ext cx="389169" cy="3891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45079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talk's demo + slides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280160" y="48188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</a:t>
            </a:r>
            <a:r>
              <a:rPr lang="en-US" sz="12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250" dirty="0" err="1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lestermartin</a:t>
            </a:r>
            <a:r>
              <a:rPr lang="en-US" sz="12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/ibis-optionality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Ibis: Bringing Optionality to Python Dataframes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2235</Words>
  <Application>Microsoft Macintosh PowerPoint</Application>
  <PresentationFormat>Widescreen</PresentationFormat>
  <Paragraphs>387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Lester Martin</cp:lastModifiedBy>
  <cp:revision>11</cp:revision>
  <dcterms:created xsi:type="dcterms:W3CDTF">2026-09-08T17:18:48Z</dcterms:created>
  <dcterms:modified xsi:type="dcterms:W3CDTF">2026-10-11T19:09:00Z</dcterms:modified>
</cp:coreProperties>
</file>