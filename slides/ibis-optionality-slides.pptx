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5"/>
  </p:notesMasterIdLst>
  <p:sldIdLst>
    <p:sldId id="256" r:id="rId2"/>
    <p:sldId id="259" r:id="rId3"/>
    <p:sldId id="257" r:id="rId4"/>
    <p:sldId id="258" r:id="rId5"/>
    <p:sldId id="278" r:id="rId6"/>
    <p:sldId id="260" r:id="rId7"/>
    <p:sldId id="261" r:id="rId8"/>
    <p:sldId id="262" r:id="rId9"/>
    <p:sldId id="263" r:id="rId10"/>
    <p:sldId id="264" r:id="rId11"/>
    <p:sldId id="265" r:id="rId12"/>
    <p:sldId id="266" r:id="rId13"/>
    <p:sldId id="267" r:id="rId14"/>
    <p:sldId id="268" r:id="rId15"/>
    <p:sldId id="269" r:id="rId16"/>
    <p:sldId id="270" r:id="rId17"/>
    <p:sldId id="271" r:id="rId18"/>
    <p:sldId id="272" r:id="rId19"/>
    <p:sldId id="276" r:id="rId20"/>
    <p:sldId id="277" r:id="rId21"/>
    <p:sldId id="273" r:id="rId22"/>
    <p:sldId id="274" r:id="rId23"/>
    <p:sldId id="275" r:id="rId24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23323"/>
    <p:restoredTop sz="86957"/>
  </p:normalViewPr>
  <p:slideViewPr>
    <p:cSldViewPr snapToGrid="0" snapToObjects="1">
      <p:cViewPr varScale="1">
        <p:scale>
          <a:sx n="107" d="100"/>
          <a:sy n="107" d="100"/>
        </p:scale>
        <p:origin x="432" y="16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95951515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1B12328-110E-FDAB-372F-E11351B047E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0D9D352-C44E-BF7E-5681-40B59182D8B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387B316-CC0B-4B54-6F75-726B7F41A46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11EA8ED-4D97-3E41-8157-E8D27457B880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49821755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hyperlink" Target="https://lestermartin.blog/" TargetMode="External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.png"/><Relationship Id="rId5" Type="http://schemas.openxmlformats.org/officeDocument/2006/relationships/image" Target="../media/image2.png"/><Relationship Id="rId4" Type="http://schemas.openxmlformats.org/officeDocument/2006/relationships/hyperlink" Target="https://linktr.ee/lestermartin" TargetMode="Externa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6.jpeg"/><Relationship Id="rId4" Type="http://schemas.openxmlformats.org/officeDocument/2006/relationships/image" Target="../media/image5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4.png"/><Relationship Id="rId4" Type="http://schemas.openxmlformats.org/officeDocument/2006/relationships/image" Target="../media/image7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9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2.png"/><Relationship Id="rId5" Type="http://schemas.openxmlformats.org/officeDocument/2006/relationships/image" Target="../media/image11.png"/><Relationship Id="rId4" Type="http://schemas.openxmlformats.org/officeDocument/2006/relationships/image" Target="../media/image10.png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1.png"/><Relationship Id="rId5" Type="http://schemas.openxmlformats.org/officeDocument/2006/relationships/image" Target="../media/image9.png"/><Relationship Id="rId4" Type="http://schemas.openxmlformats.org/officeDocument/2006/relationships/image" Target="../media/image4.png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1.png"/><Relationship Id="rId5" Type="http://schemas.openxmlformats.org/officeDocument/2006/relationships/image" Target="../media/image9.png"/><Relationship Id="rId4" Type="http://schemas.openxmlformats.org/officeDocument/2006/relationships/image" Target="../media/image7.png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8.png"/><Relationship Id="rId4" Type="http://schemas.openxmlformats.org/officeDocument/2006/relationships/image" Target="../media/image14.png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lestermartin/ibis-optionality/" TargetMode="External"/><Relationship Id="rId7" Type="http://schemas.openxmlformats.org/officeDocument/2006/relationships/image" Target="../media/image7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1.png"/><Relationship Id="rId5" Type="http://schemas.openxmlformats.org/officeDocument/2006/relationships/image" Target="../media/image5.png"/><Relationship Id="rId4" Type="http://schemas.openxmlformats.org/officeDocument/2006/relationships/image" Target="../media/image13.png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.png"/><Relationship Id="rId5" Type="http://schemas.openxmlformats.org/officeDocument/2006/relationships/image" Target="../media/image13.png"/><Relationship Id="rId4" Type="http://schemas.openxmlformats.org/officeDocument/2006/relationships/image" Target="../media/image16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21295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692640" y="-1463040"/>
            <a:ext cx="4114800" cy="4114800"/>
          </a:xfrm>
          <a:prstGeom prst="ellipse">
            <a:avLst/>
          </a:prstGeom>
          <a:solidFill>
            <a:srgbClr val="065A82">
              <a:alpha val="60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10607040" y="4206240"/>
            <a:ext cx="2926080" cy="2926080"/>
          </a:xfrm>
          <a:prstGeom prst="ellipse">
            <a:avLst/>
          </a:prstGeom>
          <a:solidFill>
            <a:srgbClr val="1C7293">
              <a:alpha val="65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 txBox="1"/>
          <p:nvPr/>
        </p:nvSpPr>
        <p:spPr>
          <a:xfrm>
            <a:off x="822960" y="1965960"/>
            <a:ext cx="91440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IBIS</a:t>
            </a:r>
            <a:endParaRPr lang="en-US" sz="6400" dirty="0"/>
          </a:p>
        </p:txBody>
      </p:sp>
      <p:sp>
        <p:nvSpPr>
          <p:cNvPr id="5" name="Text 3"/>
          <p:cNvSpPr txBox="1"/>
          <p:nvPr/>
        </p:nvSpPr>
        <p:spPr>
          <a:xfrm>
            <a:off x="868680" y="3063240"/>
            <a:ext cx="8778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Bringing Optionality to Python Dataframes</a:t>
            </a:r>
            <a:endParaRPr lang="en-US" sz="2400" dirty="0"/>
          </a:p>
        </p:txBody>
      </p:sp>
      <p:sp>
        <p:nvSpPr>
          <p:cNvPr id="6" name="Shape 4"/>
          <p:cNvSpPr/>
          <p:nvPr/>
        </p:nvSpPr>
        <p:spPr>
          <a:xfrm>
            <a:off x="868680" y="3886200"/>
            <a:ext cx="502920" cy="41148"/>
          </a:xfrm>
          <a:prstGeom prst="rect">
            <a:avLst/>
          </a:prstGeom>
          <a:solidFill>
            <a:srgbClr val="F2994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 txBox="1"/>
          <p:nvPr/>
        </p:nvSpPr>
        <p:spPr>
          <a:xfrm>
            <a:off x="868680" y="4041648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i="1" dirty="0">
                <a:solidFill>
                  <a:srgbClr val="9FB3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Python dataframe API. More than 20 backends. Your choice, any time.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868680" y="5806440"/>
            <a:ext cx="5486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Lester Martin – </a:t>
            </a:r>
            <a:r>
              <a:rPr lang="en-US" sz="1400" b="1" dirty="0" err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lester.martin@gmail.com</a:t>
            </a:r>
            <a:endParaRPr lang="en-US" sz="1400" dirty="0"/>
          </a:p>
          <a:p>
            <a:pPr marL="0" indent="0">
              <a:lnSpc>
                <a:spcPct val="130000"/>
              </a:lnSpc>
              <a:buNone/>
            </a:pPr>
            <a:r>
              <a:rPr lang="en-US" sz="1400" dirty="0">
                <a:solidFill>
                  <a:srgbClr val="9FB3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in the D · 2026</a:t>
            </a:r>
            <a:endParaRPr lang="en-US" sz="1400" dirty="0"/>
          </a:p>
        </p:txBody>
      </p:sp>
      <p:pic>
        <p:nvPicPr>
          <p:cNvPr id="10" name="Picture 9" descr="Ibis (@IbisData) / X">
            <a:extLst>
              <a:ext uri="{FF2B5EF4-FFF2-40B4-BE49-F238E27FC236}">
                <a16:creationId xmlns:a16="http://schemas.microsoft.com/office/drawing/2014/main" id="{C3463E76-76E2-2A0F-B236-89BD19CE9C5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21220" y="2328164"/>
            <a:ext cx="2540000" cy="2540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kern="0" spc="200" dirty="0">
                <a:solidFill>
                  <a:srgbClr val="1C7293"/>
                </a:solidFill>
                <a:latin typeface="Calibri" pitchFamily="34" charset="0"/>
                <a:cs typeface="Calibri" pitchFamily="34" charset="-120"/>
              </a:rPr>
              <a:t>ABOUT LESTER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77240"/>
            <a:ext cx="9601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21295C"/>
                </a:solidFill>
                <a:latin typeface="Cambria" pitchFamily="34" charset="0"/>
              </a:rPr>
              <a:t>Connection before content – </a:t>
            </a:r>
            <a:r>
              <a:rPr lang="en-US" sz="3000" b="1" dirty="0" err="1">
                <a:solidFill>
                  <a:srgbClr val="21295C"/>
                </a:solidFill>
                <a:latin typeface="Courier New" panose="02070309020205020404" pitchFamily="49" charset="0"/>
                <a:cs typeface="Courier New" panose="02070309020205020404" pitchFamily="49" charset="0"/>
                <a:hlinkClick r:id="rId3"/>
              </a:rPr>
              <a:t>LesterMartin.blog</a:t>
            </a:r>
            <a:endParaRPr lang="en-US" sz="3000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9" name="Shape 6"/>
          <p:cNvSpPr/>
          <p:nvPr/>
        </p:nvSpPr>
        <p:spPr>
          <a:xfrm>
            <a:off x="5978830" y="1965960"/>
            <a:ext cx="5349240" cy="4114800"/>
          </a:xfrm>
          <a:prstGeom prst="roundRect">
            <a:avLst>
              <a:gd name="adj" fmla="val 2273"/>
            </a:avLst>
          </a:prstGeom>
          <a:solidFill>
            <a:srgbClr val="EEF3F7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2" name="Text 8"/>
          <p:cNvSpPr txBox="1"/>
          <p:nvPr/>
        </p:nvSpPr>
        <p:spPr>
          <a:xfrm>
            <a:off x="6938950" y="2295144"/>
            <a:ext cx="4160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  <a:hlinkClick r:id="rId4"/>
              </a:rPr>
              <a:t>https://linktr.ee/lestermartin</a:t>
            </a:r>
            <a:r>
              <a:rPr lang="en-US" sz="1900" dirty="0"/>
              <a:t> </a:t>
            </a:r>
          </a:p>
        </p:txBody>
      </p:sp>
      <p:sp>
        <p:nvSpPr>
          <p:cNvPr id="13" name="Text 9"/>
          <p:cNvSpPr txBox="1"/>
          <p:nvPr/>
        </p:nvSpPr>
        <p:spPr>
          <a:xfrm>
            <a:off x="6344590" y="2957560"/>
            <a:ext cx="461772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5000"/>
              </a:lnSpc>
              <a:spcAft>
                <a:spcPts val="1200"/>
              </a:spcAft>
              <a:buSzPct val="100000"/>
              <a:buChar char="•"/>
            </a:pPr>
            <a:r>
              <a:rPr lang="en-US" sz="1400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Freelance technical educator &amp; developer advocate</a:t>
            </a:r>
          </a:p>
          <a:p>
            <a:pPr marL="800100" lvl="1" indent="-342900">
              <a:lnSpc>
                <a:spcPct val="125000"/>
              </a:lnSpc>
              <a:spcAft>
                <a:spcPts val="1200"/>
              </a:spcAft>
              <a:buSzPct val="100000"/>
              <a:buChar char="•"/>
            </a:pPr>
            <a:r>
              <a:rPr lang="en-US" sz="1400" dirty="0">
                <a:solidFill>
                  <a:srgbClr val="21295C"/>
                </a:solidFill>
                <a:latin typeface="Calibri" pitchFamily="34" charset="0"/>
                <a:cs typeface="Calibri" pitchFamily="34" charset="-120"/>
              </a:rPr>
              <a:t>Learn new things, build content, deliver it, repeat</a:t>
            </a:r>
            <a:endParaRPr lang="en-US" sz="1400" dirty="0"/>
          </a:p>
          <a:p>
            <a:pPr marL="342900" indent="-342900">
              <a:lnSpc>
                <a:spcPct val="125000"/>
              </a:lnSpc>
              <a:spcAft>
                <a:spcPts val="1200"/>
              </a:spcAft>
              <a:buSzPct val="100000"/>
              <a:buChar char="•"/>
            </a:pPr>
            <a:r>
              <a:rPr lang="en-US" sz="1400" dirty="0">
                <a:solidFill>
                  <a:srgbClr val="21295C"/>
                </a:solidFill>
                <a:latin typeface="Calibri" pitchFamily="34" charset="0"/>
                <a:cs typeface="Calibri" pitchFamily="34" charset="-120"/>
              </a:rPr>
              <a:t>35+ years of technology experience</a:t>
            </a:r>
          </a:p>
          <a:p>
            <a:pPr marL="800100" lvl="1" indent="-342900">
              <a:lnSpc>
                <a:spcPct val="125000"/>
              </a:lnSpc>
              <a:spcAft>
                <a:spcPts val="1200"/>
              </a:spcAft>
              <a:buSzPct val="100000"/>
              <a:buChar char="•"/>
            </a:pPr>
            <a:r>
              <a:rPr lang="en-US" sz="1400" dirty="0">
                <a:solidFill>
                  <a:srgbClr val="21295C"/>
                </a:solidFill>
                <a:latin typeface="Calibri" pitchFamily="34" charset="0"/>
                <a:cs typeface="Calibri" pitchFamily="34" charset="-120"/>
              </a:rPr>
              <a:t>Started my journey on a TRS-80 Model III</a:t>
            </a:r>
          </a:p>
          <a:p>
            <a:pPr marL="800100" lvl="1" indent="-342900">
              <a:lnSpc>
                <a:spcPct val="125000"/>
              </a:lnSpc>
              <a:spcAft>
                <a:spcPts val="1200"/>
              </a:spcAft>
              <a:buSzPct val="100000"/>
              <a:buChar char="•"/>
            </a:pPr>
            <a:r>
              <a:rPr lang="en-US" sz="1400" dirty="0">
                <a:solidFill>
                  <a:srgbClr val="21295C"/>
                </a:solidFill>
                <a:latin typeface="Calibri" pitchFamily="34" charset="0"/>
                <a:cs typeface="Calibri" pitchFamily="34" charset="-120"/>
              </a:rPr>
              <a:t>Half of career in transactional systems and second half in analytical processing as a data engineer</a:t>
            </a:r>
          </a:p>
          <a:p>
            <a:pPr marL="800100" lvl="1" indent="-342900">
              <a:lnSpc>
                <a:spcPct val="125000"/>
              </a:lnSpc>
              <a:spcAft>
                <a:spcPts val="1200"/>
              </a:spcAft>
              <a:buSzPct val="100000"/>
              <a:buChar char="•"/>
            </a:pPr>
            <a:r>
              <a:rPr lang="en-US" sz="1400" dirty="0">
                <a:solidFill>
                  <a:srgbClr val="21295C"/>
                </a:solidFill>
                <a:latin typeface="Calibri" pitchFamily="34" charset="0"/>
                <a:cs typeface="Calibri" pitchFamily="34" charset="-120"/>
              </a:rPr>
              <a:t>Specialized in big data analytics OSS including Hive, Trino, Spark, </a:t>
            </a:r>
            <a:r>
              <a:rPr lang="en-US" sz="1400" dirty="0" err="1">
                <a:solidFill>
                  <a:srgbClr val="21295C"/>
                </a:solidFill>
                <a:latin typeface="Calibri" pitchFamily="34" charset="0"/>
                <a:cs typeface="Calibri" pitchFamily="34" charset="-120"/>
              </a:rPr>
              <a:t>NiFi</a:t>
            </a:r>
            <a:r>
              <a:rPr lang="en-US" sz="1400" dirty="0">
                <a:solidFill>
                  <a:srgbClr val="21295C"/>
                </a:solidFill>
                <a:latin typeface="Calibri" pitchFamily="34" charset="0"/>
                <a:cs typeface="Calibri" pitchFamily="34" charset="-120"/>
              </a:rPr>
              <a:t>, Kafka, Flink, HBase &amp; MongoDB</a:t>
            </a:r>
            <a:endParaRPr lang="en-US" sz="1400" dirty="0"/>
          </a:p>
        </p:txBody>
      </p:sp>
      <p:sp>
        <p:nvSpPr>
          <p:cNvPr id="14" name="Text 10"/>
          <p:cNvSpPr txBox="1"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9AA6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Ibis: Bringing Optionality to Python Dataframes</a:t>
            </a:r>
            <a:endParaRPr lang="en-US" sz="900" dirty="0"/>
          </a:p>
        </p:txBody>
      </p:sp>
      <p:sp>
        <p:nvSpPr>
          <p:cNvPr id="15" name="Text 11"/>
          <p:cNvSpPr txBox="1"/>
          <p:nvPr/>
        </p:nvSpPr>
        <p:spPr>
          <a:xfrm>
            <a:off x="11274552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9AA6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900" dirty="0"/>
          </a:p>
        </p:txBody>
      </p:sp>
      <p:pic>
        <p:nvPicPr>
          <p:cNvPr id="16" name="Picture 15" descr="Linktree Logo in Transparent Background 70730261 PNG">
            <a:extLst>
              <a:ext uri="{FF2B5EF4-FFF2-40B4-BE49-F238E27FC236}">
                <a16:creationId xmlns:a16="http://schemas.microsoft.com/office/drawing/2014/main" id="{2A4E3F35-4B98-2B38-D862-31885D345E27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978830" y="2009066"/>
            <a:ext cx="1075075" cy="1075075"/>
          </a:xfrm>
          <a:prstGeom prst="rect">
            <a:avLst/>
          </a:prstGeom>
        </p:spPr>
      </p:pic>
      <p:pic>
        <p:nvPicPr>
          <p:cNvPr id="18" name="Picture 17">
            <a:extLst>
              <a:ext uri="{FF2B5EF4-FFF2-40B4-BE49-F238E27FC236}">
                <a16:creationId xmlns:a16="http://schemas.microsoft.com/office/drawing/2014/main" id="{20B2B64A-3932-7301-39D9-9512494ED4FB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57620" y="1920240"/>
            <a:ext cx="4212433" cy="4233672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kern="0" spc="20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DATAFRAMES 101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77240"/>
            <a:ext cx="9601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2129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is a dataframe?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874520"/>
            <a:ext cx="52120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35000"/>
              </a:lnSpc>
              <a:buNone/>
            </a:pPr>
            <a:r>
              <a:rPr lang="en-US" sz="1650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dataframe is a table: rows are records, columns are named and typed. It's the shape underneath spreadsheets, CSVs, SQL query results — and most of the Python data stack.</a:t>
            </a:r>
            <a:endParaRPr lang="en-US" sz="1650" dirty="0"/>
          </a:p>
        </p:txBody>
      </p:sp>
      <p:sp>
        <p:nvSpPr>
          <p:cNvPr id="5" name="Shape 3"/>
          <p:cNvSpPr/>
          <p:nvPr/>
        </p:nvSpPr>
        <p:spPr>
          <a:xfrm>
            <a:off x="548640" y="3429000"/>
            <a:ext cx="512064" cy="512064"/>
          </a:xfrm>
          <a:prstGeom prst="ellipse">
            <a:avLst/>
          </a:prstGeom>
          <a:solidFill>
            <a:srgbClr val="065A82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6" name="Image 0" descr="/home/claude/ibis-talk/icons/layer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0088" y="3490448"/>
            <a:ext cx="389169" cy="389169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234440" y="3401568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50" b="1" dirty="0">
                <a:solidFill>
                  <a:srgbClr val="2129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Column</a:t>
            </a:r>
            <a:endParaRPr lang="en-US" sz="1550" dirty="0"/>
          </a:p>
        </p:txBody>
      </p:sp>
      <p:sp>
        <p:nvSpPr>
          <p:cNvPr id="8" name="Text 5"/>
          <p:cNvSpPr txBox="1"/>
          <p:nvPr/>
        </p:nvSpPr>
        <p:spPr>
          <a:xfrm>
            <a:off x="1234440" y="3739896"/>
            <a:ext cx="4297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5C6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named, typed field — e.g. body_mass_g: float64</a:t>
            </a:r>
            <a:endParaRPr lang="en-US" sz="1250" dirty="0"/>
          </a:p>
        </p:txBody>
      </p:sp>
      <p:sp>
        <p:nvSpPr>
          <p:cNvPr id="9" name="Shape 6"/>
          <p:cNvSpPr/>
          <p:nvPr/>
        </p:nvSpPr>
        <p:spPr>
          <a:xfrm>
            <a:off x="548640" y="4480560"/>
            <a:ext cx="512064" cy="512064"/>
          </a:xfrm>
          <a:prstGeom prst="ellipse">
            <a:avLst/>
          </a:prstGeom>
          <a:solidFill>
            <a:srgbClr val="065A82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10" name="Image 1" descr="/home/claude/ibis-talk/icons/databas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0088" y="4542008"/>
            <a:ext cx="389169" cy="389169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1234440" y="4453128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50" b="1" dirty="0">
                <a:solidFill>
                  <a:srgbClr val="2129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Row</a:t>
            </a:r>
            <a:endParaRPr lang="en-US" sz="1550" dirty="0"/>
          </a:p>
        </p:txBody>
      </p:sp>
      <p:sp>
        <p:nvSpPr>
          <p:cNvPr id="12" name="Text 8"/>
          <p:cNvSpPr txBox="1"/>
          <p:nvPr/>
        </p:nvSpPr>
        <p:spPr>
          <a:xfrm>
            <a:off x="1234440" y="4791456"/>
            <a:ext cx="4297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5C6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record — e.g. one penguin</a:t>
            </a:r>
            <a:endParaRPr lang="en-US" sz="1250" dirty="0"/>
          </a:p>
        </p:txBody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126480" y="1965960"/>
          <a:ext cx="5532120" cy="1828800"/>
        </p:xfrm>
        <a:graphic>
          <a:graphicData uri="http://schemas.openxmlformats.org/drawingml/2006/table">
            <a:tbl>
              <a:tblPr/>
              <a:tblGrid>
                <a:gridCol w="19202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8288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7830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572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species</a:t>
                      </a:r>
                      <a:endParaRPr lang="en-US" sz="13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65A8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island</a:t>
                      </a:r>
                      <a:endParaRPr lang="en-US" sz="13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65A8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body_mass_g</a:t>
                      </a:r>
                      <a:endParaRPr lang="en-US" sz="13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65A8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21295C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Adelie</a:t>
                      </a:r>
                      <a:endParaRPr lang="en-US" sz="13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21295C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Torgersen</a:t>
                      </a:r>
                      <a:endParaRPr lang="en-US" sz="13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21295C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3750</a:t>
                      </a:r>
                      <a:endParaRPr lang="en-US" sz="13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21295C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Adelie</a:t>
                      </a:r>
                      <a:endParaRPr lang="en-US" sz="13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21295C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Biscoe</a:t>
                      </a:r>
                      <a:endParaRPr lang="en-US" sz="13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21295C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3800</a:t>
                      </a:r>
                      <a:endParaRPr lang="en-US" sz="13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21295C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Gentoo</a:t>
                      </a:r>
                      <a:endParaRPr lang="en-US" sz="13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21295C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Biscoe</a:t>
                      </a:r>
                      <a:endParaRPr lang="en-US" sz="13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21295C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5000</a:t>
                      </a:r>
                      <a:endParaRPr lang="en-US" sz="13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14" name="Text 9"/>
          <p:cNvSpPr txBox="1"/>
          <p:nvPr/>
        </p:nvSpPr>
        <p:spPr>
          <a:xfrm>
            <a:off x="6126480" y="3977640"/>
            <a:ext cx="5532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i="1" dirty="0">
                <a:solidFill>
                  <a:srgbClr val="5C6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dataframe library represents this same shape.</a:t>
            </a:r>
            <a:endParaRPr lang="en-US" sz="1300" dirty="0"/>
          </a:p>
        </p:txBody>
      </p:sp>
      <p:sp>
        <p:nvSpPr>
          <p:cNvPr id="15" name="Text 10"/>
          <p:cNvSpPr txBox="1"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9AA6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Ibis: Bringing Optionality to Python Dataframes</a:t>
            </a:r>
            <a:endParaRPr lang="en-US" sz="900" dirty="0"/>
          </a:p>
        </p:txBody>
      </p:sp>
      <p:sp>
        <p:nvSpPr>
          <p:cNvPr id="16" name="Text 11"/>
          <p:cNvSpPr txBox="1"/>
          <p:nvPr/>
        </p:nvSpPr>
        <p:spPr>
          <a:xfrm>
            <a:off x="11274552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9AA6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900" dirty="0"/>
          </a:p>
        </p:txBody>
      </p:sp>
      <p:pic>
        <p:nvPicPr>
          <p:cNvPr id="17" name="Picture 16" descr="Cartoon penguin - Openclipart">
            <a:extLst>
              <a:ext uri="{FF2B5EF4-FFF2-40B4-BE49-F238E27FC236}">
                <a16:creationId xmlns:a16="http://schemas.microsoft.com/office/drawing/2014/main" id="{65CE8E3E-222C-5137-FC1B-3B7D11E8629C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475994" y="4488302"/>
            <a:ext cx="1932187" cy="1932187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kern="0" spc="20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DATAFRAMES 101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77240"/>
            <a:ext cx="9601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2129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Why dataframes took over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48640" y="1965960"/>
            <a:ext cx="3520440" cy="3566160"/>
          </a:xfrm>
          <a:prstGeom prst="roundRect">
            <a:avLst>
              <a:gd name="adj" fmla="val 2597"/>
            </a:avLst>
          </a:prstGeom>
          <a:solidFill>
            <a:srgbClr val="EEF3F7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841248" y="2258568"/>
            <a:ext cx="566928" cy="566928"/>
          </a:xfrm>
          <a:prstGeom prst="ellipse">
            <a:avLst/>
          </a:prstGeom>
          <a:solidFill>
            <a:srgbClr val="065A82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6" name="Image 0" descr="/home/claude/ibis-talk/icons/databas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09279" y="2326599"/>
            <a:ext cx="430865" cy="430865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841248" y="3063240"/>
            <a:ext cx="2935224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650" b="1" dirty="0">
                <a:solidFill>
                  <a:srgbClr val="2129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Tabular data is everywhere</a:t>
            </a:r>
            <a:endParaRPr lang="en-US" sz="1650" dirty="0"/>
          </a:p>
        </p:txBody>
      </p:sp>
      <p:sp>
        <p:nvSpPr>
          <p:cNvPr id="8" name="Text 5"/>
          <p:cNvSpPr txBox="1"/>
          <p:nvPr/>
        </p:nvSpPr>
        <p:spPr>
          <a:xfrm>
            <a:off x="841248" y="3931920"/>
            <a:ext cx="2935224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5C6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Exports, logs, spreadsheets, CSVs, query results — most real-world data already looks like a table.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4343400" y="1965960"/>
            <a:ext cx="3520440" cy="3566160"/>
          </a:xfrm>
          <a:prstGeom prst="roundRect">
            <a:avLst>
              <a:gd name="adj" fmla="val 2597"/>
            </a:avLst>
          </a:prstGeom>
          <a:solidFill>
            <a:srgbClr val="EEF3F7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0" name="Shape 7"/>
          <p:cNvSpPr/>
          <p:nvPr/>
        </p:nvSpPr>
        <p:spPr>
          <a:xfrm>
            <a:off x="4636008" y="2258568"/>
            <a:ext cx="566928" cy="566928"/>
          </a:xfrm>
          <a:prstGeom prst="ellipse">
            <a:avLst/>
          </a:prstGeom>
          <a:solidFill>
            <a:srgbClr val="065A82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11" name="Image 1" descr="/home/claude/ibis-talk/icons/cod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04039" y="2326599"/>
            <a:ext cx="430865" cy="430865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4636008" y="3063240"/>
            <a:ext cx="2935224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650" b="1" dirty="0">
                <a:solidFill>
                  <a:srgbClr val="2129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Expressive, chainable operations</a:t>
            </a:r>
            <a:endParaRPr lang="en-US" sz="1650" dirty="0"/>
          </a:p>
        </p:txBody>
      </p:sp>
      <p:sp>
        <p:nvSpPr>
          <p:cNvPr id="13" name="Text 9"/>
          <p:cNvSpPr txBox="1"/>
          <p:nvPr/>
        </p:nvSpPr>
        <p:spPr>
          <a:xfrm>
            <a:off x="4636008" y="3931920"/>
            <a:ext cx="2935224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5C6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filter, group, join, sort read like your train of thought — no manual loops or index bookkeeping.</a:t>
            </a:r>
            <a:endParaRPr lang="en-US" sz="1300" dirty="0"/>
          </a:p>
        </p:txBody>
      </p:sp>
      <p:sp>
        <p:nvSpPr>
          <p:cNvPr id="14" name="Shape 10"/>
          <p:cNvSpPr/>
          <p:nvPr/>
        </p:nvSpPr>
        <p:spPr>
          <a:xfrm>
            <a:off x="8138160" y="1965960"/>
            <a:ext cx="3520440" cy="3566160"/>
          </a:xfrm>
          <a:prstGeom prst="roundRect">
            <a:avLst>
              <a:gd name="adj" fmla="val 2597"/>
            </a:avLst>
          </a:prstGeom>
          <a:solidFill>
            <a:srgbClr val="EEF3F7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5" name="Shape 11"/>
          <p:cNvSpPr/>
          <p:nvPr/>
        </p:nvSpPr>
        <p:spPr>
          <a:xfrm>
            <a:off x="8430768" y="2258568"/>
            <a:ext cx="566928" cy="566928"/>
          </a:xfrm>
          <a:prstGeom prst="ellipse">
            <a:avLst/>
          </a:prstGeom>
          <a:solidFill>
            <a:srgbClr val="065A82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16" name="Image 2" descr="/home/claude/ibis-talk/icons/layers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498799" y="2326599"/>
            <a:ext cx="430865" cy="430865"/>
          </a:xfrm>
          <a:prstGeom prst="rect">
            <a:avLst/>
          </a:prstGeom>
        </p:spPr>
      </p:pic>
      <p:sp>
        <p:nvSpPr>
          <p:cNvPr id="17" name="Text 12"/>
          <p:cNvSpPr txBox="1"/>
          <p:nvPr/>
        </p:nvSpPr>
        <p:spPr>
          <a:xfrm>
            <a:off x="8430768" y="3063240"/>
            <a:ext cx="2935224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650" b="1" dirty="0">
                <a:solidFill>
                  <a:srgbClr val="2129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One shape, many tools</a:t>
            </a:r>
            <a:endParaRPr lang="en-US" sz="1650" dirty="0"/>
          </a:p>
        </p:txBody>
      </p:sp>
      <p:sp>
        <p:nvSpPr>
          <p:cNvPr id="18" name="Text 13"/>
          <p:cNvSpPr txBox="1"/>
          <p:nvPr/>
        </p:nvSpPr>
        <p:spPr>
          <a:xfrm>
            <a:off x="8430768" y="3931920"/>
            <a:ext cx="2935224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5C6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same mental model works in pandas, R, SQL, and Spark. Learn the shape once.</a:t>
            </a:r>
            <a:endParaRPr lang="en-US" sz="1300" dirty="0"/>
          </a:p>
        </p:txBody>
      </p:sp>
      <p:sp>
        <p:nvSpPr>
          <p:cNvPr id="19" name="Text 14"/>
          <p:cNvSpPr txBox="1"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9AA6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Ibis: Bringing Optionality to Python Dataframes</a:t>
            </a:r>
            <a:endParaRPr lang="en-US" sz="900" dirty="0"/>
          </a:p>
        </p:txBody>
      </p:sp>
      <p:sp>
        <p:nvSpPr>
          <p:cNvPr id="20" name="Text 15"/>
          <p:cNvSpPr txBox="1"/>
          <p:nvPr/>
        </p:nvSpPr>
        <p:spPr>
          <a:xfrm>
            <a:off x="11274552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9AA6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8AFA2EB5-9F05-2553-924C-460421A48FF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0DC3B39B-8771-A363-6323-153885175619}"/>
              </a:ext>
            </a:extLst>
          </p:cNvPr>
          <p:cNvSpPr txBox="1"/>
          <p:nvPr/>
        </p:nvSpPr>
        <p:spPr>
          <a:xfrm>
            <a:off x="548640" y="45720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kern="0" spc="20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DATAFRAMES 101</a:t>
            </a:r>
            <a:endParaRPr lang="en-US" sz="1300" dirty="0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43FC454A-D7AC-4FC6-5BE7-31E1EA497931}"/>
              </a:ext>
            </a:extLst>
          </p:cNvPr>
          <p:cNvSpPr txBox="1"/>
          <p:nvPr/>
        </p:nvSpPr>
        <p:spPr>
          <a:xfrm>
            <a:off x="548640" y="777240"/>
            <a:ext cx="9601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2129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Where dataframes shine — and where they don't</a:t>
            </a:r>
            <a:endParaRPr lang="en-US" sz="3000" dirty="0"/>
          </a:p>
        </p:txBody>
      </p:sp>
      <p:sp>
        <p:nvSpPr>
          <p:cNvPr id="4" name="Shape 2">
            <a:extLst>
              <a:ext uri="{FF2B5EF4-FFF2-40B4-BE49-F238E27FC236}">
                <a16:creationId xmlns:a16="http://schemas.microsoft.com/office/drawing/2014/main" id="{638823A3-29A4-E570-B78E-7D227ADC239E}"/>
              </a:ext>
            </a:extLst>
          </p:cNvPr>
          <p:cNvSpPr/>
          <p:nvPr/>
        </p:nvSpPr>
        <p:spPr>
          <a:xfrm>
            <a:off x="548640" y="1965960"/>
            <a:ext cx="5349240" cy="4023360"/>
          </a:xfrm>
          <a:prstGeom prst="roundRect">
            <a:avLst>
              <a:gd name="adj" fmla="val 2273"/>
            </a:avLst>
          </a:prstGeom>
          <a:solidFill>
            <a:srgbClr val="EEF3F7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" name="Shape 3">
            <a:extLst>
              <a:ext uri="{FF2B5EF4-FFF2-40B4-BE49-F238E27FC236}">
                <a16:creationId xmlns:a16="http://schemas.microsoft.com/office/drawing/2014/main" id="{FD33A56F-01AE-57CA-6570-0397BD885509}"/>
              </a:ext>
            </a:extLst>
          </p:cNvPr>
          <p:cNvSpPr/>
          <p:nvPr/>
        </p:nvSpPr>
        <p:spPr>
          <a:xfrm>
            <a:off x="841248" y="2258568"/>
            <a:ext cx="566928" cy="566928"/>
          </a:xfrm>
          <a:prstGeom prst="ellipse">
            <a:avLst/>
          </a:prstGeom>
          <a:solidFill>
            <a:srgbClr val="065A82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6" name="Image 0" descr="/home/claude/ibis-talk/icons/check.png">
            <a:extLst>
              <a:ext uri="{FF2B5EF4-FFF2-40B4-BE49-F238E27FC236}">
                <a16:creationId xmlns:a16="http://schemas.microsoft.com/office/drawing/2014/main" id="{2F6DE592-F95C-B0B1-3380-C472A598B9A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09279" y="2326599"/>
            <a:ext cx="430865" cy="430865"/>
          </a:xfrm>
          <a:prstGeom prst="rect">
            <a:avLst/>
          </a:prstGeom>
        </p:spPr>
      </p:pic>
      <p:sp>
        <p:nvSpPr>
          <p:cNvPr id="7" name="Text 4">
            <a:extLst>
              <a:ext uri="{FF2B5EF4-FFF2-40B4-BE49-F238E27FC236}">
                <a16:creationId xmlns:a16="http://schemas.microsoft.com/office/drawing/2014/main" id="{26C09F99-1CCF-4456-F372-2F5B587FC437}"/>
              </a:ext>
            </a:extLst>
          </p:cNvPr>
          <p:cNvSpPr txBox="1"/>
          <p:nvPr/>
        </p:nvSpPr>
        <p:spPr>
          <a:xfrm>
            <a:off x="1508760" y="2295144"/>
            <a:ext cx="4160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900" b="1" dirty="0">
                <a:solidFill>
                  <a:srgbClr val="2129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Great fit</a:t>
            </a:r>
            <a:endParaRPr lang="en-US" sz="1900" dirty="0"/>
          </a:p>
        </p:txBody>
      </p:sp>
      <p:sp>
        <p:nvSpPr>
          <p:cNvPr id="8" name="Text 5">
            <a:extLst>
              <a:ext uri="{FF2B5EF4-FFF2-40B4-BE49-F238E27FC236}">
                <a16:creationId xmlns:a16="http://schemas.microsoft.com/office/drawing/2014/main" id="{95BE177B-5E2E-42B3-4E1F-F8A5E2063A57}"/>
              </a:ext>
            </a:extLst>
          </p:cNvPr>
          <p:cNvSpPr txBox="1"/>
          <p:nvPr/>
        </p:nvSpPr>
        <p:spPr>
          <a:xfrm>
            <a:off x="914400" y="3017520"/>
            <a:ext cx="461772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5000"/>
              </a:lnSpc>
              <a:spcAft>
                <a:spcPts val="1200"/>
              </a:spcAft>
              <a:buSzPct val="100000"/>
              <a:buChar char="•"/>
            </a:pPr>
            <a:r>
              <a:rPr lang="en-US" sz="1400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Exploratory data analysis &amp; ad hoc queries</a:t>
            </a:r>
            <a:endParaRPr lang="en-US" sz="1400" dirty="0"/>
          </a:p>
          <a:p>
            <a:pPr marL="342900" indent="-342900">
              <a:lnSpc>
                <a:spcPct val="125000"/>
              </a:lnSpc>
              <a:spcAft>
                <a:spcPts val="1200"/>
              </a:spcAft>
              <a:buSzPct val="100000"/>
              <a:buChar char="•"/>
            </a:pPr>
            <a:r>
              <a:rPr lang="en-US" sz="1400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Cleaning and reshaping tabular data (ETL)</a:t>
            </a:r>
            <a:endParaRPr lang="en-US" sz="1400" dirty="0"/>
          </a:p>
          <a:p>
            <a:pPr marL="342900" indent="-342900">
              <a:lnSpc>
                <a:spcPct val="125000"/>
              </a:lnSpc>
              <a:spcAft>
                <a:spcPts val="1200"/>
              </a:spcAft>
              <a:buSzPct val="100000"/>
              <a:buChar char="•"/>
            </a:pPr>
            <a:r>
              <a:rPr lang="en-US" sz="1400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Feature engineering for ML models</a:t>
            </a:r>
            <a:endParaRPr lang="en-US" sz="1400" dirty="0"/>
          </a:p>
          <a:p>
            <a:pPr marL="342900" indent="-342900">
              <a:lnSpc>
                <a:spcPct val="125000"/>
              </a:lnSpc>
              <a:spcAft>
                <a:spcPts val="1200"/>
              </a:spcAft>
              <a:buSzPct val="100000"/>
              <a:buChar char="•"/>
            </a:pPr>
            <a:r>
              <a:rPr lang="en-US" sz="1400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Reporting &amp; analytics on structured data</a:t>
            </a:r>
            <a:endParaRPr lang="en-US" sz="1400" dirty="0"/>
          </a:p>
        </p:txBody>
      </p:sp>
      <p:sp>
        <p:nvSpPr>
          <p:cNvPr id="9" name="Shape 6">
            <a:extLst>
              <a:ext uri="{FF2B5EF4-FFF2-40B4-BE49-F238E27FC236}">
                <a16:creationId xmlns:a16="http://schemas.microsoft.com/office/drawing/2014/main" id="{04AC1AB7-A547-3A6C-B3B5-542EDFBB7429}"/>
              </a:ext>
            </a:extLst>
          </p:cNvPr>
          <p:cNvSpPr/>
          <p:nvPr/>
        </p:nvSpPr>
        <p:spPr>
          <a:xfrm>
            <a:off x="6263640" y="1965960"/>
            <a:ext cx="5349240" cy="4023360"/>
          </a:xfrm>
          <a:prstGeom prst="roundRect">
            <a:avLst>
              <a:gd name="adj" fmla="val 2273"/>
            </a:avLst>
          </a:prstGeom>
          <a:solidFill>
            <a:srgbClr val="EEF3F7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0" name="Shape 7">
            <a:extLst>
              <a:ext uri="{FF2B5EF4-FFF2-40B4-BE49-F238E27FC236}">
                <a16:creationId xmlns:a16="http://schemas.microsoft.com/office/drawing/2014/main" id="{DC944597-F38A-6E80-9023-AE8F8AF4E79C}"/>
              </a:ext>
            </a:extLst>
          </p:cNvPr>
          <p:cNvSpPr/>
          <p:nvPr/>
        </p:nvSpPr>
        <p:spPr>
          <a:xfrm>
            <a:off x="6556248" y="2258568"/>
            <a:ext cx="566928" cy="566928"/>
          </a:xfrm>
          <a:prstGeom prst="ellipse">
            <a:avLst/>
          </a:prstGeom>
          <a:solidFill>
            <a:srgbClr val="F2994A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11" name="Image 1" descr="/home/claude/ibis-talk/icons/exchange.png">
            <a:extLst>
              <a:ext uri="{FF2B5EF4-FFF2-40B4-BE49-F238E27FC236}">
                <a16:creationId xmlns:a16="http://schemas.microsoft.com/office/drawing/2014/main" id="{885B928E-9A63-86B6-C1E0-16778E9747F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24279" y="2326599"/>
            <a:ext cx="430865" cy="430865"/>
          </a:xfrm>
          <a:prstGeom prst="rect">
            <a:avLst/>
          </a:prstGeom>
        </p:spPr>
      </p:pic>
      <p:sp>
        <p:nvSpPr>
          <p:cNvPr id="12" name="Text 8">
            <a:extLst>
              <a:ext uri="{FF2B5EF4-FFF2-40B4-BE49-F238E27FC236}">
                <a16:creationId xmlns:a16="http://schemas.microsoft.com/office/drawing/2014/main" id="{386305DB-269B-26F6-1DF8-2ACD5B38F340}"/>
              </a:ext>
            </a:extLst>
          </p:cNvPr>
          <p:cNvSpPr txBox="1"/>
          <p:nvPr/>
        </p:nvSpPr>
        <p:spPr>
          <a:xfrm>
            <a:off x="7223760" y="2295144"/>
            <a:ext cx="4160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900" b="1" dirty="0">
                <a:solidFill>
                  <a:srgbClr val="2129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Reach for something else</a:t>
            </a:r>
            <a:endParaRPr lang="en-US" sz="1900" dirty="0"/>
          </a:p>
        </p:txBody>
      </p:sp>
      <p:sp>
        <p:nvSpPr>
          <p:cNvPr id="13" name="Text 9">
            <a:extLst>
              <a:ext uri="{FF2B5EF4-FFF2-40B4-BE49-F238E27FC236}">
                <a16:creationId xmlns:a16="http://schemas.microsoft.com/office/drawing/2014/main" id="{29FE98D2-AED3-1CC9-A976-5986F4561119}"/>
              </a:ext>
            </a:extLst>
          </p:cNvPr>
          <p:cNvSpPr txBox="1"/>
          <p:nvPr/>
        </p:nvSpPr>
        <p:spPr>
          <a:xfrm>
            <a:off x="6629400" y="3017520"/>
            <a:ext cx="461772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5000"/>
              </a:lnSpc>
              <a:spcAft>
                <a:spcPts val="1200"/>
              </a:spcAft>
              <a:buSzPct val="100000"/>
              <a:buChar char="•"/>
            </a:pPr>
            <a:r>
              <a:rPr lang="en-US" sz="1400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Deeply nested documents — flatten first, or use a document store</a:t>
            </a:r>
            <a:endParaRPr lang="en-US" sz="1400" dirty="0"/>
          </a:p>
          <a:p>
            <a:pPr marL="342900" indent="-342900">
              <a:lnSpc>
                <a:spcPct val="125000"/>
              </a:lnSpc>
              <a:spcAft>
                <a:spcPts val="1200"/>
              </a:spcAft>
              <a:buSzPct val="100000"/>
              <a:buChar char="•"/>
            </a:pPr>
            <a:r>
              <a:rPr lang="en-US" sz="1400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Free-form text, images, audio — NLP/CV tooling, tensors</a:t>
            </a:r>
            <a:endParaRPr lang="en-US" sz="1400" dirty="0"/>
          </a:p>
          <a:p>
            <a:pPr marL="342900" indent="-342900">
              <a:lnSpc>
                <a:spcPct val="125000"/>
              </a:lnSpc>
              <a:spcAft>
                <a:spcPts val="1200"/>
              </a:spcAft>
              <a:buSzPct val="100000"/>
              <a:buChar char="•"/>
            </a:pPr>
            <a:r>
              <a:rPr lang="en-US" sz="1400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Highly connected graph traversal — a graph database</a:t>
            </a:r>
            <a:endParaRPr lang="en-US" sz="1400" dirty="0"/>
          </a:p>
          <a:p>
            <a:pPr marL="342900" indent="-342900">
              <a:lnSpc>
                <a:spcPct val="125000"/>
              </a:lnSpc>
              <a:spcAft>
                <a:spcPts val="1200"/>
              </a:spcAft>
              <a:buSzPct val="100000"/>
              <a:buChar char="•"/>
            </a:pPr>
            <a:r>
              <a:rPr lang="en-US" sz="1400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Sub-millisecond single-row lookups — an OLTP database</a:t>
            </a:r>
            <a:endParaRPr lang="en-US" sz="1400" dirty="0"/>
          </a:p>
        </p:txBody>
      </p:sp>
      <p:sp>
        <p:nvSpPr>
          <p:cNvPr id="14" name="Text 10">
            <a:extLst>
              <a:ext uri="{FF2B5EF4-FFF2-40B4-BE49-F238E27FC236}">
                <a16:creationId xmlns:a16="http://schemas.microsoft.com/office/drawing/2014/main" id="{31485F44-7424-6476-21AB-4B0BA7549731}"/>
              </a:ext>
            </a:extLst>
          </p:cNvPr>
          <p:cNvSpPr txBox="1"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9AA6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Ibis: Bringing Optionality to Python Dataframes</a:t>
            </a:r>
            <a:endParaRPr lang="en-US" sz="900" dirty="0"/>
          </a:p>
        </p:txBody>
      </p:sp>
      <p:sp>
        <p:nvSpPr>
          <p:cNvPr id="15" name="Text 11">
            <a:extLst>
              <a:ext uri="{FF2B5EF4-FFF2-40B4-BE49-F238E27FC236}">
                <a16:creationId xmlns:a16="http://schemas.microsoft.com/office/drawing/2014/main" id="{66D79B66-FABA-BB55-3ABB-11D537D47C58}"/>
              </a:ext>
            </a:extLst>
          </p:cNvPr>
          <p:cNvSpPr txBox="1"/>
          <p:nvPr/>
        </p:nvSpPr>
        <p:spPr>
          <a:xfrm>
            <a:off x="11274552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9AA6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900" dirty="0"/>
          </a:p>
        </p:txBody>
      </p:sp>
    </p:spTree>
    <p:extLst>
      <p:ext uri="{BB962C8B-B14F-4D97-AF65-F5344CB8AC3E}">
        <p14:creationId xmlns:p14="http://schemas.microsoft.com/office/powerpoint/2010/main" val="367115722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kern="0" spc="20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PROBLEM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77240"/>
            <a:ext cx="9601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2129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Python </a:t>
            </a:r>
            <a:r>
              <a:rPr lang="en-US" sz="3200" b="1" dirty="0" err="1">
                <a:solidFill>
                  <a:srgbClr val="2129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dataframe</a:t>
            </a:r>
            <a:r>
              <a:rPr lang="en-US" sz="3200" b="1" dirty="0">
                <a:solidFill>
                  <a:srgbClr val="2129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libraries pick the engine for you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48640" y="1965960"/>
            <a:ext cx="2542032" cy="3246120"/>
          </a:xfrm>
          <a:prstGeom prst="roundRect">
            <a:avLst>
              <a:gd name="adj" fmla="val 3597"/>
            </a:avLst>
          </a:prstGeom>
          <a:solidFill>
            <a:srgbClr val="EEF3F7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1536192" y="2286000"/>
            <a:ext cx="566928" cy="566928"/>
          </a:xfrm>
          <a:prstGeom prst="ellipse">
            <a:avLst/>
          </a:prstGeom>
          <a:solidFill>
            <a:srgbClr val="065A82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6" name="Image 0" descr="/home/claude/ibis-talk/icons/databas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04223" y="2354031"/>
            <a:ext cx="430865" cy="430865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685800" y="3108960"/>
            <a:ext cx="226771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2129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pandas</a:t>
            </a:r>
            <a:endParaRPr lang="en-US" sz="1800" dirty="0"/>
          </a:p>
        </p:txBody>
      </p:sp>
      <p:sp>
        <p:nvSpPr>
          <p:cNvPr id="8" name="Text 5"/>
          <p:cNvSpPr txBox="1"/>
          <p:nvPr/>
        </p:nvSpPr>
        <p:spPr>
          <a:xfrm>
            <a:off x="749808" y="3657600"/>
            <a:ext cx="2139696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25000"/>
              </a:lnSpc>
              <a:buNone/>
            </a:pPr>
            <a:r>
              <a:rPr lang="en-US" sz="1250" dirty="0">
                <a:solidFill>
                  <a:srgbClr val="5C6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Single machine only.</a:t>
            </a:r>
            <a:endParaRPr lang="en-US" sz="1250" dirty="0"/>
          </a:p>
          <a:p>
            <a:pPr marL="0" indent="0" algn="ctr">
              <a:lnSpc>
                <a:spcPct val="125000"/>
              </a:lnSpc>
              <a:buNone/>
            </a:pPr>
            <a:r>
              <a:rPr lang="en-US" sz="1250" dirty="0">
                <a:solidFill>
                  <a:srgbClr val="5C6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Outgrow your laptop's memory? Rewrite.</a:t>
            </a:r>
            <a:endParaRPr lang="en-US" sz="1250" dirty="0"/>
          </a:p>
        </p:txBody>
      </p:sp>
      <p:sp>
        <p:nvSpPr>
          <p:cNvPr id="9" name="Shape 6"/>
          <p:cNvSpPr/>
          <p:nvPr/>
        </p:nvSpPr>
        <p:spPr>
          <a:xfrm>
            <a:off x="3346704" y="1965960"/>
            <a:ext cx="2542032" cy="3246120"/>
          </a:xfrm>
          <a:prstGeom prst="roundRect">
            <a:avLst>
              <a:gd name="adj" fmla="val 3597"/>
            </a:avLst>
          </a:prstGeom>
          <a:solidFill>
            <a:srgbClr val="EEF3F7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0" name="Shape 7"/>
          <p:cNvSpPr/>
          <p:nvPr/>
        </p:nvSpPr>
        <p:spPr>
          <a:xfrm>
            <a:off x="4334256" y="2286000"/>
            <a:ext cx="566928" cy="566928"/>
          </a:xfrm>
          <a:prstGeom prst="ellipse">
            <a:avLst/>
          </a:prstGeom>
          <a:solidFill>
            <a:srgbClr val="065A82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11" name="Image 1" descr="/home/claude/ibis-talk/icons/bol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402287" y="2354031"/>
            <a:ext cx="430865" cy="430865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3483864" y="3108960"/>
            <a:ext cx="226771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2129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Polars</a:t>
            </a:r>
            <a:endParaRPr lang="en-US" sz="1800" dirty="0"/>
          </a:p>
        </p:txBody>
      </p:sp>
      <p:sp>
        <p:nvSpPr>
          <p:cNvPr id="13" name="Text 9"/>
          <p:cNvSpPr txBox="1"/>
          <p:nvPr/>
        </p:nvSpPr>
        <p:spPr>
          <a:xfrm>
            <a:off x="3547872" y="3657600"/>
            <a:ext cx="2139696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25000"/>
              </a:lnSpc>
              <a:buNone/>
            </a:pPr>
            <a:r>
              <a:rPr lang="en-US" sz="1250" dirty="0">
                <a:solidFill>
                  <a:srgbClr val="5C6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Blazing fast locally.</a:t>
            </a:r>
            <a:endParaRPr lang="en-US" sz="1250" dirty="0"/>
          </a:p>
          <a:p>
            <a:pPr marL="0" indent="0" algn="ctr">
              <a:lnSpc>
                <a:spcPct val="125000"/>
              </a:lnSpc>
              <a:buNone/>
            </a:pPr>
            <a:r>
              <a:rPr lang="en-US" sz="1250" dirty="0">
                <a:solidFill>
                  <a:srgbClr val="5C6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built to hand off to a cluster.</a:t>
            </a:r>
            <a:endParaRPr lang="en-US" sz="1250" dirty="0"/>
          </a:p>
        </p:txBody>
      </p:sp>
      <p:sp>
        <p:nvSpPr>
          <p:cNvPr id="14" name="Shape 10"/>
          <p:cNvSpPr/>
          <p:nvPr/>
        </p:nvSpPr>
        <p:spPr>
          <a:xfrm>
            <a:off x="6144768" y="1965960"/>
            <a:ext cx="2542032" cy="3246120"/>
          </a:xfrm>
          <a:prstGeom prst="roundRect">
            <a:avLst>
              <a:gd name="adj" fmla="val 3597"/>
            </a:avLst>
          </a:prstGeom>
          <a:solidFill>
            <a:srgbClr val="EEF3F7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5" name="Shape 11"/>
          <p:cNvSpPr/>
          <p:nvPr/>
        </p:nvSpPr>
        <p:spPr>
          <a:xfrm>
            <a:off x="7132320" y="2286000"/>
            <a:ext cx="566928" cy="566928"/>
          </a:xfrm>
          <a:prstGeom prst="ellipse">
            <a:avLst/>
          </a:prstGeom>
          <a:solidFill>
            <a:srgbClr val="065A82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16" name="Image 2" descr="/home/claude/ibis-talk/icons/server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200351" y="2354031"/>
            <a:ext cx="430865" cy="430865"/>
          </a:xfrm>
          <a:prstGeom prst="rect">
            <a:avLst/>
          </a:prstGeom>
        </p:spPr>
      </p:pic>
      <p:sp>
        <p:nvSpPr>
          <p:cNvPr id="17" name="Text 12"/>
          <p:cNvSpPr txBox="1"/>
          <p:nvPr/>
        </p:nvSpPr>
        <p:spPr>
          <a:xfrm>
            <a:off x="6281928" y="3108960"/>
            <a:ext cx="226771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2129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PySpark</a:t>
            </a:r>
            <a:endParaRPr lang="en-US" sz="1800" dirty="0"/>
          </a:p>
        </p:txBody>
      </p:sp>
      <p:sp>
        <p:nvSpPr>
          <p:cNvPr id="18" name="Text 13"/>
          <p:cNvSpPr txBox="1"/>
          <p:nvPr/>
        </p:nvSpPr>
        <p:spPr>
          <a:xfrm>
            <a:off x="6345936" y="3657600"/>
            <a:ext cx="2139696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25000"/>
              </a:lnSpc>
              <a:buNone/>
            </a:pPr>
            <a:r>
              <a:rPr lang="en-US" sz="1250" dirty="0">
                <a:solidFill>
                  <a:srgbClr val="5C6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Scales to a cluster.</a:t>
            </a:r>
            <a:endParaRPr lang="en-US" sz="1250" dirty="0"/>
          </a:p>
          <a:p>
            <a:pPr marL="0" indent="0" algn="ctr">
              <a:lnSpc>
                <a:spcPct val="125000"/>
              </a:lnSpc>
              <a:buNone/>
            </a:pPr>
            <a:r>
              <a:rPr lang="en-US" sz="1250" dirty="0">
                <a:solidFill>
                  <a:srgbClr val="5C6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Overkill — and its own API — for small jobs.</a:t>
            </a:r>
            <a:endParaRPr lang="en-US" sz="1250" dirty="0"/>
          </a:p>
        </p:txBody>
      </p:sp>
      <p:sp>
        <p:nvSpPr>
          <p:cNvPr id="19" name="Shape 14"/>
          <p:cNvSpPr/>
          <p:nvPr/>
        </p:nvSpPr>
        <p:spPr>
          <a:xfrm>
            <a:off x="8942832" y="1965960"/>
            <a:ext cx="2542032" cy="3246120"/>
          </a:xfrm>
          <a:prstGeom prst="roundRect">
            <a:avLst>
              <a:gd name="adj" fmla="val 3597"/>
            </a:avLst>
          </a:prstGeom>
          <a:solidFill>
            <a:srgbClr val="EEF3F7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0" name="Shape 15"/>
          <p:cNvSpPr/>
          <p:nvPr/>
        </p:nvSpPr>
        <p:spPr>
          <a:xfrm>
            <a:off x="9930384" y="2286000"/>
            <a:ext cx="566928" cy="566928"/>
          </a:xfrm>
          <a:prstGeom prst="ellipse">
            <a:avLst/>
          </a:prstGeom>
          <a:solidFill>
            <a:srgbClr val="065A82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21" name="Image 3" descr="/home/claude/ibis-talk/icons/lock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998415" y="2354031"/>
            <a:ext cx="430865" cy="430865"/>
          </a:xfrm>
          <a:prstGeom prst="rect">
            <a:avLst/>
          </a:prstGeom>
        </p:spPr>
      </p:pic>
      <p:sp>
        <p:nvSpPr>
          <p:cNvPr id="22" name="Text 16"/>
          <p:cNvSpPr txBox="1"/>
          <p:nvPr/>
        </p:nvSpPr>
        <p:spPr>
          <a:xfrm>
            <a:off x="9079992" y="3108960"/>
            <a:ext cx="226771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2129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Warehouse Specific</a:t>
            </a:r>
            <a:endParaRPr lang="en-US" sz="1800" dirty="0"/>
          </a:p>
        </p:txBody>
      </p:sp>
      <p:sp>
        <p:nvSpPr>
          <p:cNvPr id="23" name="Text 17"/>
          <p:cNvSpPr txBox="1"/>
          <p:nvPr/>
        </p:nvSpPr>
        <p:spPr>
          <a:xfrm>
            <a:off x="9144000" y="3657600"/>
            <a:ext cx="2139696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25000"/>
              </a:lnSpc>
              <a:buNone/>
            </a:pPr>
            <a:r>
              <a:rPr lang="en-US" sz="1250" dirty="0">
                <a:solidFill>
                  <a:srgbClr val="5C6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have SQL.</a:t>
            </a:r>
          </a:p>
          <a:p>
            <a:pPr marL="0" indent="0" algn="ctr">
              <a:lnSpc>
                <a:spcPct val="125000"/>
              </a:lnSpc>
              <a:buNone/>
            </a:pPr>
            <a:r>
              <a:rPr lang="en-US" sz="1250" dirty="0">
                <a:solidFill>
                  <a:srgbClr val="5C6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Some have a</a:t>
            </a:r>
            <a:r>
              <a:rPr lang="en-US" sz="1250" dirty="0"/>
              <a:t> </a:t>
            </a:r>
            <a:r>
              <a:rPr lang="en-US" sz="1250" dirty="0">
                <a:solidFill>
                  <a:srgbClr val="5C6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proprietary </a:t>
            </a:r>
            <a:r>
              <a:rPr lang="en-US" sz="1250" dirty="0" err="1">
                <a:solidFill>
                  <a:srgbClr val="5C6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dataframe</a:t>
            </a:r>
            <a:r>
              <a:rPr lang="en-US" sz="1250" dirty="0">
                <a:solidFill>
                  <a:srgbClr val="5C6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API.</a:t>
            </a:r>
            <a:endParaRPr lang="en-US" sz="1250" dirty="0"/>
          </a:p>
        </p:txBody>
      </p:sp>
      <p:sp>
        <p:nvSpPr>
          <p:cNvPr id="24" name="Text 18"/>
          <p:cNvSpPr txBox="1"/>
          <p:nvPr/>
        </p:nvSpPr>
        <p:spPr>
          <a:xfrm>
            <a:off x="548640" y="5532120"/>
            <a:ext cx="10241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50" i="1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Whichever you pick, switching later means rewriting your code from scratch or at least a hefty porting effort.</a:t>
            </a:r>
            <a:endParaRPr lang="en-US" sz="1550" dirty="0"/>
          </a:p>
        </p:txBody>
      </p:sp>
      <p:sp>
        <p:nvSpPr>
          <p:cNvPr id="25" name="Text 19"/>
          <p:cNvSpPr txBox="1"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9AA6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Ibis: Bringing Optionality to Python Dataframes</a:t>
            </a:r>
            <a:endParaRPr lang="en-US" sz="900" dirty="0"/>
          </a:p>
        </p:txBody>
      </p:sp>
      <p:sp>
        <p:nvSpPr>
          <p:cNvPr id="26" name="Text 20"/>
          <p:cNvSpPr txBox="1"/>
          <p:nvPr/>
        </p:nvSpPr>
        <p:spPr>
          <a:xfrm>
            <a:off x="11274552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9AA6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21295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280160" y="4206240"/>
            <a:ext cx="3657600" cy="3657600"/>
          </a:xfrm>
          <a:prstGeom prst="ellipse">
            <a:avLst/>
          </a:prstGeom>
          <a:solidFill>
            <a:srgbClr val="065A82">
              <a:alpha val="55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 txBox="1"/>
          <p:nvPr/>
        </p:nvSpPr>
        <p:spPr>
          <a:xfrm>
            <a:off x="548640" y="45720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kern="0" spc="200" dirty="0">
                <a:solidFill>
                  <a:srgbClr val="9FB3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IDEA</a:t>
            </a:r>
            <a:endParaRPr lang="en-US" sz="13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777240"/>
            <a:ext cx="9601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if you didn't have to choose?</a:t>
            </a:r>
            <a:endParaRPr lang="en-US" sz="34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1965960"/>
            <a:ext cx="630936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35000"/>
              </a:lnSpc>
              <a:buNone/>
            </a:pPr>
            <a:r>
              <a:rPr lang="en-US" sz="1700" dirty="0">
                <a:solidFill>
                  <a:srgbClr val="E7EE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Ibis is one Python dataframe API that runs on </a:t>
            </a:r>
            <a:r>
              <a:rPr lang="en-US" sz="1700" b="1" dirty="0">
                <a:solidFill>
                  <a:srgbClr val="F299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greater than 20 backend engines</a:t>
            </a:r>
            <a:r>
              <a:rPr lang="en-US" sz="1700" dirty="0">
                <a:solidFill>
                  <a:srgbClr val="E7EE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DuckDB, Polars, Trino, Snowflake, BigQuery, PySpark, Postgres, and more.</a:t>
            </a:r>
            <a:endParaRPr lang="en-US" sz="17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3429000"/>
            <a:ext cx="6035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1450" i="1" dirty="0">
                <a:solidFill>
                  <a:srgbClr val="9FB3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Learn the API once. Point it at whichever engine the job calls for — today, and again next year.</a:t>
            </a:r>
            <a:endParaRPr lang="en-US" sz="1450" dirty="0"/>
          </a:p>
        </p:txBody>
      </p:sp>
      <p:sp>
        <p:nvSpPr>
          <p:cNvPr id="7" name="Shape 5"/>
          <p:cNvSpPr/>
          <p:nvPr/>
        </p:nvSpPr>
        <p:spPr>
          <a:xfrm>
            <a:off x="7315200" y="1828800"/>
            <a:ext cx="4297680" cy="3566160"/>
          </a:xfrm>
          <a:prstGeom prst="roundRect">
            <a:avLst>
              <a:gd name="adj" fmla="val 3077"/>
            </a:avLst>
          </a:prstGeom>
          <a:solidFill>
            <a:srgbClr val="1B245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 txBox="1"/>
          <p:nvPr/>
        </p:nvSpPr>
        <p:spPr>
          <a:xfrm>
            <a:off x="7315200" y="2331720"/>
            <a:ext cx="42976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200" b="1" dirty="0">
                <a:solidFill>
                  <a:srgbClr val="F299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20+</a:t>
            </a:r>
            <a:endParaRPr lang="en-US" sz="7200" dirty="0"/>
          </a:p>
        </p:txBody>
      </p:sp>
      <p:sp>
        <p:nvSpPr>
          <p:cNvPr id="9" name="Text 7"/>
          <p:cNvSpPr txBox="1"/>
          <p:nvPr/>
        </p:nvSpPr>
        <p:spPr>
          <a:xfrm>
            <a:off x="7315200" y="3520440"/>
            <a:ext cx="4297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backends, one API</a:t>
            </a:r>
            <a:endParaRPr lang="en-US" sz="1600" dirty="0"/>
          </a:p>
        </p:txBody>
      </p:sp>
      <p:sp>
        <p:nvSpPr>
          <p:cNvPr id="10" name="Text 8"/>
          <p:cNvSpPr txBox="1"/>
          <p:nvPr/>
        </p:nvSpPr>
        <p:spPr>
          <a:xfrm>
            <a:off x="7589520" y="4114800"/>
            <a:ext cx="37490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40000"/>
              </a:lnSpc>
              <a:buNone/>
            </a:pPr>
            <a:r>
              <a:rPr lang="en-US" sz="1250" dirty="0">
                <a:solidFill>
                  <a:srgbClr val="9FB3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DuckDB · Polars · Trino · Spark</a:t>
            </a:r>
            <a:endParaRPr lang="en-US" sz="1250" dirty="0"/>
          </a:p>
          <a:p>
            <a:pPr marL="0" indent="0" algn="ctr">
              <a:lnSpc>
                <a:spcPct val="140000"/>
              </a:lnSpc>
              <a:buNone/>
            </a:pPr>
            <a:r>
              <a:rPr lang="en-US" sz="1250" dirty="0">
                <a:solidFill>
                  <a:srgbClr val="9FB3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Snowflake · BigQuery · Postgres …</a:t>
            </a:r>
            <a:endParaRPr lang="en-US" sz="1250" dirty="0"/>
          </a:p>
        </p:txBody>
      </p:sp>
      <p:sp>
        <p:nvSpPr>
          <p:cNvPr id="11" name="Text 9"/>
          <p:cNvSpPr txBox="1"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9FB3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Ibis: Bringing Optionality to Python Dataframes</a:t>
            </a:r>
            <a:endParaRPr lang="en-US" sz="900" dirty="0"/>
          </a:p>
        </p:txBody>
      </p:sp>
      <p:sp>
        <p:nvSpPr>
          <p:cNvPr id="12" name="Text 10"/>
          <p:cNvSpPr txBox="1"/>
          <p:nvPr/>
        </p:nvSpPr>
        <p:spPr>
          <a:xfrm>
            <a:off x="11274552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9FB3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kern="0" spc="20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UNDER THE HOOD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77240"/>
            <a:ext cx="9601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2129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Your code compiles to wherever your data lives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640080" y="2331720"/>
            <a:ext cx="2331720" cy="2286000"/>
          </a:xfrm>
          <a:prstGeom prst="roundRect">
            <a:avLst>
              <a:gd name="adj" fmla="val 4000"/>
            </a:avLst>
          </a:prstGeom>
          <a:solidFill>
            <a:srgbClr val="EEF3F7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1504188" y="2624328"/>
            <a:ext cx="603504" cy="603504"/>
          </a:xfrm>
          <a:prstGeom prst="ellipse">
            <a:avLst/>
          </a:prstGeom>
          <a:solidFill>
            <a:srgbClr val="065A82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6" name="Image 0" descr="/home/claude/ibis-talk/icons/cod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76608" y="2696748"/>
            <a:ext cx="458663" cy="458663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731520" y="3429000"/>
            <a:ext cx="21488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20000"/>
              </a:lnSpc>
              <a:buNone/>
            </a:pPr>
            <a:r>
              <a:rPr lang="en-US" sz="1450" b="1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write</a:t>
            </a:r>
            <a:endParaRPr lang="en-US" sz="1450" dirty="0"/>
          </a:p>
          <a:p>
            <a:pPr marL="0" indent="0" algn="ctr">
              <a:lnSpc>
                <a:spcPct val="120000"/>
              </a:lnSpc>
              <a:buNone/>
            </a:pPr>
            <a:r>
              <a:rPr lang="en-US" sz="1450" b="1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Python</a:t>
            </a:r>
            <a:endParaRPr lang="en-US" sz="1450" dirty="0"/>
          </a:p>
        </p:txBody>
      </p:sp>
      <p:sp>
        <p:nvSpPr>
          <p:cNvPr id="8" name="Text 5"/>
          <p:cNvSpPr txBox="1"/>
          <p:nvPr/>
        </p:nvSpPr>
        <p:spPr>
          <a:xfrm>
            <a:off x="2971800" y="3154680"/>
            <a:ext cx="38404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60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600" dirty="0"/>
          </a:p>
        </p:txBody>
      </p:sp>
      <p:sp>
        <p:nvSpPr>
          <p:cNvPr id="9" name="Shape 6"/>
          <p:cNvSpPr/>
          <p:nvPr/>
        </p:nvSpPr>
        <p:spPr>
          <a:xfrm>
            <a:off x="3355848" y="2331720"/>
            <a:ext cx="2331720" cy="2286000"/>
          </a:xfrm>
          <a:prstGeom prst="roundRect">
            <a:avLst>
              <a:gd name="adj" fmla="val 4000"/>
            </a:avLst>
          </a:prstGeom>
          <a:solidFill>
            <a:srgbClr val="EEF3F7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0" name="Shape 7"/>
          <p:cNvSpPr/>
          <p:nvPr/>
        </p:nvSpPr>
        <p:spPr>
          <a:xfrm>
            <a:off x="4219956" y="2624328"/>
            <a:ext cx="603504" cy="603504"/>
          </a:xfrm>
          <a:prstGeom prst="ellipse">
            <a:avLst/>
          </a:prstGeom>
          <a:solidFill>
            <a:srgbClr val="065A82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11" name="Image 1" descr="/home/claude/ibis-talk/icons/layer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292376" y="2696748"/>
            <a:ext cx="458663" cy="458663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3447288" y="3429000"/>
            <a:ext cx="21488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20000"/>
              </a:lnSpc>
              <a:buNone/>
            </a:pPr>
            <a:r>
              <a:rPr lang="en-US" sz="1450" b="1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Ibis builds a</a:t>
            </a:r>
            <a:endParaRPr lang="en-US" sz="1450" dirty="0"/>
          </a:p>
          <a:p>
            <a:pPr marL="0" indent="0" algn="ctr">
              <a:lnSpc>
                <a:spcPct val="120000"/>
              </a:lnSpc>
              <a:buNone/>
            </a:pPr>
            <a:r>
              <a:rPr lang="en-US" sz="1450" b="1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lazy expression</a:t>
            </a:r>
            <a:endParaRPr lang="en-US" sz="1450" dirty="0"/>
          </a:p>
        </p:txBody>
      </p:sp>
      <p:sp>
        <p:nvSpPr>
          <p:cNvPr id="13" name="Text 9"/>
          <p:cNvSpPr txBox="1"/>
          <p:nvPr/>
        </p:nvSpPr>
        <p:spPr>
          <a:xfrm>
            <a:off x="5687568" y="3154680"/>
            <a:ext cx="38404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60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600" dirty="0"/>
          </a:p>
        </p:txBody>
      </p:sp>
      <p:sp>
        <p:nvSpPr>
          <p:cNvPr id="14" name="Shape 10"/>
          <p:cNvSpPr/>
          <p:nvPr/>
        </p:nvSpPr>
        <p:spPr>
          <a:xfrm>
            <a:off x="6071616" y="2331720"/>
            <a:ext cx="2331720" cy="2286000"/>
          </a:xfrm>
          <a:prstGeom prst="roundRect">
            <a:avLst>
              <a:gd name="adj" fmla="val 4000"/>
            </a:avLst>
          </a:prstGeom>
          <a:solidFill>
            <a:srgbClr val="EEF3F7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5" name="Shape 11"/>
          <p:cNvSpPr/>
          <p:nvPr/>
        </p:nvSpPr>
        <p:spPr>
          <a:xfrm>
            <a:off x="6935724" y="2624328"/>
            <a:ext cx="603504" cy="603504"/>
          </a:xfrm>
          <a:prstGeom prst="ellipse">
            <a:avLst/>
          </a:prstGeom>
          <a:solidFill>
            <a:srgbClr val="065A82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16" name="Image 2" descr="/home/claude/ibis-talk/icons/exchan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008144" y="2696748"/>
            <a:ext cx="458663" cy="458663"/>
          </a:xfrm>
          <a:prstGeom prst="rect">
            <a:avLst/>
          </a:prstGeom>
        </p:spPr>
      </p:pic>
      <p:sp>
        <p:nvSpPr>
          <p:cNvPr id="17" name="Text 12"/>
          <p:cNvSpPr txBox="1"/>
          <p:nvPr/>
        </p:nvSpPr>
        <p:spPr>
          <a:xfrm>
            <a:off x="6163056" y="3429000"/>
            <a:ext cx="21488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20000"/>
              </a:lnSpc>
              <a:buNone/>
            </a:pPr>
            <a:r>
              <a:rPr lang="en-US" sz="1450" b="1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Compiled to the</a:t>
            </a:r>
            <a:endParaRPr lang="en-US" sz="1450" dirty="0"/>
          </a:p>
          <a:p>
            <a:pPr marL="0" indent="0" algn="ctr">
              <a:lnSpc>
                <a:spcPct val="120000"/>
              </a:lnSpc>
              <a:buNone/>
            </a:pPr>
            <a:r>
              <a:rPr lang="en-US" sz="1450" b="1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backend's language</a:t>
            </a:r>
            <a:endParaRPr lang="en-US" sz="1450" dirty="0"/>
          </a:p>
        </p:txBody>
      </p:sp>
      <p:sp>
        <p:nvSpPr>
          <p:cNvPr id="18" name="Text 13"/>
          <p:cNvSpPr txBox="1"/>
          <p:nvPr/>
        </p:nvSpPr>
        <p:spPr>
          <a:xfrm>
            <a:off x="8403336" y="3154680"/>
            <a:ext cx="38404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60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600" dirty="0"/>
          </a:p>
        </p:txBody>
      </p:sp>
      <p:sp>
        <p:nvSpPr>
          <p:cNvPr id="19" name="Shape 14"/>
          <p:cNvSpPr/>
          <p:nvPr/>
        </p:nvSpPr>
        <p:spPr>
          <a:xfrm>
            <a:off x="8787384" y="2331720"/>
            <a:ext cx="2331720" cy="2286000"/>
          </a:xfrm>
          <a:prstGeom prst="roundRect">
            <a:avLst>
              <a:gd name="adj" fmla="val 4000"/>
            </a:avLst>
          </a:prstGeom>
          <a:solidFill>
            <a:srgbClr val="EEF3F7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0" name="Shape 15"/>
          <p:cNvSpPr/>
          <p:nvPr/>
        </p:nvSpPr>
        <p:spPr>
          <a:xfrm>
            <a:off x="9651492" y="2624328"/>
            <a:ext cx="603504" cy="603504"/>
          </a:xfrm>
          <a:prstGeom prst="ellipse">
            <a:avLst/>
          </a:prstGeom>
          <a:solidFill>
            <a:srgbClr val="F2994A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21" name="Image 3" descr="/home/claude/ibis-talk/icons/server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723912" y="2696748"/>
            <a:ext cx="458663" cy="458663"/>
          </a:xfrm>
          <a:prstGeom prst="rect">
            <a:avLst/>
          </a:prstGeom>
        </p:spPr>
      </p:pic>
      <p:sp>
        <p:nvSpPr>
          <p:cNvPr id="22" name="Text 16"/>
          <p:cNvSpPr txBox="1"/>
          <p:nvPr/>
        </p:nvSpPr>
        <p:spPr>
          <a:xfrm>
            <a:off x="8878824" y="3429000"/>
            <a:ext cx="21488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20000"/>
              </a:lnSpc>
              <a:buNone/>
            </a:pPr>
            <a:r>
              <a:rPr lang="en-US" sz="1450" b="1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Executed where</a:t>
            </a:r>
            <a:endParaRPr lang="en-US" sz="1450" dirty="0"/>
          </a:p>
          <a:p>
            <a:pPr marL="0" indent="0" algn="ctr">
              <a:lnSpc>
                <a:spcPct val="120000"/>
              </a:lnSpc>
              <a:buNone/>
            </a:pPr>
            <a:r>
              <a:rPr lang="en-US" sz="1450" b="1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data lives</a:t>
            </a:r>
            <a:endParaRPr lang="en-US" sz="1450" dirty="0"/>
          </a:p>
        </p:txBody>
      </p:sp>
      <p:sp>
        <p:nvSpPr>
          <p:cNvPr id="23" name="Text 17"/>
          <p:cNvSpPr txBox="1"/>
          <p:nvPr/>
        </p:nvSpPr>
        <p:spPr>
          <a:xfrm>
            <a:off x="640080" y="5074920"/>
            <a:ext cx="7680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5C6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Nothing touches your data until you call </a:t>
            </a:r>
            <a:endParaRPr lang="en-US" sz="1500" dirty="0"/>
          </a:p>
        </p:txBody>
      </p:sp>
      <p:sp>
        <p:nvSpPr>
          <p:cNvPr id="24" name="Text 18"/>
          <p:cNvSpPr txBox="1"/>
          <p:nvPr/>
        </p:nvSpPr>
        <p:spPr>
          <a:xfrm>
            <a:off x="4434840" y="5074920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065A8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.execute()</a:t>
            </a:r>
            <a:endParaRPr lang="en-US" sz="1500" dirty="0"/>
          </a:p>
        </p:txBody>
      </p:sp>
      <p:sp>
        <p:nvSpPr>
          <p:cNvPr id="25" name="Text 19"/>
          <p:cNvSpPr txBox="1"/>
          <p:nvPr/>
        </p:nvSpPr>
        <p:spPr>
          <a:xfrm>
            <a:off x="6172200" y="5074920"/>
            <a:ext cx="4114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5C6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500" i="1" dirty="0">
                <a:solidFill>
                  <a:srgbClr val="5C6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this is lazy execution</a:t>
            </a:r>
            <a:endParaRPr lang="en-US" sz="1500" i="1" dirty="0"/>
          </a:p>
        </p:txBody>
      </p:sp>
      <p:sp>
        <p:nvSpPr>
          <p:cNvPr id="26" name="Text 20"/>
          <p:cNvSpPr txBox="1"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9AA6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Ibis: Bringing Optionality to Python Dataframes</a:t>
            </a:r>
            <a:endParaRPr lang="en-US" sz="900" dirty="0"/>
          </a:p>
        </p:txBody>
      </p:sp>
      <p:sp>
        <p:nvSpPr>
          <p:cNvPr id="27" name="Text 21"/>
          <p:cNvSpPr txBox="1"/>
          <p:nvPr/>
        </p:nvSpPr>
        <p:spPr>
          <a:xfrm>
            <a:off x="11274552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9AA6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kern="0" spc="20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API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77240"/>
            <a:ext cx="9601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2129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handful of verbs cover almost everything</a:t>
            </a:r>
            <a:endParaRPr lang="en-US" sz="32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280839001"/>
              </p:ext>
            </p:extLst>
          </p:nvPr>
        </p:nvGraphicFramePr>
        <p:xfrm>
          <a:off x="548640" y="1920240"/>
          <a:ext cx="11064240" cy="4352544"/>
        </p:xfrm>
        <a:graphic>
          <a:graphicData uri="http://schemas.openxmlformats.org/drawingml/2006/table">
            <a:tbl>
              <a:tblPr/>
              <a:tblGrid>
                <a:gridCol w="40233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02336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0175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62179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Ibis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65A8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What it does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65A8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Feels like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65A8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2179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50" dirty="0">
                          <a:solidFill>
                            <a:srgbClr val="21295C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select(...)</a:t>
                      </a:r>
                      <a:endParaRPr lang="en-US" sz="13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50">
                          <a:solidFill>
                            <a:srgbClr val="21295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Identify  </a:t>
                      </a:r>
                      <a:r>
                        <a:rPr lang="en-US" sz="1350" dirty="0">
                          <a:solidFill>
                            <a:srgbClr val="21295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columns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50" i="1" dirty="0">
                          <a:solidFill>
                            <a:srgbClr val="5C6B8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SQL SELECT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62179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50" dirty="0">
                          <a:solidFill>
                            <a:srgbClr val="21295C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filter(...)</a:t>
                      </a:r>
                      <a:endParaRPr lang="en-US" sz="13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50" dirty="0">
                          <a:solidFill>
                            <a:srgbClr val="21295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Keep matching rows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50" i="1" dirty="0">
                          <a:solidFill>
                            <a:srgbClr val="5C6B8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SQL WHERE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62179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50" dirty="0">
                          <a:solidFill>
                            <a:srgbClr val="21295C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mutate(...)</a:t>
                      </a:r>
                      <a:endParaRPr lang="en-US" sz="13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50" dirty="0">
                          <a:solidFill>
                            <a:srgbClr val="21295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Add or modify a column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50" i="1" dirty="0">
                          <a:solidFill>
                            <a:srgbClr val="5C6B8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computed column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62179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50" dirty="0">
                          <a:solidFill>
                            <a:srgbClr val="21295C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group_by(...).aggregate(...)</a:t>
                      </a:r>
                      <a:endParaRPr lang="en-US" sz="13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50" dirty="0">
                          <a:solidFill>
                            <a:srgbClr val="21295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Summarize groups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50" i="1" dirty="0">
                          <a:solidFill>
                            <a:srgbClr val="5C6B8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SQL GROUP BY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62179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50" dirty="0">
                          <a:solidFill>
                            <a:srgbClr val="21295C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order_by(...)</a:t>
                      </a:r>
                      <a:endParaRPr lang="en-US" sz="13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50" dirty="0">
                          <a:solidFill>
                            <a:srgbClr val="21295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Sort rows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50" i="1" dirty="0">
                          <a:solidFill>
                            <a:srgbClr val="5C6B8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SQL ORDER BY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62179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50" dirty="0">
                          <a:solidFill>
                            <a:srgbClr val="21295C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join(...)</a:t>
                      </a:r>
                      <a:endParaRPr lang="en-US" sz="13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50" dirty="0">
                          <a:solidFill>
                            <a:srgbClr val="21295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Combine tables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50" i="1" dirty="0">
                          <a:solidFill>
                            <a:srgbClr val="5C6B8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SQL JOIN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5" name="Text 2"/>
          <p:cNvSpPr txBox="1"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9AA6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Ibis: Bringing Optionality to Python Dataframes</a:t>
            </a:r>
            <a:endParaRPr lang="en-US" sz="900" dirty="0"/>
          </a:p>
        </p:txBody>
      </p:sp>
      <p:sp>
        <p:nvSpPr>
          <p:cNvPr id="6" name="Text 3"/>
          <p:cNvSpPr txBox="1"/>
          <p:nvPr/>
        </p:nvSpPr>
        <p:spPr>
          <a:xfrm>
            <a:off x="11274552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9AA6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kern="0" spc="20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IT COMPARES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77240"/>
            <a:ext cx="9601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2129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Ibis vs. the dataframe libraries you already know</a:t>
            </a:r>
            <a:endParaRPr lang="en-US" sz="32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965960"/>
          <a:ext cx="11064240" cy="3950208"/>
        </p:xfrm>
        <a:graphic>
          <a:graphicData uri="http://schemas.openxmlformats.org/drawingml/2006/table">
            <a:tbl>
              <a:tblPr/>
              <a:tblGrid>
                <a:gridCol w="3657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73736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73736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73736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19456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65836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1295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pandas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1295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Polars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1295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PySpark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1295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Ibis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994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5836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350" dirty="0">
                          <a:solidFill>
                            <a:srgbClr val="21295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One API, many engines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50" dirty="0">
                          <a:solidFill>
                            <a:srgbClr val="21295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50" dirty="0">
                          <a:solidFill>
                            <a:srgbClr val="21295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50" dirty="0">
                          <a:solidFill>
                            <a:srgbClr val="21295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50" b="1" dirty="0">
                          <a:solidFill>
                            <a:srgbClr val="065A8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Yes — 20+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F0F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65836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350" dirty="0">
                          <a:solidFill>
                            <a:srgbClr val="21295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Runs locally, no server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50" dirty="0">
                          <a:solidFill>
                            <a:srgbClr val="21295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Yes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50" dirty="0">
                          <a:solidFill>
                            <a:srgbClr val="21295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Yes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50" dirty="0">
                          <a:solidFill>
                            <a:srgbClr val="21295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Limited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50" b="1" dirty="0">
                          <a:solidFill>
                            <a:srgbClr val="065A8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Yes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F0F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65836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350" dirty="0">
                          <a:solidFill>
                            <a:srgbClr val="21295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Scales to a cluster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50" dirty="0">
                          <a:solidFill>
                            <a:srgbClr val="21295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50" dirty="0">
                          <a:solidFill>
                            <a:srgbClr val="21295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Not natively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50" dirty="0">
                          <a:solidFill>
                            <a:srgbClr val="21295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Yes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50" b="1" dirty="0">
                          <a:solidFill>
                            <a:srgbClr val="065A8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Yes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F0F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65836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350" dirty="0">
                          <a:solidFill>
                            <a:srgbClr val="21295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Mixes SQL + dataframe code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50" dirty="0">
                          <a:solidFill>
                            <a:srgbClr val="21295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50" dirty="0">
                          <a:solidFill>
                            <a:srgbClr val="21295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Partial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50" dirty="0">
                          <a:solidFill>
                            <a:srgbClr val="21295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Yes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50" b="1" dirty="0">
                          <a:solidFill>
                            <a:srgbClr val="065A8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Yes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F0F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65836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350" dirty="0">
                          <a:solidFill>
                            <a:srgbClr val="21295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Swap engines, keep your code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50" dirty="0">
                          <a:solidFill>
                            <a:srgbClr val="21295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50" dirty="0">
                          <a:solidFill>
                            <a:srgbClr val="21295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50" dirty="0">
                          <a:solidFill>
                            <a:srgbClr val="21295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50" b="1" dirty="0">
                          <a:solidFill>
                            <a:srgbClr val="065A8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Yes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F0F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5" name="Text 2"/>
          <p:cNvSpPr txBox="1"/>
          <p:nvPr/>
        </p:nvSpPr>
        <p:spPr>
          <a:xfrm>
            <a:off x="548640" y="612648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i="1" dirty="0">
                <a:solidFill>
                  <a:srgbClr val="5C6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“Partial” / “limited” = supported in some form, but not the library's core design center.</a:t>
            </a:r>
            <a:endParaRPr lang="en-US" sz="1150" dirty="0"/>
          </a:p>
        </p:txBody>
      </p:sp>
      <p:sp>
        <p:nvSpPr>
          <p:cNvPr id="6" name="Text 3"/>
          <p:cNvSpPr txBox="1"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9AA6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Ibis: Bringing Optionality to Python Dataframes</a:t>
            </a:r>
            <a:endParaRPr lang="en-US" sz="900" dirty="0"/>
          </a:p>
        </p:txBody>
      </p:sp>
      <p:sp>
        <p:nvSpPr>
          <p:cNvPr id="7" name="Text 4"/>
          <p:cNvSpPr txBox="1"/>
          <p:nvPr/>
        </p:nvSpPr>
        <p:spPr>
          <a:xfrm>
            <a:off x="11274552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9AA6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kern="0" spc="20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SIDE BY SIDE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77240"/>
            <a:ext cx="9601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2129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Filtering rows, four APIs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965960"/>
            <a:ext cx="2596896" cy="420624"/>
          </a:xfrm>
          <a:prstGeom prst="roundRect">
            <a:avLst>
              <a:gd name="adj" fmla="val 17391"/>
            </a:avLst>
          </a:prstGeom>
          <a:solidFill>
            <a:srgbClr val="21295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 txBox="1"/>
          <p:nvPr/>
        </p:nvSpPr>
        <p:spPr>
          <a:xfrm>
            <a:off x="548640" y="1965960"/>
            <a:ext cx="259689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pandas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548640" y="2532888"/>
            <a:ext cx="2596896" cy="2679192"/>
          </a:xfrm>
          <a:prstGeom prst="roundRect">
            <a:avLst>
              <a:gd name="adj" fmla="val 2817"/>
            </a:avLst>
          </a:prstGeom>
          <a:solidFill>
            <a:srgbClr val="37415E"/>
          </a:solidFill>
          <a:ln/>
          <a:effectLst>
            <a:outerShdw blurRad="76200" dist="25400" dir="5400000" algn="bl" rotWithShape="0">
              <a:srgbClr val="000000">
                <a:alpha val="2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 txBox="1"/>
          <p:nvPr/>
        </p:nvSpPr>
        <p:spPr>
          <a:xfrm>
            <a:off x="804672" y="2734056"/>
            <a:ext cx="2084832" cy="22768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E7EE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df[</a:t>
            </a:r>
            <a:endParaRPr lang="en-US" sz="1200" dirty="0"/>
          </a:p>
          <a:p>
            <a:pPr marL="0" indent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E7EE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df.mass &gt; </a:t>
            </a:r>
            <a:r>
              <a:rPr lang="en-US" sz="1200" dirty="0">
                <a:solidFill>
                  <a:srgbClr val="B5CE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4000</a:t>
            </a:r>
            <a:endParaRPr lang="en-US" sz="1200" dirty="0"/>
          </a:p>
          <a:p>
            <a:pPr marL="0" indent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E7EE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]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3364992" y="1965960"/>
            <a:ext cx="2596896" cy="420624"/>
          </a:xfrm>
          <a:prstGeom prst="roundRect">
            <a:avLst>
              <a:gd name="adj" fmla="val 17391"/>
            </a:avLst>
          </a:prstGeom>
          <a:solidFill>
            <a:srgbClr val="21295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9" name="Text 7"/>
          <p:cNvSpPr txBox="1"/>
          <p:nvPr/>
        </p:nvSpPr>
        <p:spPr>
          <a:xfrm>
            <a:off x="3364992" y="1965960"/>
            <a:ext cx="259689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Polars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3364992" y="2532888"/>
            <a:ext cx="2596896" cy="2679192"/>
          </a:xfrm>
          <a:prstGeom prst="roundRect">
            <a:avLst>
              <a:gd name="adj" fmla="val 2817"/>
            </a:avLst>
          </a:prstGeom>
          <a:solidFill>
            <a:srgbClr val="37415E"/>
          </a:solidFill>
          <a:ln/>
          <a:effectLst>
            <a:outerShdw blurRad="76200" dist="25400" dir="5400000" algn="bl" rotWithShape="0">
              <a:srgbClr val="000000">
                <a:alpha val="2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 txBox="1"/>
          <p:nvPr/>
        </p:nvSpPr>
        <p:spPr>
          <a:xfrm>
            <a:off x="3621024" y="2734056"/>
            <a:ext cx="2084832" cy="22768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E7EE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df.</a:t>
            </a:r>
            <a:r>
              <a:rPr lang="en-US" sz="120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filter</a:t>
            </a:r>
            <a:r>
              <a:rPr lang="en-US" sz="1200" dirty="0">
                <a:solidFill>
                  <a:srgbClr val="E7EE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endParaRPr lang="en-US" sz="1200" dirty="0"/>
          </a:p>
          <a:p>
            <a:pPr marL="0" indent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E7EE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pl.col(</a:t>
            </a:r>
            <a:r>
              <a:rPr lang="en-US" sz="12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"mass"</a:t>
            </a:r>
            <a:r>
              <a:rPr lang="en-US" sz="1200" dirty="0">
                <a:solidFill>
                  <a:srgbClr val="E7EE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 &gt;</a:t>
            </a:r>
            <a:endParaRPr lang="en-US" sz="1200" dirty="0"/>
          </a:p>
          <a:p>
            <a:pPr marL="0" indent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E7EE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r>
              <a:rPr lang="en-US" sz="1200" dirty="0">
                <a:solidFill>
                  <a:srgbClr val="B5CE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4000</a:t>
            </a:r>
            <a:r>
              <a:rPr lang="en-US" sz="1200" dirty="0">
                <a:solidFill>
                  <a:srgbClr val="E7EE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6181344" y="1965960"/>
            <a:ext cx="2596896" cy="420624"/>
          </a:xfrm>
          <a:prstGeom prst="roundRect">
            <a:avLst>
              <a:gd name="adj" fmla="val 17391"/>
            </a:avLst>
          </a:prstGeom>
          <a:solidFill>
            <a:srgbClr val="21295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3" name="Text 11"/>
          <p:cNvSpPr txBox="1"/>
          <p:nvPr/>
        </p:nvSpPr>
        <p:spPr>
          <a:xfrm>
            <a:off x="6181344" y="1965960"/>
            <a:ext cx="259689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PySpark</a:t>
            </a:r>
            <a:endParaRPr lang="en-US" sz="1500" dirty="0"/>
          </a:p>
        </p:txBody>
      </p:sp>
      <p:sp>
        <p:nvSpPr>
          <p:cNvPr id="14" name="Shape 12"/>
          <p:cNvSpPr/>
          <p:nvPr/>
        </p:nvSpPr>
        <p:spPr>
          <a:xfrm>
            <a:off x="6181344" y="2532888"/>
            <a:ext cx="2596896" cy="2679192"/>
          </a:xfrm>
          <a:prstGeom prst="roundRect">
            <a:avLst>
              <a:gd name="adj" fmla="val 2817"/>
            </a:avLst>
          </a:prstGeom>
          <a:solidFill>
            <a:srgbClr val="37415E"/>
          </a:solidFill>
          <a:ln/>
          <a:effectLst>
            <a:outerShdw blurRad="76200" dist="25400" dir="5400000" algn="bl" rotWithShape="0">
              <a:srgbClr val="000000">
                <a:alpha val="2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5" name="Text 13"/>
          <p:cNvSpPr txBox="1"/>
          <p:nvPr/>
        </p:nvSpPr>
        <p:spPr>
          <a:xfrm>
            <a:off x="6437376" y="2734056"/>
            <a:ext cx="2084832" cy="22768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E7EE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df.</a:t>
            </a:r>
            <a:r>
              <a:rPr lang="en-US" sz="120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filter</a:t>
            </a:r>
            <a:r>
              <a:rPr lang="en-US" sz="1200" dirty="0">
                <a:solidFill>
                  <a:srgbClr val="E7EE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endParaRPr lang="en-US" sz="1200" dirty="0"/>
          </a:p>
          <a:p>
            <a:pPr marL="0" indent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E7EE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df.mass &gt; </a:t>
            </a:r>
            <a:r>
              <a:rPr lang="en-US" sz="1200" dirty="0">
                <a:solidFill>
                  <a:srgbClr val="B5CE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4000</a:t>
            </a:r>
            <a:endParaRPr lang="en-US" sz="1200" dirty="0"/>
          </a:p>
          <a:p>
            <a:pPr marL="0" indent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E7EE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8997696" y="1965960"/>
            <a:ext cx="2596896" cy="420624"/>
          </a:xfrm>
          <a:prstGeom prst="roundRect">
            <a:avLst>
              <a:gd name="adj" fmla="val 17391"/>
            </a:avLst>
          </a:prstGeom>
          <a:solidFill>
            <a:srgbClr val="F2994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7" name="Text 15"/>
          <p:cNvSpPr txBox="1"/>
          <p:nvPr/>
        </p:nvSpPr>
        <p:spPr>
          <a:xfrm>
            <a:off x="8997696" y="1965960"/>
            <a:ext cx="259689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Ibis</a:t>
            </a:r>
            <a:endParaRPr lang="en-US" sz="1500" dirty="0"/>
          </a:p>
        </p:txBody>
      </p:sp>
      <p:sp>
        <p:nvSpPr>
          <p:cNvPr id="18" name="Shape 16"/>
          <p:cNvSpPr/>
          <p:nvPr/>
        </p:nvSpPr>
        <p:spPr>
          <a:xfrm>
            <a:off x="8997696" y="2532888"/>
            <a:ext cx="2596896" cy="2679192"/>
          </a:xfrm>
          <a:prstGeom prst="roundRect">
            <a:avLst>
              <a:gd name="adj" fmla="val 2817"/>
            </a:avLst>
          </a:prstGeom>
          <a:solidFill>
            <a:srgbClr val="1B2450"/>
          </a:solidFill>
          <a:ln/>
          <a:effectLst>
            <a:outerShdw blurRad="76200" dist="25400" dir="5400000" algn="bl" rotWithShape="0">
              <a:srgbClr val="000000">
                <a:alpha val="2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9" name="Text 17"/>
          <p:cNvSpPr txBox="1"/>
          <p:nvPr/>
        </p:nvSpPr>
        <p:spPr>
          <a:xfrm>
            <a:off x="9253728" y="2734056"/>
            <a:ext cx="2084832" cy="22768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25000"/>
              </a:lnSpc>
              <a:buNone/>
            </a:pPr>
            <a:r>
              <a:rPr lang="en-US" sz="1200" dirty="0" err="1">
                <a:solidFill>
                  <a:srgbClr val="E7EE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df.</a:t>
            </a:r>
            <a:r>
              <a:rPr lang="en-US" sz="1200" dirty="0" err="1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filter</a:t>
            </a:r>
            <a:r>
              <a:rPr lang="en-US" sz="1200" dirty="0">
                <a:solidFill>
                  <a:srgbClr val="E7EE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endParaRPr lang="en-US" sz="1200" dirty="0"/>
          </a:p>
          <a:p>
            <a:pPr marL="0" indent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E7EE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r>
              <a:rPr lang="en-US" sz="1200" dirty="0" err="1">
                <a:solidFill>
                  <a:srgbClr val="E7EE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df.mass</a:t>
            </a:r>
            <a:r>
              <a:rPr lang="en-US" sz="1200" dirty="0">
                <a:solidFill>
                  <a:srgbClr val="E7EE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&gt; </a:t>
            </a:r>
            <a:r>
              <a:rPr lang="en-US" sz="1200" dirty="0">
                <a:solidFill>
                  <a:srgbClr val="B5CE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4000</a:t>
            </a:r>
            <a:endParaRPr lang="en-US" sz="1200" dirty="0"/>
          </a:p>
          <a:p>
            <a:pPr marL="0" indent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E7EE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endParaRPr lang="en-US" sz="1200" dirty="0"/>
          </a:p>
        </p:txBody>
      </p:sp>
      <p:sp>
        <p:nvSpPr>
          <p:cNvPr id="20" name="Text 18"/>
          <p:cNvSpPr txBox="1"/>
          <p:nvPr/>
        </p:nvSpPr>
        <p:spPr>
          <a:xfrm>
            <a:off x="548640" y="5468112"/>
            <a:ext cx="10881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i="1" dirty="0">
                <a:solidFill>
                  <a:srgbClr val="5C6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idea everywhere: keep the rows matching a condition. Ibis reads closest to pandas and PySpark.</a:t>
            </a:r>
            <a:endParaRPr lang="en-US" sz="1500" dirty="0"/>
          </a:p>
        </p:txBody>
      </p:sp>
      <p:sp>
        <p:nvSpPr>
          <p:cNvPr id="21" name="Text 19"/>
          <p:cNvSpPr txBox="1"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9AA6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Ibis: Bringing Optionality to Python Dataframes</a:t>
            </a:r>
            <a:endParaRPr lang="en-US" sz="900" dirty="0"/>
          </a:p>
        </p:txBody>
      </p:sp>
      <p:sp>
        <p:nvSpPr>
          <p:cNvPr id="22" name="Text 20"/>
          <p:cNvSpPr txBox="1"/>
          <p:nvPr/>
        </p:nvSpPr>
        <p:spPr>
          <a:xfrm>
            <a:off x="11274552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9AA6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kern="0" spc="20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SIDE BY SIDE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77240"/>
            <a:ext cx="9601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2129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Adding a computed column, four APIs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965960"/>
            <a:ext cx="2596896" cy="420624"/>
          </a:xfrm>
          <a:prstGeom prst="roundRect">
            <a:avLst>
              <a:gd name="adj" fmla="val 17391"/>
            </a:avLst>
          </a:prstGeom>
          <a:solidFill>
            <a:srgbClr val="21295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 txBox="1"/>
          <p:nvPr/>
        </p:nvSpPr>
        <p:spPr>
          <a:xfrm>
            <a:off x="548640" y="1965960"/>
            <a:ext cx="259689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pandas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548640" y="2532888"/>
            <a:ext cx="2596896" cy="2679192"/>
          </a:xfrm>
          <a:prstGeom prst="roundRect">
            <a:avLst>
              <a:gd name="adj" fmla="val 2817"/>
            </a:avLst>
          </a:prstGeom>
          <a:solidFill>
            <a:srgbClr val="37415E"/>
          </a:solidFill>
          <a:ln/>
          <a:effectLst>
            <a:outerShdw blurRad="76200" dist="25400" dir="5400000" algn="bl" rotWithShape="0">
              <a:srgbClr val="000000">
                <a:alpha val="2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 txBox="1"/>
          <p:nvPr/>
        </p:nvSpPr>
        <p:spPr>
          <a:xfrm>
            <a:off x="804672" y="2734056"/>
            <a:ext cx="2084832" cy="22768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E7EE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df.</a:t>
            </a:r>
            <a:r>
              <a:rPr lang="en-US" sz="120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assign</a:t>
            </a:r>
            <a:r>
              <a:rPr lang="en-US" sz="1200" dirty="0">
                <a:solidFill>
                  <a:srgbClr val="E7EE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endParaRPr lang="en-US" sz="1200" dirty="0"/>
          </a:p>
          <a:p>
            <a:pPr marL="0" indent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E7EE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mass_kg=</a:t>
            </a:r>
            <a:endParaRPr lang="en-US" sz="1200" dirty="0"/>
          </a:p>
          <a:p>
            <a:pPr marL="0" indent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E7EE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df.mass/1000</a:t>
            </a:r>
            <a:endParaRPr lang="en-US" sz="1200" dirty="0"/>
          </a:p>
          <a:p>
            <a:pPr marL="0" indent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E7EE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3364992" y="1965960"/>
            <a:ext cx="2596896" cy="420624"/>
          </a:xfrm>
          <a:prstGeom prst="roundRect">
            <a:avLst>
              <a:gd name="adj" fmla="val 17391"/>
            </a:avLst>
          </a:prstGeom>
          <a:solidFill>
            <a:srgbClr val="21295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9" name="Text 7"/>
          <p:cNvSpPr txBox="1"/>
          <p:nvPr/>
        </p:nvSpPr>
        <p:spPr>
          <a:xfrm>
            <a:off x="3364992" y="1965960"/>
            <a:ext cx="259689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Polars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3364992" y="2532888"/>
            <a:ext cx="2596896" cy="2679192"/>
          </a:xfrm>
          <a:prstGeom prst="roundRect">
            <a:avLst>
              <a:gd name="adj" fmla="val 2817"/>
            </a:avLst>
          </a:prstGeom>
          <a:solidFill>
            <a:srgbClr val="37415E"/>
          </a:solidFill>
          <a:ln/>
          <a:effectLst>
            <a:outerShdw blurRad="76200" dist="25400" dir="5400000" algn="bl" rotWithShape="0">
              <a:srgbClr val="000000">
                <a:alpha val="2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 txBox="1"/>
          <p:nvPr/>
        </p:nvSpPr>
        <p:spPr>
          <a:xfrm>
            <a:off x="3621024" y="2734056"/>
            <a:ext cx="2084832" cy="22768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E7EE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df.</a:t>
            </a:r>
            <a:r>
              <a:rPr lang="en-US" sz="120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with_columns</a:t>
            </a:r>
            <a:r>
              <a:rPr lang="en-US" sz="1200" dirty="0">
                <a:solidFill>
                  <a:srgbClr val="E7EE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endParaRPr lang="en-US" sz="1200" dirty="0"/>
          </a:p>
          <a:p>
            <a:pPr marL="0" indent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E7EE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(pl.col(</a:t>
            </a:r>
            <a:r>
              <a:rPr lang="en-US" sz="12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"mass"</a:t>
            </a:r>
            <a:r>
              <a:rPr lang="en-US" sz="1200" dirty="0">
                <a:solidFill>
                  <a:srgbClr val="E7EE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endParaRPr lang="en-US" sz="1200" dirty="0"/>
          </a:p>
          <a:p>
            <a:pPr marL="0" indent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E7EE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/1000).</a:t>
            </a:r>
            <a:r>
              <a:rPr lang="en-US" sz="120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alias</a:t>
            </a:r>
            <a:r>
              <a:rPr lang="en-US" sz="1200" dirty="0">
                <a:solidFill>
                  <a:srgbClr val="E7EE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endParaRPr lang="en-US" sz="1200" dirty="0"/>
          </a:p>
          <a:p>
            <a:pPr marL="0" indent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E7EE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</a:t>
            </a:r>
            <a:r>
              <a:rPr lang="en-US" sz="12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"mass_kg"</a:t>
            </a:r>
            <a:r>
              <a:rPr lang="en-US" sz="1200" dirty="0">
                <a:solidFill>
                  <a:srgbClr val="E7EE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))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6181344" y="1965960"/>
            <a:ext cx="2596896" cy="420624"/>
          </a:xfrm>
          <a:prstGeom prst="roundRect">
            <a:avLst>
              <a:gd name="adj" fmla="val 17391"/>
            </a:avLst>
          </a:prstGeom>
          <a:solidFill>
            <a:srgbClr val="21295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3" name="Text 11"/>
          <p:cNvSpPr txBox="1"/>
          <p:nvPr/>
        </p:nvSpPr>
        <p:spPr>
          <a:xfrm>
            <a:off x="6181344" y="1965960"/>
            <a:ext cx="259689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PySpark</a:t>
            </a:r>
            <a:endParaRPr lang="en-US" sz="1500" dirty="0"/>
          </a:p>
        </p:txBody>
      </p:sp>
      <p:sp>
        <p:nvSpPr>
          <p:cNvPr id="14" name="Shape 12"/>
          <p:cNvSpPr/>
          <p:nvPr/>
        </p:nvSpPr>
        <p:spPr>
          <a:xfrm>
            <a:off x="6181344" y="2532888"/>
            <a:ext cx="2596896" cy="2679192"/>
          </a:xfrm>
          <a:prstGeom prst="roundRect">
            <a:avLst>
              <a:gd name="adj" fmla="val 2817"/>
            </a:avLst>
          </a:prstGeom>
          <a:solidFill>
            <a:srgbClr val="37415E"/>
          </a:solidFill>
          <a:ln/>
          <a:effectLst>
            <a:outerShdw blurRad="76200" dist="25400" dir="5400000" algn="bl" rotWithShape="0">
              <a:srgbClr val="000000">
                <a:alpha val="2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5" name="Text 13"/>
          <p:cNvSpPr txBox="1"/>
          <p:nvPr/>
        </p:nvSpPr>
        <p:spPr>
          <a:xfrm>
            <a:off x="6437376" y="2734056"/>
            <a:ext cx="2084832" cy="22768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E7EE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df.</a:t>
            </a:r>
            <a:r>
              <a:rPr lang="en-US" sz="120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withColumn</a:t>
            </a:r>
            <a:r>
              <a:rPr lang="en-US" sz="1200" dirty="0">
                <a:solidFill>
                  <a:srgbClr val="E7EE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endParaRPr lang="en-US" sz="1200" dirty="0"/>
          </a:p>
          <a:p>
            <a:pPr marL="0" indent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E7EE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r>
              <a:rPr lang="en-US" sz="12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"mass_kg"</a:t>
            </a:r>
            <a:r>
              <a:rPr lang="en-US" sz="1200" dirty="0">
                <a:solidFill>
                  <a:srgbClr val="E7EE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endParaRPr lang="en-US" sz="1200" dirty="0"/>
          </a:p>
          <a:p>
            <a:pPr marL="0" indent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E7EE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df.mass/1000</a:t>
            </a:r>
            <a:endParaRPr lang="en-US" sz="1200" dirty="0"/>
          </a:p>
          <a:p>
            <a:pPr marL="0" indent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E7EE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8997696" y="1965960"/>
            <a:ext cx="2596896" cy="420624"/>
          </a:xfrm>
          <a:prstGeom prst="roundRect">
            <a:avLst>
              <a:gd name="adj" fmla="val 17391"/>
            </a:avLst>
          </a:prstGeom>
          <a:solidFill>
            <a:srgbClr val="F2994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7" name="Text 15"/>
          <p:cNvSpPr txBox="1"/>
          <p:nvPr/>
        </p:nvSpPr>
        <p:spPr>
          <a:xfrm>
            <a:off x="8997696" y="1965960"/>
            <a:ext cx="259689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Ibis</a:t>
            </a:r>
            <a:endParaRPr lang="en-US" sz="1500" dirty="0"/>
          </a:p>
        </p:txBody>
      </p:sp>
      <p:sp>
        <p:nvSpPr>
          <p:cNvPr id="18" name="Shape 16"/>
          <p:cNvSpPr/>
          <p:nvPr/>
        </p:nvSpPr>
        <p:spPr>
          <a:xfrm>
            <a:off x="8997696" y="2532888"/>
            <a:ext cx="2596896" cy="2679192"/>
          </a:xfrm>
          <a:prstGeom prst="roundRect">
            <a:avLst>
              <a:gd name="adj" fmla="val 2817"/>
            </a:avLst>
          </a:prstGeom>
          <a:solidFill>
            <a:srgbClr val="1B2450"/>
          </a:solidFill>
          <a:ln/>
          <a:effectLst>
            <a:outerShdw blurRad="76200" dist="25400" dir="5400000" algn="bl" rotWithShape="0">
              <a:srgbClr val="000000">
                <a:alpha val="2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9" name="Text 17"/>
          <p:cNvSpPr txBox="1"/>
          <p:nvPr/>
        </p:nvSpPr>
        <p:spPr>
          <a:xfrm>
            <a:off x="9253728" y="2734056"/>
            <a:ext cx="2084832" cy="22768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25000"/>
              </a:lnSpc>
              <a:buNone/>
            </a:pPr>
            <a:r>
              <a:rPr lang="en-US" sz="1200" dirty="0" err="1">
                <a:solidFill>
                  <a:srgbClr val="E7EE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df.</a:t>
            </a:r>
            <a:r>
              <a:rPr lang="en-US" sz="1200" dirty="0" err="1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mutate</a:t>
            </a:r>
            <a:r>
              <a:rPr lang="en-US" sz="1200" dirty="0">
                <a:solidFill>
                  <a:srgbClr val="E7EE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endParaRPr lang="en-US" sz="1200" dirty="0"/>
          </a:p>
          <a:p>
            <a:pPr marL="0" indent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E7EE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mass_kg=</a:t>
            </a:r>
            <a:endParaRPr lang="en-US" sz="1200" dirty="0"/>
          </a:p>
          <a:p>
            <a:pPr marL="0" indent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E7EE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r>
              <a:rPr lang="en-US" sz="1200" dirty="0" err="1">
                <a:solidFill>
                  <a:srgbClr val="E7EE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df.mass</a:t>
            </a:r>
            <a:r>
              <a:rPr lang="en-US" sz="1200" dirty="0">
                <a:solidFill>
                  <a:srgbClr val="E7EE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/1000</a:t>
            </a:r>
            <a:endParaRPr lang="en-US" sz="1200" dirty="0"/>
          </a:p>
          <a:p>
            <a:pPr marL="0" indent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E7EE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endParaRPr lang="en-US" sz="1200" dirty="0"/>
          </a:p>
        </p:txBody>
      </p:sp>
      <p:sp>
        <p:nvSpPr>
          <p:cNvPr id="20" name="Text 18"/>
          <p:cNvSpPr txBox="1"/>
          <p:nvPr/>
        </p:nvSpPr>
        <p:spPr>
          <a:xfrm>
            <a:off x="548640" y="5468112"/>
            <a:ext cx="10881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i="1" dirty="0">
                <a:solidFill>
                  <a:srgbClr val="5C6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Different verb per library (assign / with_columns / withColumn / mutate) — same shape of idea.</a:t>
            </a:r>
            <a:endParaRPr lang="en-US" sz="1500" dirty="0"/>
          </a:p>
        </p:txBody>
      </p:sp>
      <p:sp>
        <p:nvSpPr>
          <p:cNvPr id="21" name="Text 19"/>
          <p:cNvSpPr txBox="1"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9AA6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Ibis: Bringing Optionality to Python Dataframes</a:t>
            </a:r>
            <a:endParaRPr lang="en-US" sz="900" dirty="0"/>
          </a:p>
        </p:txBody>
      </p:sp>
      <p:sp>
        <p:nvSpPr>
          <p:cNvPr id="22" name="Text 20"/>
          <p:cNvSpPr txBox="1"/>
          <p:nvPr/>
        </p:nvSpPr>
        <p:spPr>
          <a:xfrm>
            <a:off x="11274552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9AA6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kern="0" spc="20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SIDE BY SIDE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77240"/>
            <a:ext cx="9601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2129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Group by and aggregate, four APIs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965960"/>
            <a:ext cx="2596896" cy="420624"/>
          </a:xfrm>
          <a:prstGeom prst="roundRect">
            <a:avLst>
              <a:gd name="adj" fmla="val 17391"/>
            </a:avLst>
          </a:prstGeom>
          <a:solidFill>
            <a:srgbClr val="21295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 txBox="1"/>
          <p:nvPr/>
        </p:nvSpPr>
        <p:spPr>
          <a:xfrm>
            <a:off x="548640" y="1965960"/>
            <a:ext cx="259689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pandas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548640" y="2532888"/>
            <a:ext cx="2596896" cy="2679192"/>
          </a:xfrm>
          <a:prstGeom prst="roundRect">
            <a:avLst>
              <a:gd name="adj" fmla="val 2817"/>
            </a:avLst>
          </a:prstGeom>
          <a:solidFill>
            <a:srgbClr val="37415E"/>
          </a:solidFill>
          <a:ln/>
          <a:effectLst>
            <a:outerShdw blurRad="76200" dist="25400" dir="5400000" algn="bl" rotWithShape="0">
              <a:srgbClr val="000000">
                <a:alpha val="2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 txBox="1"/>
          <p:nvPr/>
        </p:nvSpPr>
        <p:spPr>
          <a:xfrm>
            <a:off x="804672" y="2734056"/>
            <a:ext cx="2084832" cy="22768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E7EE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df.</a:t>
            </a:r>
            <a:r>
              <a:rPr lang="en-US" sz="120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groupby</a:t>
            </a:r>
            <a:r>
              <a:rPr lang="en-US" sz="1200" dirty="0">
                <a:solidFill>
                  <a:srgbClr val="E7EE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r>
              <a:rPr lang="en-US" sz="12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"species"</a:t>
            </a:r>
            <a:r>
              <a:rPr lang="en-US" sz="1200" dirty="0">
                <a:solidFill>
                  <a:srgbClr val="E7EE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endParaRPr lang="en-US" sz="1200" dirty="0"/>
          </a:p>
          <a:p>
            <a:pPr marL="0" indent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E7EE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[</a:t>
            </a:r>
            <a:r>
              <a:rPr lang="en-US" sz="12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"mass"</a:t>
            </a:r>
            <a:r>
              <a:rPr lang="en-US" sz="1200" dirty="0">
                <a:solidFill>
                  <a:srgbClr val="E7EE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].</a:t>
            </a:r>
            <a:r>
              <a:rPr lang="en-US" sz="120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mean</a:t>
            </a:r>
            <a:r>
              <a:rPr lang="en-US" sz="1200" dirty="0">
                <a:solidFill>
                  <a:srgbClr val="E7EE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()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3364992" y="1965960"/>
            <a:ext cx="2596896" cy="420624"/>
          </a:xfrm>
          <a:prstGeom prst="roundRect">
            <a:avLst>
              <a:gd name="adj" fmla="val 17391"/>
            </a:avLst>
          </a:prstGeom>
          <a:solidFill>
            <a:srgbClr val="21295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9" name="Text 7"/>
          <p:cNvSpPr txBox="1"/>
          <p:nvPr/>
        </p:nvSpPr>
        <p:spPr>
          <a:xfrm>
            <a:off x="3364992" y="1965960"/>
            <a:ext cx="259689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Polars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3364992" y="2532888"/>
            <a:ext cx="2596896" cy="2679192"/>
          </a:xfrm>
          <a:prstGeom prst="roundRect">
            <a:avLst>
              <a:gd name="adj" fmla="val 2817"/>
            </a:avLst>
          </a:prstGeom>
          <a:solidFill>
            <a:srgbClr val="37415E"/>
          </a:solidFill>
          <a:ln/>
          <a:effectLst>
            <a:outerShdw blurRad="76200" dist="25400" dir="5400000" algn="bl" rotWithShape="0">
              <a:srgbClr val="000000">
                <a:alpha val="2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 txBox="1"/>
          <p:nvPr/>
        </p:nvSpPr>
        <p:spPr>
          <a:xfrm>
            <a:off x="3621024" y="2734056"/>
            <a:ext cx="2084832" cy="22768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E7EE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df.</a:t>
            </a:r>
            <a:r>
              <a:rPr lang="en-US" sz="120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group_by</a:t>
            </a:r>
            <a:r>
              <a:rPr lang="en-US" sz="1200" dirty="0">
                <a:solidFill>
                  <a:srgbClr val="E7EE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r>
              <a:rPr lang="en-US" sz="12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"species"</a:t>
            </a:r>
            <a:r>
              <a:rPr lang="en-US" sz="1200" dirty="0">
                <a:solidFill>
                  <a:srgbClr val="E7EE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endParaRPr lang="en-US" sz="1200" dirty="0"/>
          </a:p>
          <a:p>
            <a:pPr marL="0" indent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E7EE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.</a:t>
            </a:r>
            <a:r>
              <a:rPr lang="en-US" sz="120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agg</a:t>
            </a:r>
            <a:r>
              <a:rPr lang="en-US" sz="1200" dirty="0">
                <a:solidFill>
                  <a:srgbClr val="E7EE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(pl.col(</a:t>
            </a:r>
            <a:r>
              <a:rPr lang="en-US" sz="12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"mass"</a:t>
            </a:r>
            <a:r>
              <a:rPr lang="en-US" sz="1200" dirty="0">
                <a:solidFill>
                  <a:srgbClr val="E7EE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endParaRPr lang="en-US" sz="1200" dirty="0"/>
          </a:p>
          <a:p>
            <a:pPr marL="0" indent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E7EE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.</a:t>
            </a:r>
            <a:r>
              <a:rPr lang="en-US" sz="120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mean</a:t>
            </a:r>
            <a:r>
              <a:rPr lang="en-US" sz="1200" dirty="0">
                <a:solidFill>
                  <a:srgbClr val="E7EE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())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6181344" y="1965960"/>
            <a:ext cx="2596896" cy="420624"/>
          </a:xfrm>
          <a:prstGeom prst="roundRect">
            <a:avLst>
              <a:gd name="adj" fmla="val 17391"/>
            </a:avLst>
          </a:prstGeom>
          <a:solidFill>
            <a:srgbClr val="21295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3" name="Text 11"/>
          <p:cNvSpPr txBox="1"/>
          <p:nvPr/>
        </p:nvSpPr>
        <p:spPr>
          <a:xfrm>
            <a:off x="6181344" y="1965960"/>
            <a:ext cx="259689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PySpark</a:t>
            </a:r>
            <a:endParaRPr lang="en-US" sz="1500" dirty="0"/>
          </a:p>
        </p:txBody>
      </p:sp>
      <p:sp>
        <p:nvSpPr>
          <p:cNvPr id="14" name="Shape 12"/>
          <p:cNvSpPr/>
          <p:nvPr/>
        </p:nvSpPr>
        <p:spPr>
          <a:xfrm>
            <a:off x="6181344" y="2532888"/>
            <a:ext cx="2596896" cy="2679192"/>
          </a:xfrm>
          <a:prstGeom prst="roundRect">
            <a:avLst>
              <a:gd name="adj" fmla="val 2817"/>
            </a:avLst>
          </a:prstGeom>
          <a:solidFill>
            <a:srgbClr val="37415E"/>
          </a:solidFill>
          <a:ln/>
          <a:effectLst>
            <a:outerShdw blurRad="76200" dist="25400" dir="5400000" algn="bl" rotWithShape="0">
              <a:srgbClr val="000000">
                <a:alpha val="2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5" name="Text 13"/>
          <p:cNvSpPr txBox="1"/>
          <p:nvPr/>
        </p:nvSpPr>
        <p:spPr>
          <a:xfrm>
            <a:off x="6437376" y="2734056"/>
            <a:ext cx="2084832" cy="22768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E7EE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df.</a:t>
            </a:r>
            <a:r>
              <a:rPr lang="en-US" sz="120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groupBy</a:t>
            </a:r>
            <a:r>
              <a:rPr lang="en-US" sz="1200" dirty="0">
                <a:solidFill>
                  <a:srgbClr val="E7EE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r>
              <a:rPr lang="en-US" sz="12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"species"</a:t>
            </a:r>
            <a:r>
              <a:rPr lang="en-US" sz="1200" dirty="0">
                <a:solidFill>
                  <a:srgbClr val="E7EE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endParaRPr lang="en-US" sz="1200" dirty="0"/>
          </a:p>
          <a:p>
            <a:pPr marL="0" indent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E7EE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.</a:t>
            </a:r>
            <a:r>
              <a:rPr lang="en-US" sz="120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agg</a:t>
            </a:r>
            <a:r>
              <a:rPr lang="en-US" sz="1200" dirty="0">
                <a:solidFill>
                  <a:srgbClr val="E7EE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(F.</a:t>
            </a:r>
            <a:r>
              <a:rPr lang="en-US" sz="120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mean</a:t>
            </a:r>
            <a:r>
              <a:rPr lang="en-US" sz="1200" dirty="0">
                <a:solidFill>
                  <a:srgbClr val="E7EE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r>
              <a:rPr lang="en-US" sz="12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"mass"</a:t>
            </a:r>
            <a:r>
              <a:rPr lang="en-US" sz="1200" dirty="0">
                <a:solidFill>
                  <a:srgbClr val="E7EE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))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8997696" y="1965960"/>
            <a:ext cx="2596896" cy="420624"/>
          </a:xfrm>
          <a:prstGeom prst="roundRect">
            <a:avLst>
              <a:gd name="adj" fmla="val 17391"/>
            </a:avLst>
          </a:prstGeom>
          <a:solidFill>
            <a:srgbClr val="F2994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7" name="Text 15"/>
          <p:cNvSpPr txBox="1"/>
          <p:nvPr/>
        </p:nvSpPr>
        <p:spPr>
          <a:xfrm>
            <a:off x="8997696" y="1965960"/>
            <a:ext cx="259689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Ibis</a:t>
            </a:r>
            <a:endParaRPr lang="en-US" sz="1500" dirty="0"/>
          </a:p>
        </p:txBody>
      </p:sp>
      <p:sp>
        <p:nvSpPr>
          <p:cNvPr id="18" name="Shape 16"/>
          <p:cNvSpPr/>
          <p:nvPr/>
        </p:nvSpPr>
        <p:spPr>
          <a:xfrm>
            <a:off x="8997696" y="2532888"/>
            <a:ext cx="2596896" cy="2679192"/>
          </a:xfrm>
          <a:prstGeom prst="roundRect">
            <a:avLst>
              <a:gd name="adj" fmla="val 2817"/>
            </a:avLst>
          </a:prstGeom>
          <a:solidFill>
            <a:srgbClr val="1B2450"/>
          </a:solidFill>
          <a:ln/>
          <a:effectLst>
            <a:outerShdw blurRad="76200" dist="25400" dir="5400000" algn="bl" rotWithShape="0">
              <a:srgbClr val="000000">
                <a:alpha val="2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9" name="Text 17"/>
          <p:cNvSpPr txBox="1"/>
          <p:nvPr/>
        </p:nvSpPr>
        <p:spPr>
          <a:xfrm>
            <a:off x="9253728" y="2734056"/>
            <a:ext cx="2084832" cy="22768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25000"/>
              </a:lnSpc>
              <a:buNone/>
            </a:pPr>
            <a:r>
              <a:rPr lang="en-US" sz="1200" dirty="0" err="1">
                <a:solidFill>
                  <a:srgbClr val="E7EE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df.</a:t>
            </a:r>
            <a:r>
              <a:rPr lang="en-US" sz="1200" dirty="0" err="1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group_by</a:t>
            </a:r>
            <a:r>
              <a:rPr lang="en-US" sz="1200" dirty="0">
                <a:solidFill>
                  <a:srgbClr val="E7EE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r>
              <a:rPr lang="en-US" sz="12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"species"</a:t>
            </a:r>
            <a:r>
              <a:rPr lang="en-US" sz="1200" dirty="0">
                <a:solidFill>
                  <a:srgbClr val="E7EE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endParaRPr lang="en-US" sz="1200" dirty="0"/>
          </a:p>
          <a:p>
            <a:pPr marL="0" indent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E7EE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.</a:t>
            </a:r>
            <a:r>
              <a:rPr lang="en-US" sz="120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aggregate</a:t>
            </a:r>
            <a:r>
              <a:rPr lang="en-US" sz="1200" dirty="0">
                <a:solidFill>
                  <a:srgbClr val="E7EE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endParaRPr lang="en-US" sz="1200" dirty="0"/>
          </a:p>
          <a:p>
            <a:pPr marL="0" indent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E7EE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r>
              <a:rPr lang="en-US" sz="1200" dirty="0" err="1">
                <a:solidFill>
                  <a:srgbClr val="E7EE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df.mass.</a:t>
            </a:r>
            <a:r>
              <a:rPr lang="en-US" sz="1200" dirty="0" err="1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mean</a:t>
            </a:r>
            <a:r>
              <a:rPr lang="en-US" sz="1200" dirty="0">
                <a:solidFill>
                  <a:srgbClr val="E7EE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())</a:t>
            </a:r>
            <a:endParaRPr lang="en-US" sz="1200" dirty="0"/>
          </a:p>
        </p:txBody>
      </p:sp>
      <p:sp>
        <p:nvSpPr>
          <p:cNvPr id="20" name="Text 18"/>
          <p:cNvSpPr txBox="1"/>
          <p:nvPr/>
        </p:nvSpPr>
        <p:spPr>
          <a:xfrm>
            <a:off x="548640" y="5468112"/>
            <a:ext cx="10881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i="1" dirty="0">
                <a:solidFill>
                  <a:srgbClr val="5C6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Ibis and Polars share the group_by spelling; the summarize-by-group idea is universal.</a:t>
            </a:r>
            <a:endParaRPr lang="en-US" sz="1500" dirty="0"/>
          </a:p>
        </p:txBody>
      </p:sp>
      <p:sp>
        <p:nvSpPr>
          <p:cNvPr id="21" name="Text 19"/>
          <p:cNvSpPr txBox="1"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9AA6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Ibis: Bringing Optionality to Python Dataframes</a:t>
            </a:r>
            <a:endParaRPr lang="en-US" sz="900" dirty="0"/>
          </a:p>
        </p:txBody>
      </p:sp>
      <p:sp>
        <p:nvSpPr>
          <p:cNvPr id="22" name="Text 20"/>
          <p:cNvSpPr txBox="1"/>
          <p:nvPr/>
        </p:nvSpPr>
        <p:spPr>
          <a:xfrm>
            <a:off x="11274552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9AA6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kern="0" spc="20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SIDE BY SIDE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77240"/>
            <a:ext cx="9601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2129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Joining two tables, four APIs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965960"/>
            <a:ext cx="2596896" cy="420624"/>
          </a:xfrm>
          <a:prstGeom prst="roundRect">
            <a:avLst>
              <a:gd name="adj" fmla="val 17391"/>
            </a:avLst>
          </a:prstGeom>
          <a:solidFill>
            <a:srgbClr val="21295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 txBox="1"/>
          <p:nvPr/>
        </p:nvSpPr>
        <p:spPr>
          <a:xfrm>
            <a:off x="548640" y="1965960"/>
            <a:ext cx="259689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pandas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548640" y="2532888"/>
            <a:ext cx="2596896" cy="2679192"/>
          </a:xfrm>
          <a:prstGeom prst="roundRect">
            <a:avLst>
              <a:gd name="adj" fmla="val 2817"/>
            </a:avLst>
          </a:prstGeom>
          <a:solidFill>
            <a:srgbClr val="37415E"/>
          </a:solidFill>
          <a:ln/>
          <a:effectLst>
            <a:outerShdw blurRad="76200" dist="25400" dir="5400000" algn="bl" rotWithShape="0">
              <a:srgbClr val="000000">
                <a:alpha val="2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 txBox="1"/>
          <p:nvPr/>
        </p:nvSpPr>
        <p:spPr>
          <a:xfrm>
            <a:off x="804672" y="2734056"/>
            <a:ext cx="2084832" cy="22768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E7EE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df.</a:t>
            </a:r>
            <a:r>
              <a:rPr lang="en-US" sz="120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merge</a:t>
            </a:r>
            <a:r>
              <a:rPr lang="en-US" sz="1200" dirty="0">
                <a:solidFill>
                  <a:srgbClr val="E7EE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endParaRPr lang="en-US" sz="1200" dirty="0"/>
          </a:p>
          <a:p>
            <a:pPr marL="0" indent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E7EE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info, on=</a:t>
            </a:r>
            <a:r>
              <a:rPr lang="en-US" sz="12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"species"</a:t>
            </a:r>
            <a:endParaRPr lang="en-US" sz="1200" dirty="0"/>
          </a:p>
          <a:p>
            <a:pPr marL="0" indent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E7EE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3364992" y="1965960"/>
            <a:ext cx="2596896" cy="420624"/>
          </a:xfrm>
          <a:prstGeom prst="roundRect">
            <a:avLst>
              <a:gd name="adj" fmla="val 17391"/>
            </a:avLst>
          </a:prstGeom>
          <a:solidFill>
            <a:srgbClr val="21295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9" name="Text 7"/>
          <p:cNvSpPr txBox="1"/>
          <p:nvPr/>
        </p:nvSpPr>
        <p:spPr>
          <a:xfrm>
            <a:off x="3364992" y="1965960"/>
            <a:ext cx="259689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Polars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3364992" y="2532888"/>
            <a:ext cx="2596896" cy="2679192"/>
          </a:xfrm>
          <a:prstGeom prst="roundRect">
            <a:avLst>
              <a:gd name="adj" fmla="val 2817"/>
            </a:avLst>
          </a:prstGeom>
          <a:solidFill>
            <a:srgbClr val="37415E"/>
          </a:solidFill>
          <a:ln/>
          <a:effectLst>
            <a:outerShdw blurRad="76200" dist="25400" dir="5400000" algn="bl" rotWithShape="0">
              <a:srgbClr val="000000">
                <a:alpha val="2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 txBox="1"/>
          <p:nvPr/>
        </p:nvSpPr>
        <p:spPr>
          <a:xfrm>
            <a:off x="3621024" y="2734056"/>
            <a:ext cx="2084832" cy="22768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E7EE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df.</a:t>
            </a:r>
            <a:r>
              <a:rPr lang="en-US" sz="120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join</a:t>
            </a:r>
            <a:r>
              <a:rPr lang="en-US" sz="1200" dirty="0">
                <a:solidFill>
                  <a:srgbClr val="E7EE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endParaRPr lang="en-US" sz="1200" dirty="0"/>
          </a:p>
          <a:p>
            <a:pPr marL="0" indent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E7EE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info, on=</a:t>
            </a:r>
            <a:r>
              <a:rPr lang="en-US" sz="12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"species"</a:t>
            </a:r>
            <a:endParaRPr lang="en-US" sz="1200" dirty="0"/>
          </a:p>
          <a:p>
            <a:pPr marL="0" indent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E7EE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6181344" y="1965960"/>
            <a:ext cx="2596896" cy="420624"/>
          </a:xfrm>
          <a:prstGeom prst="roundRect">
            <a:avLst>
              <a:gd name="adj" fmla="val 17391"/>
            </a:avLst>
          </a:prstGeom>
          <a:solidFill>
            <a:srgbClr val="21295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3" name="Text 11"/>
          <p:cNvSpPr txBox="1"/>
          <p:nvPr/>
        </p:nvSpPr>
        <p:spPr>
          <a:xfrm>
            <a:off x="6181344" y="1965960"/>
            <a:ext cx="259689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PySpark</a:t>
            </a:r>
            <a:endParaRPr lang="en-US" sz="1500" dirty="0"/>
          </a:p>
        </p:txBody>
      </p:sp>
      <p:sp>
        <p:nvSpPr>
          <p:cNvPr id="14" name="Shape 12"/>
          <p:cNvSpPr/>
          <p:nvPr/>
        </p:nvSpPr>
        <p:spPr>
          <a:xfrm>
            <a:off x="6181344" y="2532888"/>
            <a:ext cx="2596896" cy="2679192"/>
          </a:xfrm>
          <a:prstGeom prst="roundRect">
            <a:avLst>
              <a:gd name="adj" fmla="val 2817"/>
            </a:avLst>
          </a:prstGeom>
          <a:solidFill>
            <a:srgbClr val="37415E"/>
          </a:solidFill>
          <a:ln/>
          <a:effectLst>
            <a:outerShdw blurRad="76200" dist="25400" dir="5400000" algn="bl" rotWithShape="0">
              <a:srgbClr val="000000">
                <a:alpha val="2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5" name="Text 13"/>
          <p:cNvSpPr txBox="1"/>
          <p:nvPr/>
        </p:nvSpPr>
        <p:spPr>
          <a:xfrm>
            <a:off x="6437376" y="2734056"/>
            <a:ext cx="2084832" cy="22768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E7EE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df.</a:t>
            </a:r>
            <a:r>
              <a:rPr lang="en-US" sz="120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join</a:t>
            </a:r>
            <a:r>
              <a:rPr lang="en-US" sz="1200" dirty="0">
                <a:solidFill>
                  <a:srgbClr val="E7EE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endParaRPr lang="en-US" sz="1200" dirty="0"/>
          </a:p>
          <a:p>
            <a:pPr marL="0" indent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E7EE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info, on=</a:t>
            </a:r>
            <a:r>
              <a:rPr lang="en-US" sz="12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"species"</a:t>
            </a:r>
            <a:endParaRPr lang="en-US" sz="1200" dirty="0"/>
          </a:p>
          <a:p>
            <a:pPr marL="0" indent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E7EE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8997696" y="1965960"/>
            <a:ext cx="2596896" cy="420624"/>
          </a:xfrm>
          <a:prstGeom prst="roundRect">
            <a:avLst>
              <a:gd name="adj" fmla="val 17391"/>
            </a:avLst>
          </a:prstGeom>
          <a:solidFill>
            <a:srgbClr val="F2994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7" name="Text 15"/>
          <p:cNvSpPr txBox="1"/>
          <p:nvPr/>
        </p:nvSpPr>
        <p:spPr>
          <a:xfrm>
            <a:off x="8997696" y="1965960"/>
            <a:ext cx="259689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Ibis</a:t>
            </a:r>
            <a:endParaRPr lang="en-US" sz="1500" dirty="0"/>
          </a:p>
        </p:txBody>
      </p:sp>
      <p:sp>
        <p:nvSpPr>
          <p:cNvPr id="18" name="Shape 16"/>
          <p:cNvSpPr/>
          <p:nvPr/>
        </p:nvSpPr>
        <p:spPr>
          <a:xfrm>
            <a:off x="8997696" y="2532888"/>
            <a:ext cx="2596896" cy="2679192"/>
          </a:xfrm>
          <a:prstGeom prst="roundRect">
            <a:avLst>
              <a:gd name="adj" fmla="val 2817"/>
            </a:avLst>
          </a:prstGeom>
          <a:solidFill>
            <a:srgbClr val="1B2450"/>
          </a:solidFill>
          <a:ln/>
          <a:effectLst>
            <a:outerShdw blurRad="76200" dist="25400" dir="5400000" algn="bl" rotWithShape="0">
              <a:srgbClr val="000000">
                <a:alpha val="2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9" name="Text 17"/>
          <p:cNvSpPr txBox="1"/>
          <p:nvPr/>
        </p:nvSpPr>
        <p:spPr>
          <a:xfrm>
            <a:off x="9253728" y="2734056"/>
            <a:ext cx="2084832" cy="22768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25000"/>
              </a:lnSpc>
              <a:buNone/>
            </a:pPr>
            <a:r>
              <a:rPr lang="en-US" sz="1200" dirty="0" err="1">
                <a:solidFill>
                  <a:srgbClr val="E7EE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df.</a:t>
            </a:r>
            <a:r>
              <a:rPr lang="en-US" sz="1200" dirty="0" err="1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join</a:t>
            </a:r>
            <a:r>
              <a:rPr lang="en-US" sz="1200" dirty="0">
                <a:solidFill>
                  <a:srgbClr val="E7EE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endParaRPr lang="en-US" sz="1200" dirty="0"/>
          </a:p>
          <a:p>
            <a:pPr marL="0" indent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E7EE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info, </a:t>
            </a:r>
            <a:r>
              <a:rPr lang="en-US" sz="12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"species"</a:t>
            </a:r>
            <a:endParaRPr lang="en-US" sz="1200" dirty="0"/>
          </a:p>
          <a:p>
            <a:pPr marL="0" indent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E7EE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endParaRPr lang="en-US" sz="1200" dirty="0"/>
          </a:p>
        </p:txBody>
      </p:sp>
      <p:sp>
        <p:nvSpPr>
          <p:cNvPr id="20" name="Text 18"/>
          <p:cNvSpPr txBox="1"/>
          <p:nvPr/>
        </p:nvSpPr>
        <p:spPr>
          <a:xfrm>
            <a:off x="548640" y="5468112"/>
            <a:ext cx="10881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i="1" dirty="0">
                <a:solidFill>
                  <a:srgbClr val="5C6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is the closest four-way match — join syntax has mostly converged across modern dataframe APIs.</a:t>
            </a:r>
            <a:endParaRPr lang="en-US" sz="1500" dirty="0"/>
          </a:p>
        </p:txBody>
      </p:sp>
      <p:sp>
        <p:nvSpPr>
          <p:cNvPr id="21" name="Text 19"/>
          <p:cNvSpPr txBox="1"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9AA6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Ibis: Bringing Optionality to Python Dataframes</a:t>
            </a:r>
            <a:endParaRPr lang="en-US" sz="900" dirty="0"/>
          </a:p>
        </p:txBody>
      </p:sp>
      <p:sp>
        <p:nvSpPr>
          <p:cNvPr id="22" name="Text 20"/>
          <p:cNvSpPr txBox="1"/>
          <p:nvPr/>
        </p:nvSpPr>
        <p:spPr>
          <a:xfrm>
            <a:off x="11274552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9AA6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kern="0" spc="20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BEST OF BOTH WORLDS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77240"/>
            <a:ext cx="1072591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2129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Mix SQL &amp; dataframe code, freely, in either direction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783080"/>
            <a:ext cx="107899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35000"/>
              </a:lnSpc>
              <a:buNone/>
            </a:pPr>
            <a:r>
              <a:rPr lang="en-US" sz="1550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Sometimes SQL is just the clearest way to say what you mean. Ibis lets you </a:t>
            </a:r>
            <a:r>
              <a:rPr lang="en-US" sz="155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drop into raw SQL</a:t>
            </a:r>
            <a:r>
              <a:rPr lang="en-US" sz="1550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and pick the dataframe API back up on the result — or go the other way with </a:t>
            </a:r>
            <a:r>
              <a:rPr lang="en-US" sz="1550" b="1" dirty="0">
                <a:solidFill>
                  <a:srgbClr val="1C729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ibis.to_sql()</a:t>
            </a:r>
            <a:r>
              <a:rPr lang="en-US" sz="1550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1550" dirty="0"/>
          </a:p>
        </p:txBody>
      </p:sp>
      <p:sp>
        <p:nvSpPr>
          <p:cNvPr id="5" name="Shape 3"/>
          <p:cNvSpPr/>
          <p:nvPr/>
        </p:nvSpPr>
        <p:spPr>
          <a:xfrm>
            <a:off x="548640" y="2697480"/>
            <a:ext cx="11109960" cy="2331720"/>
          </a:xfrm>
          <a:prstGeom prst="roundRect">
            <a:avLst>
              <a:gd name="adj" fmla="val 3137"/>
            </a:avLst>
          </a:prstGeom>
          <a:solidFill>
            <a:srgbClr val="21295C"/>
          </a:solidFill>
          <a:ln/>
          <a:effectLst>
            <a:outerShdw blurRad="76200" dist="25400" dir="5400000" algn="bl" rotWithShape="0">
              <a:srgbClr val="000000">
                <a:alpha val="2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 txBox="1"/>
          <p:nvPr/>
        </p:nvSpPr>
        <p:spPr>
          <a:xfrm>
            <a:off x="804672" y="2898648"/>
            <a:ext cx="10597896" cy="19293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25000"/>
              </a:lnSpc>
              <a:buNone/>
            </a:pPr>
            <a:r>
              <a:rPr lang="en-US" sz="1500" dirty="0">
                <a:solidFill>
                  <a:srgbClr val="8FA6C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Start in SQL...</a:t>
            </a:r>
            <a:endParaRPr lang="en-US" sz="1500" dirty="0"/>
          </a:p>
          <a:p>
            <a:pPr marL="0" indent="0">
              <a:lnSpc>
                <a:spcPct val="125000"/>
              </a:lnSpc>
              <a:buNone/>
            </a:pPr>
            <a:r>
              <a:rPr lang="en-US" sz="15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by_island</a:t>
            </a:r>
            <a:r>
              <a:rPr lang="en-US" sz="1500" dirty="0">
                <a:solidFill>
                  <a:srgbClr val="E7EE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= con.</a:t>
            </a:r>
            <a:r>
              <a:rPr lang="en-US" sz="150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sql</a:t>
            </a:r>
            <a:r>
              <a:rPr lang="en-US" sz="15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("""SELECT species, island, count(*) AS n</a:t>
            </a:r>
            <a:endParaRPr lang="en-US" sz="1500" dirty="0"/>
          </a:p>
          <a:p>
            <a:pPr marL="0" indent="0">
              <a:lnSpc>
                <a:spcPct val="125000"/>
              </a:lnSpc>
              <a:buNone/>
            </a:pPr>
            <a:r>
              <a:rPr lang="en-US" sz="15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     FROM penguins GROUP BY 1, 2""")</a:t>
            </a:r>
            <a:endParaRPr lang="en-US" sz="1500" dirty="0"/>
          </a:p>
          <a:p>
            <a:pPr marL="0" indent="0">
              <a:lnSpc>
                <a:spcPct val="125000"/>
              </a:lnSpc>
              <a:buNone/>
            </a:pPr>
            <a:r>
              <a:rPr lang="en-US" sz="1500" dirty="0">
                <a:solidFill>
                  <a:srgbClr val="E7EE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1500" dirty="0"/>
          </a:p>
          <a:p>
            <a:pPr marL="0" indent="0">
              <a:lnSpc>
                <a:spcPct val="125000"/>
              </a:lnSpc>
              <a:buNone/>
            </a:pPr>
            <a:r>
              <a:rPr lang="en-US" sz="1500" dirty="0">
                <a:solidFill>
                  <a:srgbClr val="8FA6C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...finish in the dataframe API</a:t>
            </a:r>
            <a:endParaRPr lang="en-US" sz="1500" dirty="0"/>
          </a:p>
          <a:p>
            <a:pPr marL="0" indent="0">
              <a:lnSpc>
                <a:spcPct val="125000"/>
              </a:lnSpc>
              <a:buNone/>
            </a:pPr>
            <a:r>
              <a:rPr lang="en-US" sz="15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by_island.</a:t>
            </a:r>
            <a:r>
              <a:rPr lang="en-US" sz="150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mutate</a:t>
            </a:r>
            <a:r>
              <a:rPr lang="en-US" sz="1500" dirty="0">
                <a:solidFill>
                  <a:srgbClr val="E7EE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(pct=by_island.n / by_island.n.</a:t>
            </a:r>
            <a:r>
              <a:rPr lang="en-US" sz="150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sum</a:t>
            </a:r>
            <a:r>
              <a:rPr lang="en-US" sz="1500" dirty="0">
                <a:solidFill>
                  <a:srgbClr val="E7EE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())</a:t>
            </a:r>
            <a:endParaRPr lang="en-US" sz="1500" dirty="0"/>
          </a:p>
          <a:p>
            <a:pPr marL="0" indent="0">
              <a:lnSpc>
                <a:spcPct val="125000"/>
              </a:lnSpc>
              <a:buNone/>
            </a:pPr>
            <a:r>
              <a:rPr lang="en-US" sz="1500" dirty="0">
                <a:solidFill>
                  <a:srgbClr val="E7EE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.</a:t>
            </a:r>
            <a:r>
              <a:rPr lang="en-US" sz="150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order_by</a:t>
            </a:r>
            <a:r>
              <a:rPr lang="en-US" sz="1500" dirty="0">
                <a:solidFill>
                  <a:srgbClr val="E7EE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(ibis.</a:t>
            </a:r>
            <a:r>
              <a:rPr lang="en-US" sz="150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desc</a:t>
            </a:r>
            <a:r>
              <a:rPr lang="en-US" sz="15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("n"))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5257800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i="1" dirty="0">
                <a:solidFill>
                  <a:srgbClr val="5C6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need to pick a camp — use whichever reads more clearly for that step.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9AA6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Ibis: Bringing Optionality to Python Dataframes</a:t>
            </a:r>
            <a:endParaRPr lang="en-US" sz="900" dirty="0"/>
          </a:p>
        </p:txBody>
      </p:sp>
      <p:sp>
        <p:nvSpPr>
          <p:cNvPr id="9" name="Text 7"/>
          <p:cNvSpPr txBox="1"/>
          <p:nvPr/>
        </p:nvSpPr>
        <p:spPr>
          <a:xfrm>
            <a:off x="11274552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9AA6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9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21295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kern="0" spc="200" dirty="0">
                <a:solidFill>
                  <a:srgbClr val="9FB3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DEMO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77240"/>
            <a:ext cx="9601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DuckDB on my laptop → Trino on a real cluster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94360" y="2377440"/>
            <a:ext cx="2514600" cy="3017520"/>
          </a:xfrm>
          <a:prstGeom prst="roundRect">
            <a:avLst>
              <a:gd name="adj" fmla="val 3636"/>
            </a:avLst>
          </a:prstGeom>
          <a:solidFill>
            <a:srgbClr val="1B245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1549908" y="2697480"/>
            <a:ext cx="603504" cy="603504"/>
          </a:xfrm>
          <a:prstGeom prst="ellipse">
            <a:avLst/>
          </a:prstGeom>
          <a:solidFill>
            <a:srgbClr val="1C7293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6" name="Image 0" descr="/home/claude/ibis-talk/icons/lapto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22328" y="2769900"/>
            <a:ext cx="458663" cy="458663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731520" y="3566160"/>
            <a:ext cx="2240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15000"/>
              </a:lnSpc>
              <a:buNone/>
            </a:pPr>
            <a:r>
              <a:rPr lang="en-US" sz="14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analysis</a:t>
            </a:r>
            <a:endParaRPr lang="en-US" sz="1450" dirty="0"/>
          </a:p>
        </p:txBody>
      </p:sp>
      <p:sp>
        <p:nvSpPr>
          <p:cNvPr id="8" name="Text 5"/>
          <p:cNvSpPr txBox="1"/>
          <p:nvPr/>
        </p:nvSpPr>
        <p:spPr>
          <a:xfrm>
            <a:off x="777240" y="4206240"/>
            <a:ext cx="21488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25000"/>
              </a:lnSpc>
              <a:buNone/>
            </a:pPr>
            <a:r>
              <a:rPr lang="en-US" sz="1150" dirty="0">
                <a:solidFill>
                  <a:srgbClr val="9FB3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against a local DuckDB connection</a:t>
            </a:r>
            <a:endParaRPr lang="en-US" sz="1150" dirty="0"/>
          </a:p>
        </p:txBody>
      </p:sp>
      <p:sp>
        <p:nvSpPr>
          <p:cNvPr id="9" name="Shape 6"/>
          <p:cNvSpPr/>
          <p:nvPr/>
        </p:nvSpPr>
        <p:spPr>
          <a:xfrm>
            <a:off x="3383280" y="2377440"/>
            <a:ext cx="2514600" cy="3017520"/>
          </a:xfrm>
          <a:prstGeom prst="roundRect">
            <a:avLst>
              <a:gd name="adj" fmla="val 3636"/>
            </a:avLst>
          </a:prstGeom>
          <a:solidFill>
            <a:srgbClr val="1B245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0" name="Shape 7"/>
          <p:cNvSpPr/>
          <p:nvPr/>
        </p:nvSpPr>
        <p:spPr>
          <a:xfrm>
            <a:off x="4338828" y="2697480"/>
            <a:ext cx="603504" cy="603504"/>
          </a:xfrm>
          <a:prstGeom prst="ellipse">
            <a:avLst/>
          </a:prstGeom>
          <a:solidFill>
            <a:srgbClr val="1C7293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11" name="Image 1" descr="/home/claude/ibis-talk/icons/cod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411248" y="2769900"/>
            <a:ext cx="458663" cy="458663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3520440" y="3566160"/>
            <a:ext cx="2240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15000"/>
              </a:lnSpc>
              <a:buNone/>
            </a:pPr>
            <a:r>
              <a:rPr lang="en-US" sz="14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 it — it works</a:t>
            </a:r>
            <a:endParaRPr lang="en-US" sz="1450" dirty="0"/>
          </a:p>
        </p:txBody>
      </p:sp>
      <p:sp>
        <p:nvSpPr>
          <p:cNvPr id="13" name="Text 9"/>
          <p:cNvSpPr txBox="1"/>
          <p:nvPr/>
        </p:nvSpPr>
        <p:spPr>
          <a:xfrm>
            <a:off x="3566160" y="4206240"/>
            <a:ext cx="21488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25000"/>
              </a:lnSpc>
              <a:buNone/>
            </a:pPr>
            <a:r>
              <a:rPr lang="en-US" sz="1150" dirty="0">
                <a:solidFill>
                  <a:srgbClr val="9FB3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fast, local, zero infra</a:t>
            </a:r>
            <a:endParaRPr lang="en-US" sz="1150" dirty="0"/>
          </a:p>
        </p:txBody>
      </p:sp>
      <p:sp>
        <p:nvSpPr>
          <p:cNvPr id="14" name="Shape 10"/>
          <p:cNvSpPr/>
          <p:nvPr/>
        </p:nvSpPr>
        <p:spPr>
          <a:xfrm>
            <a:off x="6172200" y="2377440"/>
            <a:ext cx="2514600" cy="3017520"/>
          </a:xfrm>
          <a:prstGeom prst="roundRect">
            <a:avLst>
              <a:gd name="adj" fmla="val 3636"/>
            </a:avLst>
          </a:prstGeom>
          <a:solidFill>
            <a:srgbClr val="1B245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5" name="Shape 11"/>
          <p:cNvSpPr/>
          <p:nvPr/>
        </p:nvSpPr>
        <p:spPr>
          <a:xfrm>
            <a:off x="7127748" y="2697480"/>
            <a:ext cx="603504" cy="603504"/>
          </a:xfrm>
          <a:prstGeom prst="ellipse">
            <a:avLst/>
          </a:prstGeom>
          <a:solidFill>
            <a:srgbClr val="F2994A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16" name="Image 2" descr="/home/claude/ibis-talk/icons/exchan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200168" y="2769900"/>
            <a:ext cx="458663" cy="458663"/>
          </a:xfrm>
          <a:prstGeom prst="rect">
            <a:avLst/>
          </a:prstGeom>
        </p:spPr>
      </p:pic>
      <p:sp>
        <p:nvSpPr>
          <p:cNvPr id="17" name="Text 12"/>
          <p:cNvSpPr txBox="1"/>
          <p:nvPr/>
        </p:nvSpPr>
        <p:spPr>
          <a:xfrm>
            <a:off x="6309360" y="3566160"/>
            <a:ext cx="2240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15000"/>
              </a:lnSpc>
              <a:buNone/>
            </a:pPr>
            <a:r>
              <a:rPr lang="en-US" sz="14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Change one connection</a:t>
            </a:r>
            <a:endParaRPr lang="en-US" sz="1450" dirty="0"/>
          </a:p>
        </p:txBody>
      </p:sp>
      <p:sp>
        <p:nvSpPr>
          <p:cNvPr id="18" name="Text 13"/>
          <p:cNvSpPr txBox="1"/>
          <p:nvPr/>
        </p:nvSpPr>
        <p:spPr>
          <a:xfrm>
            <a:off x="6355080" y="4206240"/>
            <a:ext cx="21488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25000"/>
              </a:lnSpc>
              <a:buNone/>
            </a:pPr>
            <a:r>
              <a:rPr lang="en-US" sz="1150" dirty="0">
                <a:solidFill>
                  <a:srgbClr val="9FB3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point Ibis at Trino instead</a:t>
            </a:r>
            <a:endParaRPr lang="en-US" sz="1150" dirty="0"/>
          </a:p>
        </p:txBody>
      </p:sp>
      <p:sp>
        <p:nvSpPr>
          <p:cNvPr id="19" name="Shape 14"/>
          <p:cNvSpPr/>
          <p:nvPr/>
        </p:nvSpPr>
        <p:spPr>
          <a:xfrm>
            <a:off x="8961120" y="2377440"/>
            <a:ext cx="2514600" cy="3017520"/>
          </a:xfrm>
          <a:prstGeom prst="roundRect">
            <a:avLst>
              <a:gd name="adj" fmla="val 3636"/>
            </a:avLst>
          </a:prstGeom>
          <a:solidFill>
            <a:srgbClr val="1B245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0" name="Shape 15"/>
          <p:cNvSpPr/>
          <p:nvPr/>
        </p:nvSpPr>
        <p:spPr>
          <a:xfrm>
            <a:off x="9916668" y="2697480"/>
            <a:ext cx="603504" cy="603504"/>
          </a:xfrm>
          <a:prstGeom prst="ellipse">
            <a:avLst/>
          </a:prstGeom>
          <a:solidFill>
            <a:srgbClr val="1C7293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21" name="Image 3" descr="/home/claude/ibis-talk/icons/server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989088" y="2769900"/>
            <a:ext cx="458663" cy="458663"/>
          </a:xfrm>
          <a:prstGeom prst="rect">
            <a:avLst/>
          </a:prstGeom>
        </p:spPr>
      </p:pic>
      <p:sp>
        <p:nvSpPr>
          <p:cNvPr id="22" name="Text 16"/>
          <p:cNvSpPr txBox="1"/>
          <p:nvPr/>
        </p:nvSpPr>
        <p:spPr>
          <a:xfrm>
            <a:off x="9098280" y="3566160"/>
            <a:ext cx="2240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15000"/>
              </a:lnSpc>
              <a:buNone/>
            </a:pPr>
            <a:r>
              <a:rPr lang="en-US" sz="14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code, new engine</a:t>
            </a:r>
            <a:endParaRPr lang="en-US" sz="1450" dirty="0"/>
          </a:p>
        </p:txBody>
      </p:sp>
      <p:sp>
        <p:nvSpPr>
          <p:cNvPr id="23" name="Text 17"/>
          <p:cNvSpPr txBox="1"/>
          <p:nvPr/>
        </p:nvSpPr>
        <p:spPr>
          <a:xfrm>
            <a:off x="9144000" y="4206240"/>
            <a:ext cx="21488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25000"/>
              </a:lnSpc>
              <a:buNone/>
            </a:pPr>
            <a:r>
              <a:rPr lang="en-US" sz="1150" dirty="0">
                <a:solidFill>
                  <a:srgbClr val="9FB3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running as a distributed query</a:t>
            </a:r>
            <a:endParaRPr lang="en-US" sz="1150" dirty="0"/>
          </a:p>
        </p:txBody>
      </p:sp>
      <p:sp>
        <p:nvSpPr>
          <p:cNvPr id="24" name="Text 18"/>
          <p:cNvSpPr txBox="1"/>
          <p:nvPr/>
        </p:nvSpPr>
        <p:spPr>
          <a:xfrm>
            <a:off x="594360" y="5715000"/>
            <a:ext cx="7315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F2994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Follow along: ibis_optionality_demo.ipynb</a:t>
            </a:r>
            <a:endParaRPr lang="en-US" sz="1400" dirty="0"/>
          </a:p>
        </p:txBody>
      </p:sp>
      <p:sp>
        <p:nvSpPr>
          <p:cNvPr id="25" name="Text 19"/>
          <p:cNvSpPr txBox="1"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9FB3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Ibis: Bringing Optionality to Python Dataframes</a:t>
            </a:r>
            <a:endParaRPr lang="en-US" sz="900" dirty="0"/>
          </a:p>
        </p:txBody>
      </p:sp>
      <p:sp>
        <p:nvSpPr>
          <p:cNvPr id="26" name="Text 20"/>
          <p:cNvSpPr txBox="1"/>
          <p:nvPr/>
        </p:nvSpPr>
        <p:spPr>
          <a:xfrm>
            <a:off x="11274552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9FB3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kern="0" spc="20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 · PART 1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77240"/>
            <a:ext cx="9601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2129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Local dev: connect, build, run — on DuckDB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48640" y="1828800"/>
            <a:ext cx="11109960" cy="4160520"/>
          </a:xfrm>
          <a:prstGeom prst="roundRect">
            <a:avLst>
              <a:gd name="adj" fmla="val 1758"/>
            </a:avLst>
          </a:prstGeom>
          <a:solidFill>
            <a:srgbClr val="21295C"/>
          </a:solidFill>
          <a:ln/>
          <a:effectLst>
            <a:outerShdw blurRad="76200" dist="25400" dir="5400000" algn="bl" rotWithShape="0">
              <a:srgbClr val="000000">
                <a:alpha val="2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 txBox="1"/>
          <p:nvPr/>
        </p:nvSpPr>
        <p:spPr>
          <a:xfrm>
            <a:off x="804672" y="2029968"/>
            <a:ext cx="10597896" cy="3758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25000"/>
              </a:lnSpc>
              <a:buNone/>
            </a:pPr>
            <a:r>
              <a:rPr lang="en-US" sz="155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 = ibis.</a:t>
            </a:r>
            <a:r>
              <a:rPr lang="en-US" sz="155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duckdb</a:t>
            </a:r>
            <a:r>
              <a:rPr lang="en-US" sz="155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.connect()</a:t>
            </a:r>
            <a:endParaRPr lang="en-US" sz="1550" dirty="0"/>
          </a:p>
          <a:p>
            <a:pPr marL="0" indent="0">
              <a:lnSpc>
                <a:spcPct val="125000"/>
              </a:lnSpc>
              <a:buNone/>
            </a:pPr>
            <a:r>
              <a:rPr lang="en-US" sz="1550" dirty="0">
                <a:solidFill>
                  <a:srgbClr val="E7EE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penguins = con.read_parquet(</a:t>
            </a:r>
            <a:r>
              <a:rPr lang="en-US" sz="155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"penguins.parquet"</a:t>
            </a:r>
            <a:r>
              <a:rPr lang="en-US" sz="1550" dirty="0">
                <a:solidFill>
                  <a:srgbClr val="E7EE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endParaRPr lang="en-US" sz="1550" dirty="0"/>
          </a:p>
          <a:p>
            <a:pPr marL="0" indent="0">
              <a:lnSpc>
                <a:spcPct val="125000"/>
              </a:lnSpc>
              <a:buNone/>
            </a:pPr>
            <a:r>
              <a:rPr lang="en-US" sz="1550" dirty="0">
                <a:solidFill>
                  <a:srgbClr val="E7EE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1550" dirty="0"/>
          </a:p>
          <a:p>
            <a:pPr marL="0" indent="0">
              <a:lnSpc>
                <a:spcPct val="125000"/>
              </a:lnSpc>
              <a:buNone/>
            </a:pPr>
            <a:r>
              <a:rPr lang="en-US" sz="15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def</a:t>
            </a:r>
            <a:r>
              <a:rPr lang="en-US" sz="155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top_species_by_mass(t):</a:t>
            </a:r>
            <a:endParaRPr lang="en-US" sz="1550" dirty="0"/>
          </a:p>
          <a:p>
            <a:pPr marL="0" indent="0">
              <a:lnSpc>
                <a:spcPct val="125000"/>
              </a:lnSpc>
              <a:buNone/>
            </a:pPr>
            <a:r>
              <a:rPr lang="en-US" sz="1550" dirty="0">
                <a:solidFill>
                  <a:srgbClr val="E7EE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return (t.filter(t.body_mass_g.notnull())</a:t>
            </a:r>
            <a:endParaRPr lang="en-US" sz="1550" dirty="0"/>
          </a:p>
          <a:p>
            <a:pPr marL="0" indent="0">
              <a:lnSpc>
                <a:spcPct val="125000"/>
              </a:lnSpc>
              <a:buNone/>
            </a:pPr>
            <a:r>
              <a:rPr lang="en-US" sz="1550" dirty="0">
                <a:solidFill>
                  <a:srgbClr val="E7EE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.group_by(</a:t>
            </a:r>
            <a:r>
              <a:rPr lang="en-US" sz="155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"species"</a:t>
            </a:r>
            <a:r>
              <a:rPr lang="en-US" sz="1550" dirty="0">
                <a:solidFill>
                  <a:srgbClr val="E7EE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endParaRPr lang="en-US" sz="1550" dirty="0"/>
          </a:p>
          <a:p>
            <a:pPr marL="0" indent="0">
              <a:lnSpc>
                <a:spcPct val="125000"/>
              </a:lnSpc>
              <a:buNone/>
            </a:pPr>
            <a:r>
              <a:rPr lang="en-US" sz="1550" dirty="0">
                <a:solidFill>
                  <a:srgbClr val="E7EE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.aggregate(avg_mass_g=t.body_mass_g.mean())</a:t>
            </a:r>
            <a:endParaRPr lang="en-US" sz="1550" dirty="0"/>
          </a:p>
          <a:p>
            <a:pPr marL="0" indent="0">
              <a:lnSpc>
                <a:spcPct val="125000"/>
              </a:lnSpc>
              <a:buNone/>
            </a:pPr>
            <a:r>
              <a:rPr lang="en-US" sz="1550" dirty="0">
                <a:solidFill>
                  <a:srgbClr val="E7EE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.order_by(ibis.desc(</a:t>
            </a:r>
            <a:r>
              <a:rPr lang="en-US" sz="155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"avg_mass_g"</a:t>
            </a:r>
            <a:r>
              <a:rPr lang="en-US" sz="1550" dirty="0">
                <a:solidFill>
                  <a:srgbClr val="E7EE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)))</a:t>
            </a:r>
            <a:endParaRPr lang="en-US" sz="1550" dirty="0"/>
          </a:p>
          <a:p>
            <a:pPr marL="0" indent="0">
              <a:lnSpc>
                <a:spcPct val="125000"/>
              </a:lnSpc>
              <a:buNone/>
            </a:pPr>
            <a:r>
              <a:rPr lang="en-US" sz="1550" dirty="0">
                <a:solidFill>
                  <a:srgbClr val="E7EE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1550" dirty="0"/>
          </a:p>
          <a:p>
            <a:pPr marL="0" indent="0">
              <a:lnSpc>
                <a:spcPct val="125000"/>
              </a:lnSpc>
              <a:buNone/>
            </a:pPr>
            <a:r>
              <a:rPr lang="en-US" sz="155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top_species_by_mass(penguins)</a:t>
            </a:r>
            <a:endParaRPr lang="en-US" sz="155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9AA6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Ibis: Bringing Optionality to Python Dataframes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11274552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9AA6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</a:t>
            </a:r>
            <a:endParaRPr lang="en-US" sz="9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kern="0" spc="20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 · PART 2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77240"/>
            <a:ext cx="9601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2129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Same function, new engine — nothing else changes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48640" y="1828800"/>
            <a:ext cx="11109960" cy="3246120"/>
          </a:xfrm>
          <a:prstGeom prst="roundRect">
            <a:avLst>
              <a:gd name="adj" fmla="val 2254"/>
            </a:avLst>
          </a:prstGeom>
          <a:solidFill>
            <a:srgbClr val="21295C"/>
          </a:solidFill>
          <a:ln/>
          <a:effectLst>
            <a:outerShdw blurRad="76200" dist="25400" dir="5400000" algn="bl" rotWithShape="0">
              <a:srgbClr val="000000">
                <a:alpha val="2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 txBox="1"/>
          <p:nvPr/>
        </p:nvSpPr>
        <p:spPr>
          <a:xfrm>
            <a:off x="804672" y="2029968"/>
            <a:ext cx="10597896" cy="2843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25000"/>
              </a:lnSpc>
              <a:buNone/>
            </a:pPr>
            <a:r>
              <a:rPr lang="en-US" sz="1550" b="1" dirty="0">
                <a:solidFill>
                  <a:srgbClr val="F2994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—— the one thing that changes ——</a:t>
            </a:r>
            <a:endParaRPr lang="en-US" sz="1550" dirty="0"/>
          </a:p>
          <a:p>
            <a:pPr marL="0" indent="0">
              <a:lnSpc>
                <a:spcPct val="125000"/>
              </a:lnSpc>
              <a:buNone/>
            </a:pPr>
            <a:r>
              <a:rPr lang="en-US" sz="155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 = ibis.</a:t>
            </a:r>
            <a:r>
              <a:rPr lang="en-US" sz="155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trino</a:t>
            </a:r>
            <a:r>
              <a:rPr lang="en-US" sz="155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.connect(host=..., port=443, user=..., </a:t>
            </a:r>
            <a:endParaRPr lang="en-US" sz="1550" dirty="0"/>
          </a:p>
          <a:p>
            <a:pPr marL="0" indent="0">
              <a:lnSpc>
                <a:spcPct val="125000"/>
              </a:lnSpc>
              <a:buNone/>
            </a:pPr>
            <a:r>
              <a:rPr lang="en-US" sz="155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       database=</a:t>
            </a:r>
            <a:r>
              <a:rPr lang="en-US" sz="155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"hive"</a:t>
            </a:r>
            <a:r>
              <a:rPr lang="en-US" sz="155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 schema=</a:t>
            </a:r>
            <a:r>
              <a:rPr lang="en-US" sz="155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"default"</a:t>
            </a:r>
            <a:r>
              <a:rPr lang="en-US" sz="155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endParaRPr lang="en-US" sz="1550" dirty="0"/>
          </a:p>
          <a:p>
            <a:pPr marL="0" indent="0">
              <a:lnSpc>
                <a:spcPct val="125000"/>
              </a:lnSpc>
              <a:buNone/>
            </a:pPr>
            <a:r>
              <a:rPr lang="en-US" sz="1550" dirty="0">
                <a:solidFill>
                  <a:srgbClr val="E7EE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1550" dirty="0"/>
          </a:p>
          <a:p>
            <a:pPr marL="0" indent="0">
              <a:lnSpc>
                <a:spcPct val="125000"/>
              </a:lnSpc>
              <a:buNone/>
            </a:pPr>
            <a:r>
              <a:rPr lang="en-US" sz="1550" dirty="0">
                <a:solidFill>
                  <a:srgbClr val="E7EE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penguins = con.table(</a:t>
            </a:r>
            <a:r>
              <a:rPr lang="en-US" sz="155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"penguins"</a:t>
            </a:r>
            <a:r>
              <a:rPr lang="en-US" sz="1550" dirty="0">
                <a:solidFill>
                  <a:srgbClr val="E7EE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endParaRPr lang="en-US" sz="1550" dirty="0"/>
          </a:p>
          <a:p>
            <a:pPr marL="0" indent="0">
              <a:lnSpc>
                <a:spcPct val="125000"/>
              </a:lnSpc>
              <a:buNone/>
            </a:pPr>
            <a:r>
              <a:rPr lang="en-US" sz="1550" dirty="0">
                <a:solidFill>
                  <a:srgbClr val="E7EE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1550" dirty="0"/>
          </a:p>
          <a:p>
            <a:pPr marL="0" indent="0">
              <a:lnSpc>
                <a:spcPct val="125000"/>
              </a:lnSpc>
              <a:buNone/>
            </a:pPr>
            <a:r>
              <a:rPr lang="en-US" sz="1550" dirty="0">
                <a:solidFill>
                  <a:srgbClr val="8FA6C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identical to the DuckDB slide — method reuse works w/any supported backend</a:t>
            </a:r>
            <a:endParaRPr lang="en-US" sz="1550" dirty="0"/>
          </a:p>
          <a:p>
            <a:pPr marL="0" indent="0">
              <a:lnSpc>
                <a:spcPct val="125000"/>
              </a:lnSpc>
              <a:buNone/>
            </a:pPr>
            <a:r>
              <a:rPr lang="en-US" sz="155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top_species_by_mass(penguins)</a:t>
            </a:r>
            <a:r>
              <a:rPr lang="en-US" sz="1550" dirty="0">
                <a:solidFill>
                  <a:srgbClr val="E7EE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r>
              <a:rPr lang="en-US" sz="1550" dirty="0">
                <a:solidFill>
                  <a:srgbClr val="F2994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← now a distributed Trino query</a:t>
            </a:r>
            <a:endParaRPr lang="en-US" sz="1550" dirty="0"/>
          </a:p>
        </p:txBody>
      </p:sp>
      <p:sp>
        <p:nvSpPr>
          <p:cNvPr id="6" name="Shape 4"/>
          <p:cNvSpPr/>
          <p:nvPr/>
        </p:nvSpPr>
        <p:spPr>
          <a:xfrm>
            <a:off x="548640" y="5349240"/>
            <a:ext cx="11109960" cy="868680"/>
          </a:xfrm>
          <a:prstGeom prst="roundRect">
            <a:avLst>
              <a:gd name="adj" fmla="val 8421"/>
            </a:avLst>
          </a:prstGeom>
          <a:solidFill>
            <a:srgbClr val="E4F0F6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 txBox="1"/>
          <p:nvPr/>
        </p:nvSpPr>
        <p:spPr>
          <a:xfrm>
            <a:off x="822960" y="5349240"/>
            <a:ext cx="106070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065A8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top_species_by_mass</a:t>
            </a:r>
            <a:r>
              <a:rPr lang="en-US" sz="1500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never cares about out which engine it's running on. That's the optionality.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9AA6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Ibis: Bringing Optionality to Python Dataframes</a:t>
            </a:r>
            <a:endParaRPr lang="en-US" sz="900" dirty="0"/>
          </a:p>
        </p:txBody>
      </p:sp>
      <p:sp>
        <p:nvSpPr>
          <p:cNvPr id="9" name="Text 7"/>
          <p:cNvSpPr txBox="1"/>
          <p:nvPr/>
        </p:nvSpPr>
        <p:spPr>
          <a:xfrm>
            <a:off x="11274552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9AA6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</a:t>
            </a:r>
            <a:endParaRPr lang="en-US" sz="9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yebrow"/>
          <p:cNvSpPr txBox="1"/>
          <p:nvPr/>
        </p:nvSpPr>
        <p:spPr>
          <a:xfrm>
            <a:off x="548640" y="45720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kern="0" spc="20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FINE PRINT</a:t>
            </a:r>
            <a:endParaRPr lang="en-US" sz="1300" dirty="0"/>
          </a:p>
        </p:txBody>
      </p:sp>
      <p:sp>
        <p:nvSpPr>
          <p:cNvPr id="3" name="Title"/>
          <p:cNvSpPr txBox="1"/>
          <p:nvPr/>
        </p:nvSpPr>
        <p:spPr>
          <a:xfrm>
            <a:off x="548640" y="777240"/>
            <a:ext cx="10500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2129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Same code, not always the same answer</a:t>
            </a:r>
            <a:endParaRPr lang="en-US" sz="3200" dirty="0"/>
          </a:p>
        </p:txBody>
      </p:sp>
      <p:sp>
        <p:nvSpPr>
          <p:cNvPr id="4" name="Card 4"/>
          <p:cNvSpPr/>
          <p:nvPr/>
        </p:nvSpPr>
        <p:spPr>
          <a:xfrm>
            <a:off x="548640" y="1965960"/>
            <a:ext cx="3520440" cy="3200400"/>
          </a:xfrm>
          <a:prstGeom prst="roundRect">
            <a:avLst>
              <a:gd name="adj" fmla="val 2597"/>
            </a:avLst>
          </a:prstGeom>
          <a:solidFill>
            <a:srgbClr val="EEF3F7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" name="Badge 1"/>
          <p:cNvSpPr/>
          <p:nvPr/>
        </p:nvSpPr>
        <p:spPr>
          <a:xfrm>
            <a:off x="841248" y="2258568"/>
            <a:ext cx="566928" cy="566928"/>
          </a:xfrm>
          <a:prstGeom prst="ellipse">
            <a:avLst/>
          </a:prstGeom>
          <a:solidFill>
            <a:srgbClr val="065A8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" name="BadgeNum 1"/>
          <p:cNvSpPr txBox="1"/>
          <p:nvPr/>
        </p:nvSpPr>
        <p:spPr>
          <a:xfrm>
            <a:off x="841248" y="225856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2000" dirty="0"/>
          </a:p>
        </p:txBody>
      </p:sp>
      <p:sp>
        <p:nvSpPr>
          <p:cNvPr id="7" name="CardHead0"/>
          <p:cNvSpPr txBox="1"/>
          <p:nvPr/>
        </p:nvSpPr>
        <p:spPr>
          <a:xfrm>
            <a:off x="822960" y="3072384"/>
            <a:ext cx="2971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2000"/>
              </a:lnSpc>
              <a:buNone/>
            </a:pPr>
            <a:r>
              <a:rPr lang="en-US" sz="1600" b="1" dirty="0">
                <a:solidFill>
                  <a:srgbClr val="2129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Unsupported operations</a:t>
            </a:r>
            <a:endParaRPr lang="en-US" sz="1600" dirty="0"/>
          </a:p>
        </p:txBody>
      </p:sp>
      <p:sp>
        <p:nvSpPr>
          <p:cNvPr id="8" name="CardBody0"/>
          <p:cNvSpPr txBox="1"/>
          <p:nvPr/>
        </p:nvSpPr>
        <p:spPr>
          <a:xfrm>
            <a:off x="822960" y="3862704"/>
            <a:ext cx="29718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28000"/>
              </a:lnSpc>
              <a:buNone/>
            </a:pPr>
            <a:r>
              <a:rPr lang="en-US" sz="1200" dirty="0">
                <a:solidFill>
                  <a:srgbClr val="5C6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expression with no equivalent on the target backend fails with </a:t>
            </a:r>
            <a:r>
              <a:rPr lang="en-US" sz="1200" dirty="0">
                <a:solidFill>
                  <a:srgbClr val="5C6B8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OperationNotDefinedError</a:t>
            </a:r>
            <a:r>
              <a:rPr lang="en-US" sz="1200" dirty="0">
                <a:solidFill>
                  <a:srgbClr val="5C6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at compile time — before any data moves. Quick to catch, but still a code change.</a:t>
            </a:r>
            <a:endParaRPr lang="en-US" sz="1200" dirty="0"/>
          </a:p>
        </p:txBody>
      </p:sp>
      <p:sp>
        <p:nvSpPr>
          <p:cNvPr id="9" name="Card 9"/>
          <p:cNvSpPr/>
          <p:nvPr/>
        </p:nvSpPr>
        <p:spPr>
          <a:xfrm>
            <a:off x="4343400" y="1965960"/>
            <a:ext cx="3520440" cy="3200400"/>
          </a:xfrm>
          <a:prstGeom prst="roundRect">
            <a:avLst>
              <a:gd name="adj" fmla="val 2597"/>
            </a:avLst>
          </a:prstGeom>
          <a:solidFill>
            <a:srgbClr val="EEF3F7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0" name="Badge 2"/>
          <p:cNvSpPr/>
          <p:nvPr/>
        </p:nvSpPr>
        <p:spPr>
          <a:xfrm>
            <a:off x="4636008" y="2258568"/>
            <a:ext cx="566928" cy="566928"/>
          </a:xfrm>
          <a:prstGeom prst="ellipse">
            <a:avLst/>
          </a:prstGeom>
          <a:solidFill>
            <a:srgbClr val="065A8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1" name="BadgeNum 2"/>
          <p:cNvSpPr txBox="1"/>
          <p:nvPr/>
        </p:nvSpPr>
        <p:spPr>
          <a:xfrm>
            <a:off x="4636008" y="225856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2000" dirty="0"/>
          </a:p>
        </p:txBody>
      </p:sp>
      <p:sp>
        <p:nvSpPr>
          <p:cNvPr id="12" name="CardHead1"/>
          <p:cNvSpPr txBox="1"/>
          <p:nvPr/>
        </p:nvSpPr>
        <p:spPr>
          <a:xfrm>
            <a:off x="4617720" y="3072384"/>
            <a:ext cx="2971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2000"/>
              </a:lnSpc>
              <a:buNone/>
            </a:pPr>
            <a:r>
              <a:rPr lang="en-US" sz="1600" b="1" dirty="0">
                <a:solidFill>
                  <a:srgbClr val="2129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Semantics that drift</a:t>
            </a:r>
            <a:endParaRPr lang="en-US" sz="1600" dirty="0"/>
          </a:p>
        </p:txBody>
      </p:sp>
      <p:sp>
        <p:nvSpPr>
          <p:cNvPr id="13" name="CardBody1"/>
          <p:cNvSpPr txBox="1"/>
          <p:nvPr/>
        </p:nvSpPr>
        <p:spPr>
          <a:xfrm>
            <a:off x="4617720" y="3862704"/>
            <a:ext cx="29718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28000"/>
              </a:lnSpc>
              <a:buNone/>
            </a:pPr>
            <a:r>
              <a:rPr lang="en-US" sz="1200" dirty="0">
                <a:solidFill>
                  <a:srgbClr val="5C6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NULL sort position, integer division, timestamp precision and time zones, regex flavor, string case handling. The query runs; the answer can shift between engines.</a:t>
            </a:r>
            <a:endParaRPr lang="en-US" sz="1200" dirty="0"/>
          </a:p>
        </p:txBody>
      </p:sp>
      <p:sp>
        <p:nvSpPr>
          <p:cNvPr id="14" name="Card 14"/>
          <p:cNvSpPr/>
          <p:nvPr/>
        </p:nvSpPr>
        <p:spPr>
          <a:xfrm>
            <a:off x="8138160" y="1965960"/>
            <a:ext cx="3520440" cy="3200400"/>
          </a:xfrm>
          <a:prstGeom prst="roundRect">
            <a:avLst>
              <a:gd name="adj" fmla="val 2597"/>
            </a:avLst>
          </a:prstGeom>
          <a:solidFill>
            <a:srgbClr val="EEF3F7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5" name="Badge 3"/>
          <p:cNvSpPr/>
          <p:nvPr/>
        </p:nvSpPr>
        <p:spPr>
          <a:xfrm>
            <a:off x="8430768" y="2258568"/>
            <a:ext cx="566928" cy="566928"/>
          </a:xfrm>
          <a:prstGeom prst="ellipse">
            <a:avLst/>
          </a:prstGeom>
          <a:solidFill>
            <a:srgbClr val="065A8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6" name="BadgeNum 3"/>
          <p:cNvSpPr txBox="1"/>
          <p:nvPr/>
        </p:nvSpPr>
        <p:spPr>
          <a:xfrm>
            <a:off x="8430768" y="225856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2000" dirty="0"/>
          </a:p>
        </p:txBody>
      </p:sp>
      <p:sp>
        <p:nvSpPr>
          <p:cNvPr id="17" name="CardHead2"/>
          <p:cNvSpPr txBox="1"/>
          <p:nvPr/>
        </p:nvSpPr>
        <p:spPr>
          <a:xfrm>
            <a:off x="8412480" y="3072384"/>
            <a:ext cx="2971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2000"/>
              </a:lnSpc>
              <a:buNone/>
            </a:pPr>
            <a:r>
              <a:rPr lang="en-US" sz="1600" b="1" dirty="0">
                <a:solidFill>
                  <a:srgbClr val="2129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Getting data in and out</a:t>
            </a:r>
            <a:endParaRPr lang="en-US" sz="1600" dirty="0"/>
          </a:p>
        </p:txBody>
      </p:sp>
      <p:sp>
        <p:nvSpPr>
          <p:cNvPr id="18" name="CardBody2"/>
          <p:cNvSpPr txBox="1"/>
          <p:nvPr/>
        </p:nvSpPr>
        <p:spPr>
          <a:xfrm>
            <a:off x="8412480" y="3862704"/>
            <a:ext cx="29718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28000"/>
              </a:lnSpc>
              <a:buNone/>
            </a:pPr>
            <a:r>
              <a:rPr lang="en-US" sz="1200" dirty="0">
                <a:solidFill>
                  <a:srgbClr val="5C6B8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read_parquet</a:t>
            </a:r>
            <a:r>
              <a:rPr lang="en-US" sz="1200" dirty="0">
                <a:solidFill>
                  <a:srgbClr val="5C6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</a:t>
            </a:r>
            <a:r>
              <a:rPr lang="en-US" sz="1200" dirty="0">
                <a:solidFill>
                  <a:srgbClr val="5C6B8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create_table</a:t>
            </a:r>
            <a:r>
              <a:rPr lang="en-US" sz="1200" dirty="0">
                <a:solidFill>
                  <a:srgbClr val="5C6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and file I/O are supported unevenly. Composing expressions is the portable part; loading and writing is less so.</a:t>
            </a:r>
            <a:endParaRPr lang="en-US" sz="1200" dirty="0"/>
          </a:p>
        </p:txBody>
      </p:sp>
      <p:sp>
        <p:nvSpPr>
          <p:cNvPr id="19" name="Footnote"/>
          <p:cNvSpPr txBox="1"/>
          <p:nvPr/>
        </p:nvSpPr>
        <p:spPr>
          <a:xfrm>
            <a:off x="548640" y="5560000"/>
            <a:ext cx="11094720" cy="56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50" i="1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Portability is real — treat a backend swap like a database migration, and run your tests against the new engine first.</a:t>
            </a:r>
            <a:endParaRPr lang="en-US" sz="1550" dirty="0"/>
          </a:p>
        </p:txBody>
      </p:sp>
      <p:sp>
        <p:nvSpPr>
          <p:cNvPr id="20" name="FooterL"/>
          <p:cNvSpPr txBox="1"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9AA6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Ibis: Bringing Optionality to Python Dataframes</a:t>
            </a:r>
            <a:endParaRPr lang="en-US" sz="900" dirty="0"/>
          </a:p>
        </p:txBody>
      </p:sp>
      <p:sp>
        <p:nvSpPr>
          <p:cNvPr id="21" name="FooterR"/>
          <p:cNvSpPr txBox="1"/>
          <p:nvPr/>
        </p:nvSpPr>
        <p:spPr>
          <a:xfrm>
            <a:off x="11274552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9AA6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</a:t>
            </a:r>
            <a:endParaRPr lang="en-US" sz="9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yebrow"/>
          <p:cNvSpPr txBox="1"/>
          <p:nvPr/>
        </p:nvSpPr>
        <p:spPr>
          <a:xfrm>
            <a:off x="548640" y="45720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kern="0" spc="20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FINE PRINT · UDFs</a:t>
            </a:r>
            <a:endParaRPr lang="en-US" sz="1300" dirty="0"/>
          </a:p>
        </p:txBody>
      </p:sp>
      <p:sp>
        <p:nvSpPr>
          <p:cNvPr id="3" name="Title"/>
          <p:cNvSpPr txBox="1"/>
          <p:nvPr/>
        </p:nvSpPr>
        <p:spPr>
          <a:xfrm>
            <a:off x="548640" y="777240"/>
            <a:ext cx="10500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2129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UDFs don’t travel between backends for free</a:t>
            </a:r>
            <a:endParaRPr lang="en-US" sz="3200" dirty="0"/>
          </a:p>
        </p:txBody>
      </p:sp>
      <p:sp>
        <p:nvSpPr>
          <p:cNvPr id="4" name="Card 4"/>
          <p:cNvSpPr/>
          <p:nvPr/>
        </p:nvSpPr>
        <p:spPr>
          <a:xfrm>
            <a:off x="548640" y="1965960"/>
            <a:ext cx="3520440" cy="3200400"/>
          </a:xfrm>
          <a:prstGeom prst="roundRect">
            <a:avLst>
              <a:gd name="adj" fmla="val 2597"/>
            </a:avLst>
          </a:prstGeom>
          <a:solidFill>
            <a:srgbClr val="EEF3F7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" name="Badge 1"/>
          <p:cNvSpPr/>
          <p:nvPr/>
        </p:nvSpPr>
        <p:spPr>
          <a:xfrm>
            <a:off x="841248" y="2258568"/>
            <a:ext cx="566928" cy="566928"/>
          </a:xfrm>
          <a:prstGeom prst="ellipse">
            <a:avLst/>
          </a:prstGeom>
          <a:solidFill>
            <a:srgbClr val="065A8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" name="BadgeNum 1"/>
          <p:cNvSpPr txBox="1"/>
          <p:nvPr/>
        </p:nvSpPr>
        <p:spPr>
          <a:xfrm>
            <a:off x="841248" y="225856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2000" dirty="0"/>
          </a:p>
        </p:txBody>
      </p:sp>
      <p:sp>
        <p:nvSpPr>
          <p:cNvPr id="7" name="CardHead0"/>
          <p:cNvSpPr txBox="1"/>
          <p:nvPr/>
        </p:nvSpPr>
        <p:spPr>
          <a:xfrm>
            <a:off x="822960" y="3072384"/>
            <a:ext cx="2971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2000"/>
              </a:lnSpc>
              <a:buNone/>
            </a:pPr>
            <a:r>
              <a:rPr lang="en-US" sz="1600" b="1" dirty="0">
                <a:solidFill>
                  <a:srgbClr val="065A8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scalar.python</a:t>
            </a:r>
            <a:endParaRPr lang="en-US" sz="1600" dirty="0"/>
          </a:p>
        </p:txBody>
      </p:sp>
      <p:sp>
        <p:nvSpPr>
          <p:cNvPr id="8" name="CardBody0"/>
          <p:cNvSpPr txBox="1"/>
          <p:nvPr/>
        </p:nvSpPr>
        <p:spPr>
          <a:xfrm>
            <a:off x="822960" y="3862704"/>
            <a:ext cx="29718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28000"/>
              </a:lnSpc>
              <a:buNone/>
            </a:pPr>
            <a:r>
              <a:rPr lang="en-US" sz="1200" dirty="0">
                <a:solidFill>
                  <a:srgbClr val="5C6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Row-at-a-time Python. Fine on DuckDB, Polars, pandas. Elsewhere support and speed vary widely — several SQL engines, Trino included, have no Python-UDF path at all.</a:t>
            </a:r>
            <a:endParaRPr lang="en-US" sz="1200" dirty="0"/>
          </a:p>
        </p:txBody>
      </p:sp>
      <p:sp>
        <p:nvSpPr>
          <p:cNvPr id="9" name="Card 9"/>
          <p:cNvSpPr/>
          <p:nvPr/>
        </p:nvSpPr>
        <p:spPr>
          <a:xfrm>
            <a:off x="4343400" y="1965960"/>
            <a:ext cx="3520440" cy="3200400"/>
          </a:xfrm>
          <a:prstGeom prst="roundRect">
            <a:avLst>
              <a:gd name="adj" fmla="val 2597"/>
            </a:avLst>
          </a:prstGeom>
          <a:solidFill>
            <a:srgbClr val="EEF3F7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0" name="Badge 2"/>
          <p:cNvSpPr/>
          <p:nvPr/>
        </p:nvSpPr>
        <p:spPr>
          <a:xfrm>
            <a:off x="4636008" y="2258568"/>
            <a:ext cx="566928" cy="566928"/>
          </a:xfrm>
          <a:prstGeom prst="ellipse">
            <a:avLst/>
          </a:prstGeom>
          <a:solidFill>
            <a:srgbClr val="065A8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1" name="BadgeNum 2"/>
          <p:cNvSpPr txBox="1"/>
          <p:nvPr/>
        </p:nvSpPr>
        <p:spPr>
          <a:xfrm>
            <a:off x="4636008" y="225856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2000" dirty="0"/>
          </a:p>
        </p:txBody>
      </p:sp>
      <p:sp>
        <p:nvSpPr>
          <p:cNvPr id="12" name="CardHead1"/>
          <p:cNvSpPr txBox="1"/>
          <p:nvPr/>
        </p:nvSpPr>
        <p:spPr>
          <a:xfrm>
            <a:off x="4617720" y="3072384"/>
            <a:ext cx="2971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2000"/>
              </a:lnSpc>
              <a:buNone/>
            </a:pPr>
            <a:r>
              <a:rPr lang="en-US" sz="1600" b="1" dirty="0">
                <a:solidFill>
                  <a:srgbClr val="065A8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scalar.builtin</a:t>
            </a:r>
            <a:endParaRPr lang="en-US" sz="1600" dirty="0"/>
          </a:p>
        </p:txBody>
      </p:sp>
      <p:sp>
        <p:nvSpPr>
          <p:cNvPr id="13" name="CardBody1"/>
          <p:cNvSpPr txBox="1"/>
          <p:nvPr/>
        </p:nvSpPr>
        <p:spPr>
          <a:xfrm>
            <a:off x="4617720" y="3862704"/>
            <a:ext cx="29718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28000"/>
              </a:lnSpc>
              <a:buNone/>
            </a:pPr>
            <a:r>
              <a:rPr lang="en-US" sz="1200" dirty="0">
                <a:solidFill>
                  <a:srgbClr val="5C6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Delegates to a function the backend already ships — fast and native, but that exact function has to exist, by name, on every backend you target.</a:t>
            </a:r>
            <a:endParaRPr lang="en-US" sz="1200" dirty="0"/>
          </a:p>
        </p:txBody>
      </p:sp>
      <p:sp>
        <p:nvSpPr>
          <p:cNvPr id="14" name="Card 14"/>
          <p:cNvSpPr/>
          <p:nvPr/>
        </p:nvSpPr>
        <p:spPr>
          <a:xfrm>
            <a:off x="8138160" y="1965960"/>
            <a:ext cx="3520440" cy="3200400"/>
          </a:xfrm>
          <a:prstGeom prst="roundRect">
            <a:avLst>
              <a:gd name="adj" fmla="val 2597"/>
            </a:avLst>
          </a:prstGeom>
          <a:solidFill>
            <a:srgbClr val="EEF3F7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5" name="Badge 3"/>
          <p:cNvSpPr/>
          <p:nvPr/>
        </p:nvSpPr>
        <p:spPr>
          <a:xfrm>
            <a:off x="8430768" y="2258568"/>
            <a:ext cx="566928" cy="566928"/>
          </a:xfrm>
          <a:prstGeom prst="ellipse">
            <a:avLst/>
          </a:prstGeom>
          <a:solidFill>
            <a:srgbClr val="065A8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6" name="BadgeNum 3"/>
          <p:cNvSpPr txBox="1"/>
          <p:nvPr/>
        </p:nvSpPr>
        <p:spPr>
          <a:xfrm>
            <a:off x="8430768" y="225856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2000" dirty="0"/>
          </a:p>
        </p:txBody>
      </p:sp>
      <p:sp>
        <p:nvSpPr>
          <p:cNvPr id="17" name="CardHead2"/>
          <p:cNvSpPr txBox="1"/>
          <p:nvPr/>
        </p:nvSpPr>
        <p:spPr>
          <a:xfrm>
            <a:off x="8412480" y="3072384"/>
            <a:ext cx="2971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2000"/>
              </a:lnSpc>
              <a:buNone/>
            </a:pPr>
            <a:r>
              <a:rPr lang="en-US" sz="1600" b="1" dirty="0">
                <a:solidFill>
                  <a:srgbClr val="2129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Server-side UDFs</a:t>
            </a:r>
            <a:endParaRPr lang="en-US" sz="1600" dirty="0"/>
          </a:p>
        </p:txBody>
      </p:sp>
      <p:sp>
        <p:nvSpPr>
          <p:cNvPr id="18" name="CardBody2"/>
          <p:cNvSpPr txBox="1"/>
          <p:nvPr/>
        </p:nvSpPr>
        <p:spPr>
          <a:xfrm>
            <a:off x="8412480" y="3862704"/>
            <a:ext cx="29718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28000"/>
              </a:lnSpc>
              <a:buNone/>
            </a:pPr>
            <a:r>
              <a:rPr lang="en-US" sz="1200" dirty="0">
                <a:solidFill>
                  <a:srgbClr val="5C6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Snowflake, </a:t>
            </a:r>
            <a:r>
              <a:rPr lang="en-US" sz="1200" dirty="0" err="1">
                <a:solidFill>
                  <a:srgbClr val="5C6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BigQuery</a:t>
            </a:r>
            <a:r>
              <a:rPr lang="en-US" sz="1200" dirty="0">
                <a:solidFill>
                  <a:srgbClr val="5C6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Trino, </a:t>
            </a:r>
            <a:r>
              <a:rPr lang="en-US" sz="1200" dirty="0" err="1">
                <a:solidFill>
                  <a:srgbClr val="5C6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etc</a:t>
            </a:r>
            <a:r>
              <a:rPr lang="en-US" sz="1200" dirty="0">
                <a:solidFill>
                  <a:srgbClr val="5C6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register the function in the warehouse: extra permissions and a new deploy step. The UDF story is per-backend, not write-once.</a:t>
            </a:r>
            <a:endParaRPr lang="en-US" sz="1200" dirty="0"/>
          </a:p>
        </p:txBody>
      </p:sp>
      <p:sp>
        <p:nvSpPr>
          <p:cNvPr id="19" name="Footnote"/>
          <p:cNvSpPr txBox="1"/>
          <p:nvPr/>
        </p:nvSpPr>
        <p:spPr>
          <a:xfrm>
            <a:off x="548640" y="5560000"/>
            <a:ext cx="11094720" cy="56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50" i="1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Keep UDF logic out of the portable core — prefer .sql(), a builtin, or primitives Ibis already knows how to compile.</a:t>
            </a:r>
            <a:endParaRPr lang="en-US" sz="1550" dirty="0"/>
          </a:p>
        </p:txBody>
      </p:sp>
      <p:sp>
        <p:nvSpPr>
          <p:cNvPr id="20" name="FooterL"/>
          <p:cNvSpPr txBox="1"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9AA6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Ibis: Bringing Optionality to Python Dataframes</a:t>
            </a:r>
            <a:endParaRPr lang="en-US" sz="900" dirty="0"/>
          </a:p>
        </p:txBody>
      </p:sp>
      <p:sp>
        <p:nvSpPr>
          <p:cNvPr id="21" name="FooterR"/>
          <p:cNvSpPr txBox="1"/>
          <p:nvPr/>
        </p:nvSpPr>
        <p:spPr>
          <a:xfrm>
            <a:off x="11274552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9AA6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</a:t>
            </a:r>
            <a:endParaRPr lang="en-US" sz="9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kern="0" spc="20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IT MATTERS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77240"/>
            <a:ext cx="1072591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2129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Optionality is leverage — for your project &amp; your career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48640" y="1965960"/>
            <a:ext cx="3520440" cy="3566160"/>
          </a:xfrm>
          <a:prstGeom prst="roundRect">
            <a:avLst>
              <a:gd name="adj" fmla="val 2597"/>
            </a:avLst>
          </a:prstGeom>
          <a:solidFill>
            <a:srgbClr val="EEF3F7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841248" y="2258568"/>
            <a:ext cx="566928" cy="566928"/>
          </a:xfrm>
          <a:prstGeom prst="ellipse">
            <a:avLst/>
          </a:prstGeom>
          <a:solidFill>
            <a:srgbClr val="065A82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6" name="Image 0" descr="/home/claude/ibis-talk/icons/bol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09279" y="2326599"/>
            <a:ext cx="430865" cy="430865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841248" y="3063240"/>
            <a:ext cx="2935224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650" b="1" dirty="0">
                <a:solidFill>
                  <a:srgbClr val="2129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Prototype fast, ship without rewrites</a:t>
            </a:r>
            <a:endParaRPr lang="en-US" sz="1650" dirty="0"/>
          </a:p>
        </p:txBody>
      </p:sp>
      <p:sp>
        <p:nvSpPr>
          <p:cNvPr id="8" name="Text 5"/>
          <p:cNvSpPr txBox="1"/>
          <p:nvPr/>
        </p:nvSpPr>
        <p:spPr>
          <a:xfrm>
            <a:off x="841248" y="3931920"/>
            <a:ext cx="2935224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5C6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 and test locally on DuckDB, then point at production infrastructure with a config change, not a rewrite.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4343400" y="1965960"/>
            <a:ext cx="3520440" cy="3566160"/>
          </a:xfrm>
          <a:prstGeom prst="roundRect">
            <a:avLst>
              <a:gd name="adj" fmla="val 2597"/>
            </a:avLst>
          </a:prstGeom>
          <a:solidFill>
            <a:srgbClr val="EEF3F7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0" name="Shape 7"/>
          <p:cNvSpPr/>
          <p:nvPr/>
        </p:nvSpPr>
        <p:spPr>
          <a:xfrm>
            <a:off x="4636008" y="2258568"/>
            <a:ext cx="566928" cy="566928"/>
          </a:xfrm>
          <a:prstGeom prst="ellipse">
            <a:avLst/>
          </a:prstGeom>
          <a:solidFill>
            <a:srgbClr val="065A82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11" name="Image 1" descr="/home/claude/ibis-talk/icons/rout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04039" y="2326599"/>
            <a:ext cx="430865" cy="430865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4636008" y="3063240"/>
            <a:ext cx="2935224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650" b="1" dirty="0">
                <a:solidFill>
                  <a:srgbClr val="2129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Never married to one platform</a:t>
            </a:r>
            <a:endParaRPr lang="en-US" sz="1650" dirty="0"/>
          </a:p>
        </p:txBody>
      </p:sp>
      <p:sp>
        <p:nvSpPr>
          <p:cNvPr id="13" name="Text 9"/>
          <p:cNvSpPr txBox="1"/>
          <p:nvPr/>
        </p:nvSpPr>
        <p:spPr>
          <a:xfrm>
            <a:off x="4636008" y="3931920"/>
            <a:ext cx="2935224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5C6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team's stack changes. Ibis code mostly doesn't have to.</a:t>
            </a:r>
            <a:endParaRPr lang="en-US" sz="1300" dirty="0"/>
          </a:p>
        </p:txBody>
      </p:sp>
      <p:sp>
        <p:nvSpPr>
          <p:cNvPr id="14" name="Shape 10"/>
          <p:cNvSpPr/>
          <p:nvPr/>
        </p:nvSpPr>
        <p:spPr>
          <a:xfrm>
            <a:off x="8138160" y="1965960"/>
            <a:ext cx="3520440" cy="3566160"/>
          </a:xfrm>
          <a:prstGeom prst="roundRect">
            <a:avLst>
              <a:gd name="adj" fmla="val 2597"/>
            </a:avLst>
          </a:prstGeom>
          <a:solidFill>
            <a:srgbClr val="EEF3F7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5" name="Shape 11"/>
          <p:cNvSpPr/>
          <p:nvPr/>
        </p:nvSpPr>
        <p:spPr>
          <a:xfrm>
            <a:off x="8430768" y="2258568"/>
            <a:ext cx="566928" cy="566928"/>
          </a:xfrm>
          <a:prstGeom prst="ellipse">
            <a:avLst/>
          </a:prstGeom>
          <a:solidFill>
            <a:srgbClr val="065A82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16" name="Image 2" descr="/home/claude/ibis-talk/icons/check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498799" y="2326599"/>
            <a:ext cx="430865" cy="430865"/>
          </a:xfrm>
          <a:prstGeom prst="rect">
            <a:avLst/>
          </a:prstGeom>
        </p:spPr>
      </p:pic>
      <p:sp>
        <p:nvSpPr>
          <p:cNvPr id="17" name="Text 12"/>
          <p:cNvSpPr txBox="1"/>
          <p:nvPr/>
        </p:nvSpPr>
        <p:spPr>
          <a:xfrm>
            <a:off x="8430768" y="3063240"/>
            <a:ext cx="2935224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650" b="1" dirty="0">
                <a:solidFill>
                  <a:srgbClr val="2129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One skill, every employer's stack</a:t>
            </a:r>
            <a:endParaRPr lang="en-US" sz="1650" dirty="0"/>
          </a:p>
        </p:txBody>
      </p:sp>
      <p:sp>
        <p:nvSpPr>
          <p:cNvPr id="18" name="Text 13"/>
          <p:cNvSpPr txBox="1"/>
          <p:nvPr/>
        </p:nvSpPr>
        <p:spPr>
          <a:xfrm>
            <a:off x="8430768" y="3931920"/>
            <a:ext cx="2935224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5C6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Whatever warehouse or engine your next job runs, there's a good chance Ibis already speaks to it.</a:t>
            </a:r>
            <a:endParaRPr lang="en-US" sz="1300" dirty="0"/>
          </a:p>
        </p:txBody>
      </p:sp>
      <p:sp>
        <p:nvSpPr>
          <p:cNvPr id="19" name="Text 14"/>
          <p:cNvSpPr txBox="1"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9AA6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Ibis: Bringing Optionality to Python Dataframes</a:t>
            </a:r>
            <a:endParaRPr lang="en-US" sz="900" dirty="0"/>
          </a:p>
        </p:txBody>
      </p:sp>
      <p:sp>
        <p:nvSpPr>
          <p:cNvPr id="20" name="Text 15"/>
          <p:cNvSpPr txBox="1"/>
          <p:nvPr/>
        </p:nvSpPr>
        <p:spPr>
          <a:xfrm>
            <a:off x="11274552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9AA6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</a:t>
            </a:r>
            <a:endParaRPr lang="en-US" sz="9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kern="0" spc="20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FOLLOW ALONG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77240"/>
            <a:ext cx="9601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2400" b="1" dirty="0">
                <a:latin typeface="Courier New" panose="02070309020205020404" pitchFamily="49" charset="0"/>
                <a:cs typeface="Courier New" panose="02070309020205020404" pitchFamily="49" charset="0"/>
                <a:hlinkClick r:id="rId3"/>
              </a:rPr>
              <a:t>https://github.com/lestermartin/ibis-optionality/</a:t>
            </a:r>
            <a:r>
              <a:rPr lang="en-US" sz="2400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</a:p>
        </p:txBody>
      </p:sp>
      <p:sp>
        <p:nvSpPr>
          <p:cNvPr id="4" name="Shape 2"/>
          <p:cNvSpPr/>
          <p:nvPr/>
        </p:nvSpPr>
        <p:spPr>
          <a:xfrm>
            <a:off x="548640" y="1920240"/>
            <a:ext cx="512064" cy="512064"/>
          </a:xfrm>
          <a:prstGeom prst="ellipse">
            <a:avLst/>
          </a:prstGeom>
          <a:solidFill>
            <a:srgbClr val="1C7293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5" name="Image 0" descr="/home/claude/ibis-talk/icons/laptop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0088" y="1981688"/>
            <a:ext cx="389169" cy="389169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234440" y="1892808"/>
            <a:ext cx="3749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50" b="1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Clone the repo &amp; install</a:t>
            </a:r>
            <a:endParaRPr lang="en-US" sz="1550" dirty="0"/>
          </a:p>
        </p:txBody>
      </p:sp>
      <p:sp>
        <p:nvSpPr>
          <p:cNvPr id="7" name="Text 4"/>
          <p:cNvSpPr txBox="1"/>
          <p:nvPr/>
        </p:nvSpPr>
        <p:spPr>
          <a:xfrm>
            <a:off x="5120640" y="1892808"/>
            <a:ext cx="6492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5C6B8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pip install -r requirements.txt</a:t>
            </a:r>
            <a:endParaRPr lang="en-US" sz="1300" dirty="0"/>
          </a:p>
        </p:txBody>
      </p:sp>
      <p:sp>
        <p:nvSpPr>
          <p:cNvPr id="8" name="Shape 5"/>
          <p:cNvSpPr/>
          <p:nvPr/>
        </p:nvSpPr>
        <p:spPr>
          <a:xfrm>
            <a:off x="548640" y="2926080"/>
            <a:ext cx="512064" cy="512064"/>
          </a:xfrm>
          <a:prstGeom prst="ellipse">
            <a:avLst/>
          </a:prstGeom>
          <a:solidFill>
            <a:srgbClr val="1C7293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9" name="Image 1" descr="/home/claude/ibis-talk/icons/databas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10088" y="2987528"/>
            <a:ext cx="389169" cy="389169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1234440" y="2898648"/>
            <a:ext cx="3749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50" b="1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Cache the demo dataset</a:t>
            </a:r>
            <a:endParaRPr lang="en-US" sz="1550" dirty="0"/>
          </a:p>
        </p:txBody>
      </p:sp>
      <p:sp>
        <p:nvSpPr>
          <p:cNvPr id="11" name="Text 7"/>
          <p:cNvSpPr txBox="1"/>
          <p:nvPr/>
        </p:nvSpPr>
        <p:spPr>
          <a:xfrm>
            <a:off x="5120640" y="2898648"/>
            <a:ext cx="6492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5C6B8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python prep_offline_data.py  (works fully offline after this)</a:t>
            </a:r>
            <a:endParaRPr lang="en-US" sz="1300" dirty="0"/>
          </a:p>
        </p:txBody>
      </p:sp>
      <p:sp>
        <p:nvSpPr>
          <p:cNvPr id="12" name="Shape 8"/>
          <p:cNvSpPr/>
          <p:nvPr/>
        </p:nvSpPr>
        <p:spPr>
          <a:xfrm>
            <a:off x="548640" y="3931920"/>
            <a:ext cx="512064" cy="512064"/>
          </a:xfrm>
          <a:prstGeom prst="ellipse">
            <a:avLst/>
          </a:prstGeom>
          <a:solidFill>
            <a:srgbClr val="1C7293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13" name="Image 2" descr="/home/claude/ibis-talk/icons/server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10088" y="3993368"/>
            <a:ext cx="389169" cy="389169"/>
          </a:xfrm>
          <a:prstGeom prst="rect">
            <a:avLst/>
          </a:prstGeom>
        </p:spPr>
      </p:pic>
      <p:sp>
        <p:nvSpPr>
          <p:cNvPr id="14" name="Text 9"/>
          <p:cNvSpPr txBox="1"/>
          <p:nvPr/>
        </p:nvSpPr>
        <p:spPr>
          <a:xfrm>
            <a:off x="1234440" y="3904488"/>
            <a:ext cx="3749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50" b="1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Get a Trino endpoint</a:t>
            </a:r>
            <a:endParaRPr lang="en-US" sz="1550" dirty="0"/>
          </a:p>
        </p:txBody>
      </p:sp>
      <p:sp>
        <p:nvSpPr>
          <p:cNvPr id="15" name="Text 10"/>
          <p:cNvSpPr txBox="1"/>
          <p:nvPr/>
        </p:nvSpPr>
        <p:spPr>
          <a:xfrm>
            <a:off x="5120640" y="3904488"/>
            <a:ext cx="6492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5C6B8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Local via Docker Compose, or a free Starburst Galaxy cluster</a:t>
            </a:r>
            <a:endParaRPr lang="en-US" sz="1300" dirty="0"/>
          </a:p>
        </p:txBody>
      </p:sp>
      <p:sp>
        <p:nvSpPr>
          <p:cNvPr id="16" name="Shape 11"/>
          <p:cNvSpPr/>
          <p:nvPr/>
        </p:nvSpPr>
        <p:spPr>
          <a:xfrm>
            <a:off x="548640" y="4937760"/>
            <a:ext cx="512064" cy="512064"/>
          </a:xfrm>
          <a:prstGeom prst="ellipse">
            <a:avLst/>
          </a:prstGeom>
          <a:solidFill>
            <a:srgbClr val="1C7293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17" name="Image 3" descr="/home/claude/ibis-talk/icons/cod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10088" y="4999208"/>
            <a:ext cx="389169" cy="389169"/>
          </a:xfrm>
          <a:prstGeom prst="rect">
            <a:avLst/>
          </a:prstGeom>
        </p:spPr>
      </p:pic>
      <p:sp>
        <p:nvSpPr>
          <p:cNvPr id="18" name="Text 12"/>
          <p:cNvSpPr txBox="1"/>
          <p:nvPr/>
        </p:nvSpPr>
        <p:spPr>
          <a:xfrm>
            <a:off x="1234440" y="4910328"/>
            <a:ext cx="3749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50" b="1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Open the notebook</a:t>
            </a:r>
            <a:endParaRPr lang="en-US" sz="1550" dirty="0"/>
          </a:p>
        </p:txBody>
      </p:sp>
      <p:sp>
        <p:nvSpPr>
          <p:cNvPr id="19" name="Text 13"/>
          <p:cNvSpPr txBox="1"/>
          <p:nvPr/>
        </p:nvSpPr>
        <p:spPr>
          <a:xfrm>
            <a:off x="5120640" y="4910328"/>
            <a:ext cx="6492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5C6B8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jupyter lab ibis_optionality_demo.ipynb</a:t>
            </a:r>
            <a:endParaRPr lang="en-US" sz="1300" dirty="0"/>
          </a:p>
        </p:txBody>
      </p:sp>
      <p:sp>
        <p:nvSpPr>
          <p:cNvPr id="20" name="Text 14"/>
          <p:cNvSpPr txBox="1"/>
          <p:nvPr/>
        </p:nvSpPr>
        <p:spPr>
          <a:xfrm>
            <a:off x="548640" y="598932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i="1" dirty="0">
                <a:solidFill>
                  <a:srgbClr val="5C6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setup instructions, including both Trino options, are in SETUP.md.</a:t>
            </a:r>
            <a:endParaRPr lang="en-US" sz="1300" dirty="0"/>
          </a:p>
        </p:txBody>
      </p:sp>
      <p:sp>
        <p:nvSpPr>
          <p:cNvPr id="21" name="Text 15"/>
          <p:cNvSpPr txBox="1"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9AA6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Ibis: Bringing Optionality to Python Dataframes</a:t>
            </a:r>
            <a:endParaRPr lang="en-US" sz="900" dirty="0"/>
          </a:p>
        </p:txBody>
      </p:sp>
      <p:sp>
        <p:nvSpPr>
          <p:cNvPr id="22" name="Text 16"/>
          <p:cNvSpPr txBox="1"/>
          <p:nvPr/>
        </p:nvSpPr>
        <p:spPr>
          <a:xfrm>
            <a:off x="11274552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9AA6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21</a:t>
            </a:r>
            <a:endParaRPr lang="en-US" sz="9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21295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784080" y="-1371600"/>
            <a:ext cx="3840480" cy="3840480"/>
          </a:xfrm>
          <a:prstGeom prst="ellipse">
            <a:avLst/>
          </a:prstGeom>
          <a:solidFill>
            <a:srgbClr val="065A82">
              <a:alpha val="60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 txBox="1"/>
          <p:nvPr/>
        </p:nvSpPr>
        <p:spPr>
          <a:xfrm>
            <a:off x="548640" y="731520"/>
            <a:ext cx="7315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Thank you</a:t>
            </a:r>
            <a:endParaRPr lang="en-US" sz="4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50876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i="1" dirty="0">
                <a:solidFill>
                  <a:srgbClr val="9FB3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Questions welcome — find me after the session, too.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548640" y="2606040"/>
            <a:ext cx="512064" cy="512064"/>
          </a:xfrm>
          <a:prstGeom prst="ellipse">
            <a:avLst/>
          </a:prstGeom>
          <a:solidFill>
            <a:srgbClr val="1C7293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6" name="Image 0" descr="/home/claude/ibis-talk/icons/boo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0088" y="2667488"/>
            <a:ext cx="389169" cy="389169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280160" y="2587752"/>
            <a:ext cx="4114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Docs &amp; tutorials</a:t>
            </a:r>
            <a:endParaRPr lang="en-US" sz="1500" dirty="0"/>
          </a:p>
        </p:txBody>
      </p:sp>
      <p:sp>
        <p:nvSpPr>
          <p:cNvPr id="8" name="Text 5"/>
          <p:cNvSpPr txBox="1"/>
          <p:nvPr/>
        </p:nvSpPr>
        <p:spPr>
          <a:xfrm>
            <a:off x="1280160" y="2898648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9FB3C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ibis-project.org</a:t>
            </a:r>
            <a:endParaRPr lang="en-US" sz="1250" dirty="0"/>
          </a:p>
        </p:txBody>
      </p:sp>
      <p:sp>
        <p:nvSpPr>
          <p:cNvPr id="9" name="Shape 6"/>
          <p:cNvSpPr/>
          <p:nvPr/>
        </p:nvSpPr>
        <p:spPr>
          <a:xfrm>
            <a:off x="548640" y="3566160"/>
            <a:ext cx="512064" cy="512064"/>
          </a:xfrm>
          <a:prstGeom prst="ellipse">
            <a:avLst/>
          </a:prstGeom>
          <a:solidFill>
            <a:srgbClr val="1C7293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10" name="Image 1" descr="/home/claude/ibis-talk/icons/github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0088" y="3627608"/>
            <a:ext cx="389169" cy="389169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1280160" y="3547872"/>
            <a:ext cx="4114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</a:t>
            </a:r>
            <a:endParaRPr lang="en-US" sz="1500" dirty="0"/>
          </a:p>
        </p:txBody>
      </p:sp>
      <p:sp>
        <p:nvSpPr>
          <p:cNvPr id="12" name="Text 8"/>
          <p:cNvSpPr txBox="1"/>
          <p:nvPr/>
        </p:nvSpPr>
        <p:spPr>
          <a:xfrm>
            <a:off x="1280160" y="3858768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9FB3C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github.com/ibis-project/ibis</a:t>
            </a:r>
            <a:endParaRPr lang="en-US" sz="1250" dirty="0"/>
          </a:p>
        </p:txBody>
      </p:sp>
      <p:sp>
        <p:nvSpPr>
          <p:cNvPr id="13" name="Shape 9"/>
          <p:cNvSpPr/>
          <p:nvPr/>
        </p:nvSpPr>
        <p:spPr>
          <a:xfrm>
            <a:off x="548640" y="4526280"/>
            <a:ext cx="512064" cy="512064"/>
          </a:xfrm>
          <a:prstGeom prst="ellipse">
            <a:avLst/>
          </a:prstGeom>
          <a:solidFill>
            <a:srgbClr val="1C7293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14" name="Image 2" descr="/home/claude/ibis-talk/icons/laptop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10088" y="4587728"/>
            <a:ext cx="389169" cy="389169"/>
          </a:xfrm>
          <a:prstGeom prst="rect">
            <a:avLst/>
          </a:prstGeom>
        </p:spPr>
      </p:pic>
      <p:sp>
        <p:nvSpPr>
          <p:cNvPr id="15" name="Text 10"/>
          <p:cNvSpPr txBox="1"/>
          <p:nvPr/>
        </p:nvSpPr>
        <p:spPr>
          <a:xfrm>
            <a:off x="1280160" y="4507992"/>
            <a:ext cx="4114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talk's demo + slides</a:t>
            </a:r>
            <a:endParaRPr lang="en-US" sz="1500" dirty="0"/>
          </a:p>
        </p:txBody>
      </p:sp>
      <p:sp>
        <p:nvSpPr>
          <p:cNvPr id="16" name="Text 11"/>
          <p:cNvSpPr txBox="1"/>
          <p:nvPr/>
        </p:nvSpPr>
        <p:spPr>
          <a:xfrm>
            <a:off x="1280160" y="4818888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 err="1">
                <a:solidFill>
                  <a:srgbClr val="9FB3C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github.com</a:t>
            </a:r>
            <a:r>
              <a:rPr lang="en-US" sz="1250" dirty="0">
                <a:solidFill>
                  <a:srgbClr val="9FB3C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</a:t>
            </a:r>
            <a:r>
              <a:rPr lang="en-US" sz="1250" dirty="0" err="1">
                <a:solidFill>
                  <a:srgbClr val="9FB3C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lestermartin</a:t>
            </a:r>
            <a:r>
              <a:rPr lang="en-US" sz="1250" dirty="0">
                <a:solidFill>
                  <a:srgbClr val="9FB3C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/ibis-optionality</a:t>
            </a:r>
            <a:endParaRPr lang="en-US" sz="1250" dirty="0"/>
          </a:p>
        </p:txBody>
      </p:sp>
      <p:sp>
        <p:nvSpPr>
          <p:cNvPr id="17" name="Text 12"/>
          <p:cNvSpPr txBox="1"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9FB3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Ibis: Bringing Optionality to Python Dataframes</a:t>
            </a:r>
            <a:endParaRPr lang="en-US" sz="900" dirty="0"/>
          </a:p>
        </p:txBody>
      </p:sp>
      <p:sp>
        <p:nvSpPr>
          <p:cNvPr id="18" name="Text 13"/>
          <p:cNvSpPr txBox="1"/>
          <p:nvPr/>
        </p:nvSpPr>
        <p:spPr>
          <a:xfrm>
            <a:off x="11274552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9FB3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</a:t>
            </a:r>
            <a:endParaRPr lang="en-US" sz="900" dirty="0"/>
          </a:p>
        </p:txBody>
      </p:sp>
      <p:pic>
        <p:nvPicPr>
          <p:cNvPr id="19" name="Picture 18">
            <a:extLst>
              <a:ext uri="{FF2B5EF4-FFF2-40B4-BE49-F238E27FC236}">
                <a16:creationId xmlns:a16="http://schemas.microsoft.com/office/drawing/2014/main" id="{7AB91252-0E11-E270-E2D8-7882D75E999C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388767" y="951985"/>
            <a:ext cx="4212433" cy="4233672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505</TotalTime>
  <Words>2235</Words>
  <Application>Microsoft Macintosh PowerPoint</Application>
  <PresentationFormat>Widescreen</PresentationFormat>
  <Paragraphs>387</Paragraphs>
  <Slides>23</Slides>
  <Notes>21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23</vt:i4>
      </vt:variant>
    </vt:vector>
  </HeadingPairs>
  <TitlesOfParts>
    <vt:vector size="28" baseType="lpstr">
      <vt:lpstr>Arial</vt:lpstr>
      <vt:lpstr>Calibri</vt:lpstr>
      <vt:lpstr>Cambria</vt:lpstr>
      <vt:lpstr>Courier New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Lester Martin</cp:lastModifiedBy>
  <cp:revision>12</cp:revision>
  <dcterms:created xsi:type="dcterms:W3CDTF">2026-09-08T17:18:48Z</dcterms:created>
  <dcterms:modified xsi:type="dcterms:W3CDTF">2026-10-16T04:22:49Z</dcterms:modified>
</cp:coreProperties>
</file>